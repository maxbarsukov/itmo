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5" r:id="rId18"/>
    <p:sldId id="296" r:id="rId19"/>
    <p:sldId id="297" r:id="rId20"/>
    <p:sldId id="298" r:id="rId21"/>
    <p:sldId id="299" r:id="rId22"/>
    <p:sldId id="277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48271" autoAdjust="0"/>
  </p:normalViewPr>
  <p:slideViewPr>
    <p:cSldViewPr snapToGrid="0">
      <p:cViewPr varScale="1">
        <p:scale>
          <a:sx n="34" d="100"/>
          <a:sy n="34" d="100"/>
        </p:scale>
        <p:origin x="250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DF704E-A42C-4A0A-9331-C01D164109E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E342B1E-1A2C-446F-A292-186E35A71634}">
      <dgm:prSet phldrT="[Текст]"/>
      <dgm:spPr/>
      <dgm:t>
        <a:bodyPr/>
        <a:lstStyle/>
        <a:p>
          <a:r>
            <a:rPr lang="ru-RU" b="0" i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Найден профиль в LinkedIn</a:t>
          </a:r>
          <a:endParaRPr lang="ru-RU" dirty="0"/>
        </a:p>
      </dgm:t>
    </dgm:pt>
    <dgm:pt modelId="{940BB721-B9B3-4AF2-80B8-A6A94347DEAD}" type="parTrans" cxnId="{C6406228-129A-4F85-8D66-A7B658025FAE}">
      <dgm:prSet/>
      <dgm:spPr/>
      <dgm:t>
        <a:bodyPr/>
        <a:lstStyle/>
        <a:p>
          <a:endParaRPr lang="ru-RU"/>
        </a:p>
      </dgm:t>
    </dgm:pt>
    <dgm:pt modelId="{4C86546D-DB21-4D3D-AA1F-9DBAB98EEB83}" type="sibTrans" cxnId="{C6406228-129A-4F85-8D66-A7B658025FAE}">
      <dgm:prSet/>
      <dgm:spPr/>
      <dgm:t>
        <a:bodyPr/>
        <a:lstStyle/>
        <a:p>
          <a:endParaRPr lang="ru-RU"/>
        </a:p>
      </dgm:t>
    </dgm:pt>
    <dgm:pt modelId="{843731FF-2FC9-466D-85D3-B5605871D30E}">
      <dgm:prSet/>
      <dgm:spPr/>
      <dgm:t>
        <a:bodyPr/>
        <a:lstStyle/>
        <a:p>
          <a:r>
            <a:rPr lang="ru-RU" b="0" i="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Узнано место работы, коллеги</a:t>
          </a:r>
          <a:endParaRPr lang="ru-RU" b="0" i="0" dirty="0">
            <a:solidFill>
              <a:schemeClr val="tx1"/>
            </a:solidFill>
            <a:effectLst/>
            <a:latin typeface="+mn-lt"/>
            <a:ea typeface="+mn-ea"/>
            <a:cs typeface="+mn-cs"/>
          </a:endParaRPr>
        </a:p>
      </dgm:t>
    </dgm:pt>
    <dgm:pt modelId="{E6E89530-B937-4C10-B199-6190468DE911}" type="parTrans" cxnId="{C20E3161-A3DE-4AA0-A3C4-56D85E4299A8}">
      <dgm:prSet/>
      <dgm:spPr/>
      <dgm:t>
        <a:bodyPr/>
        <a:lstStyle/>
        <a:p>
          <a:endParaRPr lang="ru-RU"/>
        </a:p>
      </dgm:t>
    </dgm:pt>
    <dgm:pt modelId="{053C25BA-F0DE-45CA-A4C5-C602E5A78C80}" type="sibTrans" cxnId="{C20E3161-A3DE-4AA0-A3C4-56D85E4299A8}">
      <dgm:prSet/>
      <dgm:spPr/>
      <dgm:t>
        <a:bodyPr/>
        <a:lstStyle/>
        <a:p>
          <a:endParaRPr lang="ru-RU"/>
        </a:p>
      </dgm:t>
    </dgm:pt>
    <dgm:pt modelId="{1F3075DA-416A-432B-A6A7-B7C7AC6845B2}">
      <dgm:prSet/>
      <dgm:spPr/>
      <dgm:t>
        <a:bodyPr/>
        <a:lstStyle/>
        <a:p>
          <a:r>
            <a:rPr lang="ru-RU" b="0" i="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Поддельное письмо от "коллеги"</a:t>
          </a:r>
          <a:endParaRPr lang="ru-RU" b="0" i="0" dirty="0">
            <a:solidFill>
              <a:schemeClr val="tx1"/>
            </a:solidFill>
            <a:effectLst/>
            <a:latin typeface="+mn-lt"/>
            <a:ea typeface="+mn-ea"/>
            <a:cs typeface="+mn-cs"/>
          </a:endParaRPr>
        </a:p>
      </dgm:t>
    </dgm:pt>
    <dgm:pt modelId="{4FAC750B-C35B-4D40-B6A8-762314AABDA0}" type="parTrans" cxnId="{44391892-4C12-4502-90B8-8A2436863C23}">
      <dgm:prSet/>
      <dgm:spPr/>
      <dgm:t>
        <a:bodyPr/>
        <a:lstStyle/>
        <a:p>
          <a:endParaRPr lang="ru-RU"/>
        </a:p>
      </dgm:t>
    </dgm:pt>
    <dgm:pt modelId="{73332D4E-68FE-49C6-9D0F-E5A55D63CE25}" type="sibTrans" cxnId="{44391892-4C12-4502-90B8-8A2436863C23}">
      <dgm:prSet/>
      <dgm:spPr/>
      <dgm:t>
        <a:bodyPr/>
        <a:lstStyle/>
        <a:p>
          <a:endParaRPr lang="ru-RU"/>
        </a:p>
      </dgm:t>
    </dgm:pt>
    <dgm:pt modelId="{7F0A6769-F04F-45B1-AAB8-B097A4D98692}">
      <dgm:prSet/>
      <dgm:spPr/>
      <dgm:t>
        <a:bodyPr/>
        <a:lstStyle/>
        <a:p>
          <a:r>
            <a:rPr lang="ru-RU" b="0" i="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Фишинговая ссылка на корпоративный портал</a:t>
          </a:r>
          <a:endParaRPr lang="ru-RU" b="0" i="0" dirty="0">
            <a:solidFill>
              <a:schemeClr val="tx1"/>
            </a:solidFill>
            <a:effectLst/>
            <a:latin typeface="+mn-lt"/>
            <a:ea typeface="+mn-ea"/>
            <a:cs typeface="+mn-cs"/>
          </a:endParaRPr>
        </a:p>
      </dgm:t>
    </dgm:pt>
    <dgm:pt modelId="{F683CFA7-41B8-4F03-A512-B13C1381F777}" type="parTrans" cxnId="{12BD190F-4017-4EB5-B7A5-87F6B6395C0F}">
      <dgm:prSet/>
      <dgm:spPr/>
      <dgm:t>
        <a:bodyPr/>
        <a:lstStyle/>
        <a:p>
          <a:endParaRPr lang="ru-RU"/>
        </a:p>
      </dgm:t>
    </dgm:pt>
    <dgm:pt modelId="{70BA8100-4CBB-4E59-8014-61CAC8056366}" type="sibTrans" cxnId="{12BD190F-4017-4EB5-B7A5-87F6B6395C0F}">
      <dgm:prSet/>
      <dgm:spPr/>
      <dgm:t>
        <a:bodyPr/>
        <a:lstStyle/>
        <a:p>
          <a:endParaRPr lang="ru-RU"/>
        </a:p>
      </dgm:t>
    </dgm:pt>
    <dgm:pt modelId="{B217A54A-3660-4431-9307-17F765CC2D95}">
      <dgm:prSet/>
      <dgm:spPr/>
      <dgm:t>
        <a:bodyPr/>
        <a:lstStyle/>
        <a:p>
          <a:r>
            <a:rPr lang="ru-RU" b="0" i="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Кража учетных данных</a:t>
          </a:r>
          <a:endParaRPr lang="ru-RU" b="0" i="0" dirty="0">
            <a:solidFill>
              <a:schemeClr val="tx1"/>
            </a:solidFill>
            <a:effectLst/>
            <a:latin typeface="+mn-lt"/>
            <a:ea typeface="+mn-ea"/>
            <a:cs typeface="+mn-cs"/>
          </a:endParaRPr>
        </a:p>
      </dgm:t>
    </dgm:pt>
    <dgm:pt modelId="{4EA33CF6-B88C-49AC-A6D0-8BA63E149BFC}" type="parTrans" cxnId="{F3E02788-734F-46F4-A6FA-17736580063B}">
      <dgm:prSet/>
      <dgm:spPr/>
      <dgm:t>
        <a:bodyPr/>
        <a:lstStyle/>
        <a:p>
          <a:endParaRPr lang="ru-RU"/>
        </a:p>
      </dgm:t>
    </dgm:pt>
    <dgm:pt modelId="{5C816BDF-87A5-4970-9917-A849867D7B4B}" type="sibTrans" cxnId="{F3E02788-734F-46F4-A6FA-17736580063B}">
      <dgm:prSet/>
      <dgm:spPr/>
      <dgm:t>
        <a:bodyPr/>
        <a:lstStyle/>
        <a:p>
          <a:endParaRPr lang="ru-RU"/>
        </a:p>
      </dgm:t>
    </dgm:pt>
    <dgm:pt modelId="{D5810814-AAFC-4AE2-8A09-99682314A1D6}" type="pres">
      <dgm:prSet presAssocID="{03DF704E-A42C-4A0A-9331-C01D164109E8}" presName="CompostProcess" presStyleCnt="0">
        <dgm:presLayoutVars>
          <dgm:dir/>
          <dgm:resizeHandles val="exact"/>
        </dgm:presLayoutVars>
      </dgm:prSet>
      <dgm:spPr/>
    </dgm:pt>
    <dgm:pt modelId="{487C0344-21E6-4D5D-B3D5-F6C26DF3D2F3}" type="pres">
      <dgm:prSet presAssocID="{03DF704E-A42C-4A0A-9331-C01D164109E8}" presName="arrow" presStyleLbl="bgShp" presStyleIdx="0" presStyleCnt="1"/>
      <dgm:spPr/>
    </dgm:pt>
    <dgm:pt modelId="{CA498520-E540-4FBE-8086-B3BB7ED6519F}" type="pres">
      <dgm:prSet presAssocID="{03DF704E-A42C-4A0A-9331-C01D164109E8}" presName="linearProcess" presStyleCnt="0"/>
      <dgm:spPr/>
    </dgm:pt>
    <dgm:pt modelId="{39568D3E-8E08-4A1E-A565-27AC5BF7AF4A}" type="pres">
      <dgm:prSet presAssocID="{FE342B1E-1A2C-446F-A292-186E35A71634}" presName="textNode" presStyleLbl="node1" presStyleIdx="0" presStyleCnt="5">
        <dgm:presLayoutVars>
          <dgm:bulletEnabled val="1"/>
        </dgm:presLayoutVars>
      </dgm:prSet>
      <dgm:spPr/>
    </dgm:pt>
    <dgm:pt modelId="{A594371B-2968-4694-9491-87E3A6F00DD1}" type="pres">
      <dgm:prSet presAssocID="{4C86546D-DB21-4D3D-AA1F-9DBAB98EEB83}" presName="sibTrans" presStyleCnt="0"/>
      <dgm:spPr/>
    </dgm:pt>
    <dgm:pt modelId="{BCB9D396-F5D4-470B-9D36-D6F3B497873B}" type="pres">
      <dgm:prSet presAssocID="{843731FF-2FC9-466D-85D3-B5605871D30E}" presName="textNode" presStyleLbl="node1" presStyleIdx="1" presStyleCnt="5">
        <dgm:presLayoutVars>
          <dgm:bulletEnabled val="1"/>
        </dgm:presLayoutVars>
      </dgm:prSet>
      <dgm:spPr/>
    </dgm:pt>
    <dgm:pt modelId="{E13BA249-38F0-4669-9A70-5DC032F7EECC}" type="pres">
      <dgm:prSet presAssocID="{053C25BA-F0DE-45CA-A4C5-C602E5A78C80}" presName="sibTrans" presStyleCnt="0"/>
      <dgm:spPr/>
    </dgm:pt>
    <dgm:pt modelId="{C62F0DAF-A609-4A89-8CB6-87BD7763E0B4}" type="pres">
      <dgm:prSet presAssocID="{1F3075DA-416A-432B-A6A7-B7C7AC6845B2}" presName="textNode" presStyleLbl="node1" presStyleIdx="2" presStyleCnt="5">
        <dgm:presLayoutVars>
          <dgm:bulletEnabled val="1"/>
        </dgm:presLayoutVars>
      </dgm:prSet>
      <dgm:spPr/>
    </dgm:pt>
    <dgm:pt modelId="{3FA1A561-D511-4797-867F-0DE96DD3CB2A}" type="pres">
      <dgm:prSet presAssocID="{73332D4E-68FE-49C6-9D0F-E5A55D63CE25}" presName="sibTrans" presStyleCnt="0"/>
      <dgm:spPr/>
    </dgm:pt>
    <dgm:pt modelId="{235A996C-3C90-4AC0-889F-77523C2DA16D}" type="pres">
      <dgm:prSet presAssocID="{7F0A6769-F04F-45B1-AAB8-B097A4D98692}" presName="textNode" presStyleLbl="node1" presStyleIdx="3" presStyleCnt="5">
        <dgm:presLayoutVars>
          <dgm:bulletEnabled val="1"/>
        </dgm:presLayoutVars>
      </dgm:prSet>
      <dgm:spPr/>
    </dgm:pt>
    <dgm:pt modelId="{42CF621F-8916-49B4-A444-23D416E883FD}" type="pres">
      <dgm:prSet presAssocID="{70BA8100-4CBB-4E59-8014-61CAC8056366}" presName="sibTrans" presStyleCnt="0"/>
      <dgm:spPr/>
    </dgm:pt>
    <dgm:pt modelId="{D8E7A8AB-59E7-4C95-8769-03DB6F011875}" type="pres">
      <dgm:prSet presAssocID="{B217A54A-3660-4431-9307-17F765CC2D95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12BD190F-4017-4EB5-B7A5-87F6B6395C0F}" srcId="{03DF704E-A42C-4A0A-9331-C01D164109E8}" destId="{7F0A6769-F04F-45B1-AAB8-B097A4D98692}" srcOrd="3" destOrd="0" parTransId="{F683CFA7-41B8-4F03-A512-B13C1381F777}" sibTransId="{70BA8100-4CBB-4E59-8014-61CAC8056366}"/>
    <dgm:cxn modelId="{B0E8F327-1B7D-455A-8821-18FA1802A0C2}" type="presOf" srcId="{B217A54A-3660-4431-9307-17F765CC2D95}" destId="{D8E7A8AB-59E7-4C95-8769-03DB6F011875}" srcOrd="0" destOrd="0" presId="urn:microsoft.com/office/officeart/2005/8/layout/hProcess9"/>
    <dgm:cxn modelId="{C6406228-129A-4F85-8D66-A7B658025FAE}" srcId="{03DF704E-A42C-4A0A-9331-C01D164109E8}" destId="{FE342B1E-1A2C-446F-A292-186E35A71634}" srcOrd="0" destOrd="0" parTransId="{940BB721-B9B3-4AF2-80B8-A6A94347DEAD}" sibTransId="{4C86546D-DB21-4D3D-AA1F-9DBAB98EEB83}"/>
    <dgm:cxn modelId="{BEE9BF29-BD64-485B-863A-3BCB0F4FE0CC}" type="presOf" srcId="{03DF704E-A42C-4A0A-9331-C01D164109E8}" destId="{D5810814-AAFC-4AE2-8A09-99682314A1D6}" srcOrd="0" destOrd="0" presId="urn:microsoft.com/office/officeart/2005/8/layout/hProcess9"/>
    <dgm:cxn modelId="{83702A3C-7FED-42ED-A5B5-F06831353C7C}" type="presOf" srcId="{FE342B1E-1A2C-446F-A292-186E35A71634}" destId="{39568D3E-8E08-4A1E-A565-27AC5BF7AF4A}" srcOrd="0" destOrd="0" presId="urn:microsoft.com/office/officeart/2005/8/layout/hProcess9"/>
    <dgm:cxn modelId="{8EE4763D-985D-42E7-AB8E-A7B4C079D7DA}" type="presOf" srcId="{1F3075DA-416A-432B-A6A7-B7C7AC6845B2}" destId="{C62F0DAF-A609-4A89-8CB6-87BD7763E0B4}" srcOrd="0" destOrd="0" presId="urn:microsoft.com/office/officeart/2005/8/layout/hProcess9"/>
    <dgm:cxn modelId="{C20E3161-A3DE-4AA0-A3C4-56D85E4299A8}" srcId="{03DF704E-A42C-4A0A-9331-C01D164109E8}" destId="{843731FF-2FC9-466D-85D3-B5605871D30E}" srcOrd="1" destOrd="0" parTransId="{E6E89530-B937-4C10-B199-6190468DE911}" sibTransId="{053C25BA-F0DE-45CA-A4C5-C602E5A78C80}"/>
    <dgm:cxn modelId="{F3E02788-734F-46F4-A6FA-17736580063B}" srcId="{03DF704E-A42C-4A0A-9331-C01D164109E8}" destId="{B217A54A-3660-4431-9307-17F765CC2D95}" srcOrd="4" destOrd="0" parTransId="{4EA33CF6-B88C-49AC-A6D0-8BA63E149BFC}" sibTransId="{5C816BDF-87A5-4970-9917-A849867D7B4B}"/>
    <dgm:cxn modelId="{44391892-4C12-4502-90B8-8A2436863C23}" srcId="{03DF704E-A42C-4A0A-9331-C01D164109E8}" destId="{1F3075DA-416A-432B-A6A7-B7C7AC6845B2}" srcOrd="2" destOrd="0" parTransId="{4FAC750B-C35B-4D40-B6A8-762314AABDA0}" sibTransId="{73332D4E-68FE-49C6-9D0F-E5A55D63CE25}"/>
    <dgm:cxn modelId="{C274279B-C611-4A90-8D4E-18626021F8AC}" type="presOf" srcId="{843731FF-2FC9-466D-85D3-B5605871D30E}" destId="{BCB9D396-F5D4-470B-9D36-D6F3B497873B}" srcOrd="0" destOrd="0" presId="urn:microsoft.com/office/officeart/2005/8/layout/hProcess9"/>
    <dgm:cxn modelId="{87EE03C1-1DA4-497E-B19D-F7BA0C9849AC}" type="presOf" srcId="{7F0A6769-F04F-45B1-AAB8-B097A4D98692}" destId="{235A996C-3C90-4AC0-889F-77523C2DA16D}" srcOrd="0" destOrd="0" presId="urn:microsoft.com/office/officeart/2005/8/layout/hProcess9"/>
    <dgm:cxn modelId="{5B2A6B2C-6A04-4237-AB5D-AD6BCC1E5E85}" type="presParOf" srcId="{D5810814-AAFC-4AE2-8A09-99682314A1D6}" destId="{487C0344-21E6-4D5D-B3D5-F6C26DF3D2F3}" srcOrd="0" destOrd="0" presId="urn:microsoft.com/office/officeart/2005/8/layout/hProcess9"/>
    <dgm:cxn modelId="{645CCF58-05A1-4C29-BDA4-A812FBCCD164}" type="presParOf" srcId="{D5810814-AAFC-4AE2-8A09-99682314A1D6}" destId="{CA498520-E540-4FBE-8086-B3BB7ED6519F}" srcOrd="1" destOrd="0" presId="urn:microsoft.com/office/officeart/2005/8/layout/hProcess9"/>
    <dgm:cxn modelId="{FC0F4351-2D31-494A-B806-33FBA2F2BD95}" type="presParOf" srcId="{CA498520-E540-4FBE-8086-B3BB7ED6519F}" destId="{39568D3E-8E08-4A1E-A565-27AC5BF7AF4A}" srcOrd="0" destOrd="0" presId="urn:microsoft.com/office/officeart/2005/8/layout/hProcess9"/>
    <dgm:cxn modelId="{6090D544-4665-4949-9193-6C30D085BF2F}" type="presParOf" srcId="{CA498520-E540-4FBE-8086-B3BB7ED6519F}" destId="{A594371B-2968-4694-9491-87E3A6F00DD1}" srcOrd="1" destOrd="0" presId="urn:microsoft.com/office/officeart/2005/8/layout/hProcess9"/>
    <dgm:cxn modelId="{7B3A7782-FEC0-49EC-955A-DD23F81290D5}" type="presParOf" srcId="{CA498520-E540-4FBE-8086-B3BB7ED6519F}" destId="{BCB9D396-F5D4-470B-9D36-D6F3B497873B}" srcOrd="2" destOrd="0" presId="urn:microsoft.com/office/officeart/2005/8/layout/hProcess9"/>
    <dgm:cxn modelId="{AEBB8E2B-6052-4D6F-BFB9-19D0F55A5378}" type="presParOf" srcId="{CA498520-E540-4FBE-8086-B3BB7ED6519F}" destId="{E13BA249-38F0-4669-9A70-5DC032F7EECC}" srcOrd="3" destOrd="0" presId="urn:microsoft.com/office/officeart/2005/8/layout/hProcess9"/>
    <dgm:cxn modelId="{8645B83B-4620-4109-B0EE-3668FA4D8186}" type="presParOf" srcId="{CA498520-E540-4FBE-8086-B3BB7ED6519F}" destId="{C62F0DAF-A609-4A89-8CB6-87BD7763E0B4}" srcOrd="4" destOrd="0" presId="urn:microsoft.com/office/officeart/2005/8/layout/hProcess9"/>
    <dgm:cxn modelId="{F2C8EEBC-1243-4A9F-9034-63BFCA2E9947}" type="presParOf" srcId="{CA498520-E540-4FBE-8086-B3BB7ED6519F}" destId="{3FA1A561-D511-4797-867F-0DE96DD3CB2A}" srcOrd="5" destOrd="0" presId="urn:microsoft.com/office/officeart/2005/8/layout/hProcess9"/>
    <dgm:cxn modelId="{49EC5CDA-6522-40F7-B008-5F1C16FD659E}" type="presParOf" srcId="{CA498520-E540-4FBE-8086-B3BB7ED6519F}" destId="{235A996C-3C90-4AC0-889F-77523C2DA16D}" srcOrd="6" destOrd="0" presId="urn:microsoft.com/office/officeart/2005/8/layout/hProcess9"/>
    <dgm:cxn modelId="{1A0EED31-BD90-40EC-B681-86700FFD705F}" type="presParOf" srcId="{CA498520-E540-4FBE-8086-B3BB7ED6519F}" destId="{42CF621F-8916-49B4-A444-23D416E883FD}" srcOrd="7" destOrd="0" presId="urn:microsoft.com/office/officeart/2005/8/layout/hProcess9"/>
    <dgm:cxn modelId="{DFE74603-307D-4B97-8B27-245394B4E8E5}" type="presParOf" srcId="{CA498520-E540-4FBE-8086-B3BB7ED6519F}" destId="{D8E7A8AB-59E7-4C95-8769-03DB6F011875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C0344-21E6-4D5D-B3D5-F6C26DF3D2F3}">
      <dsp:nvSpPr>
        <dsp:cNvPr id="0" name=""/>
        <dsp:cNvSpPr/>
      </dsp:nvSpPr>
      <dsp:spPr>
        <a:xfrm>
          <a:off x="759856" y="0"/>
          <a:ext cx="8611711" cy="364966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68D3E-8E08-4A1E-A565-27AC5BF7AF4A}">
      <dsp:nvSpPr>
        <dsp:cNvPr id="0" name=""/>
        <dsp:cNvSpPr/>
      </dsp:nvSpPr>
      <dsp:spPr>
        <a:xfrm>
          <a:off x="4452" y="1094898"/>
          <a:ext cx="1946638" cy="14598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Найден профиль в LinkedIn</a:t>
          </a:r>
          <a:endParaRPr lang="ru-RU" sz="1900" kern="1200" dirty="0"/>
        </a:p>
      </dsp:txBody>
      <dsp:txXfrm>
        <a:off x="75717" y="1166163"/>
        <a:ext cx="1804108" cy="1317334"/>
      </dsp:txXfrm>
    </dsp:sp>
    <dsp:sp modelId="{BCB9D396-F5D4-470B-9D36-D6F3B497873B}">
      <dsp:nvSpPr>
        <dsp:cNvPr id="0" name=""/>
        <dsp:cNvSpPr/>
      </dsp:nvSpPr>
      <dsp:spPr>
        <a:xfrm>
          <a:off x="2048422" y="1094898"/>
          <a:ext cx="1946638" cy="14598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Узнано место работы, коллеги</a:t>
          </a:r>
          <a:endParaRPr lang="ru-RU" sz="1900" b="0" i="0" kern="1200" dirty="0">
            <a:solidFill>
              <a:schemeClr val="tx1"/>
            </a:solidFill>
            <a:effectLst/>
            <a:latin typeface="+mn-lt"/>
            <a:ea typeface="+mn-ea"/>
            <a:cs typeface="+mn-cs"/>
          </a:endParaRPr>
        </a:p>
      </dsp:txBody>
      <dsp:txXfrm>
        <a:off x="2119687" y="1166163"/>
        <a:ext cx="1804108" cy="1317334"/>
      </dsp:txXfrm>
    </dsp:sp>
    <dsp:sp modelId="{C62F0DAF-A609-4A89-8CB6-87BD7763E0B4}">
      <dsp:nvSpPr>
        <dsp:cNvPr id="0" name=""/>
        <dsp:cNvSpPr/>
      </dsp:nvSpPr>
      <dsp:spPr>
        <a:xfrm>
          <a:off x="4092393" y="1094898"/>
          <a:ext cx="1946638" cy="14598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Поддельное письмо от "коллеги"</a:t>
          </a:r>
          <a:endParaRPr lang="ru-RU" sz="1900" b="0" i="0" kern="1200" dirty="0">
            <a:solidFill>
              <a:schemeClr val="tx1"/>
            </a:solidFill>
            <a:effectLst/>
            <a:latin typeface="+mn-lt"/>
            <a:ea typeface="+mn-ea"/>
            <a:cs typeface="+mn-cs"/>
          </a:endParaRPr>
        </a:p>
      </dsp:txBody>
      <dsp:txXfrm>
        <a:off x="4163658" y="1166163"/>
        <a:ext cx="1804108" cy="1317334"/>
      </dsp:txXfrm>
    </dsp:sp>
    <dsp:sp modelId="{235A996C-3C90-4AC0-889F-77523C2DA16D}">
      <dsp:nvSpPr>
        <dsp:cNvPr id="0" name=""/>
        <dsp:cNvSpPr/>
      </dsp:nvSpPr>
      <dsp:spPr>
        <a:xfrm>
          <a:off x="6136363" y="1094898"/>
          <a:ext cx="1946638" cy="14598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Фишинговая ссылка на корпоративный портал</a:t>
          </a:r>
          <a:endParaRPr lang="ru-RU" sz="1900" b="0" i="0" kern="1200" dirty="0">
            <a:solidFill>
              <a:schemeClr val="tx1"/>
            </a:solidFill>
            <a:effectLst/>
            <a:latin typeface="+mn-lt"/>
            <a:ea typeface="+mn-ea"/>
            <a:cs typeface="+mn-cs"/>
          </a:endParaRPr>
        </a:p>
      </dsp:txBody>
      <dsp:txXfrm>
        <a:off x="6207628" y="1166163"/>
        <a:ext cx="1804108" cy="1317334"/>
      </dsp:txXfrm>
    </dsp:sp>
    <dsp:sp modelId="{D8E7A8AB-59E7-4C95-8769-03DB6F011875}">
      <dsp:nvSpPr>
        <dsp:cNvPr id="0" name=""/>
        <dsp:cNvSpPr/>
      </dsp:nvSpPr>
      <dsp:spPr>
        <a:xfrm>
          <a:off x="8180334" y="1094898"/>
          <a:ext cx="1946638" cy="14598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rPr>
            <a:t>Кража учетных данных</a:t>
          </a:r>
          <a:endParaRPr lang="ru-RU" sz="1900" b="0" i="0" kern="1200" dirty="0">
            <a:solidFill>
              <a:schemeClr val="tx1"/>
            </a:solidFill>
            <a:effectLst/>
            <a:latin typeface="+mn-lt"/>
            <a:ea typeface="+mn-ea"/>
            <a:cs typeface="+mn-cs"/>
          </a:endParaRPr>
        </a:p>
      </dsp:txBody>
      <dsp:txXfrm>
        <a:off x="8251599" y="1166163"/>
        <a:ext cx="1804108" cy="1317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33066-CDA2-4A15-A30B-FCAFBFB95445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C4881-C061-4983-AA04-792181136A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92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2822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8852F-78E8-42E0-81FC-E01F380B8E2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910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337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304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457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425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396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140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755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40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661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048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91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27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3756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229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4200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629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212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8575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C4881-C061-4983-AA04-792181136A6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2061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D6C62-116B-40A7-9507-00F90D282241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9006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D6C62-116B-40A7-9507-00F90D282241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90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74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26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48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5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57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70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62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06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3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06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61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796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652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383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746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134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189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8B72AB-2D06-4F13-9CBC-2F69B54E975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2448B8-4EEB-4BD7-A05D-D1C2D73CA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38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9FB43-E929-7026-48B6-A5D4E4D5FF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Личная безопасность в цифровом мире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7E1918-33A7-2CA1-F622-1608BEDC20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№11</a:t>
            </a:r>
          </a:p>
          <a:p>
            <a:r>
              <a:rPr lang="ru-RU" dirty="0"/>
              <a:t>Дисциплин: Информационная безопасность</a:t>
            </a:r>
          </a:p>
          <a:p>
            <a:r>
              <a:rPr lang="ru-RU" dirty="0"/>
              <a:t>Преподаватель: Маркина Татьяна Анатольевна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7312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EC068-2CA0-23C6-2B62-11468352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голосование - "Цифровой портрет"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6812A4-C51E-81E3-383C-21AECF946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1">
              <a:buNone/>
            </a:pPr>
            <a:r>
              <a:rPr lang="ru-RU" dirty="0"/>
              <a:t>Кто из вас:</a:t>
            </a:r>
          </a:p>
          <a:p>
            <a:pPr latinLnBrk="1"/>
            <a:r>
              <a:rPr lang="ru-RU" dirty="0"/>
              <a:t>Использует один пароль на нескольких сайтах?</a:t>
            </a:r>
          </a:p>
          <a:p>
            <a:pPr latinLnBrk="1"/>
            <a:r>
              <a:rPr lang="ru-RU" dirty="0"/>
              <a:t>Получал уведомления о подозрительной активности?</a:t>
            </a:r>
          </a:p>
          <a:p>
            <a:pPr latinLnBrk="1"/>
            <a:r>
              <a:rPr lang="ru-RU" dirty="0"/>
              <a:t>Проверял, не утекали ли его данные?</a:t>
            </a:r>
          </a:p>
          <a:p>
            <a:pPr latinLnBrk="1"/>
            <a:r>
              <a:rPr lang="ru-RU" dirty="0"/>
              <a:t>Доверяет публичным </a:t>
            </a:r>
            <a:r>
              <a:rPr lang="ru-RU" dirty="0" err="1"/>
              <a:t>Wi</a:t>
            </a:r>
            <a:r>
              <a:rPr lang="ru-RU" dirty="0"/>
              <a:t>-Fi сетям?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BA4836-A86E-2AE5-DDBE-0151B2F4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5ED7-0083-41B9-9551-3BBAE914DC58}" type="slidenum">
              <a:rPr lang="ru-RU" smtClean="0"/>
              <a:t>2</a:t>
            </a:fld>
            <a:endParaRPr lang="ru-RU"/>
          </a:p>
        </p:txBody>
      </p:sp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E1D4ADF0-0CAA-E85A-F954-7F9D4E2D9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4572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389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29D46-35A3-E98A-EE77-AB265D7A6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Кейс - "История разработчика"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EE117D-579A-9067-5B40-9D0BEB07D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Украден аккаунт </a:t>
            </a:r>
            <a:r>
              <a:rPr lang="ru-RU" sz="2800" dirty="0" err="1"/>
              <a:t>GitHub</a:t>
            </a:r>
            <a:r>
              <a:rPr lang="ru-RU" sz="2800" dirty="0"/>
              <a:t> с коммерческим кодом</a:t>
            </a:r>
          </a:p>
          <a:p>
            <a:r>
              <a:rPr lang="ru-RU" sz="2800" dirty="0"/>
              <a:t>Финансовые потери: 500 000 руб.</a:t>
            </a:r>
          </a:p>
          <a:p>
            <a:r>
              <a:rPr lang="ru-RU" sz="2800" dirty="0"/>
              <a:t>Репутационный ущерб: уволен с работы</a:t>
            </a:r>
          </a:p>
          <a:p>
            <a:r>
              <a:rPr lang="ru-RU" sz="2800" dirty="0"/>
              <a:t>Юридические последствия: иск от компании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49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2DAB3-B0DA-7DD6-9F5A-752FAD4B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Цифровой след за 5 минут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285EA9-D5DB-D162-D926-8A3642D7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b="1" dirty="0"/>
              <a:t>Что искать:</a:t>
            </a:r>
            <a:endParaRPr lang="ru-RU" sz="3200" dirty="0"/>
          </a:p>
          <a:p>
            <a:pPr lvl="1"/>
            <a:r>
              <a:rPr lang="ru-RU" sz="3200" dirty="0"/>
              <a:t>Соцсети и профили</a:t>
            </a:r>
          </a:p>
          <a:p>
            <a:pPr lvl="1"/>
            <a:r>
              <a:rPr lang="ru-RU" sz="3200" dirty="0"/>
              <a:t>Упоминания в статьях, форумах</a:t>
            </a:r>
          </a:p>
          <a:p>
            <a:pPr lvl="1"/>
            <a:r>
              <a:rPr lang="ru-RU" sz="3200" dirty="0"/>
              <a:t>Фотографии с конференций</a:t>
            </a:r>
          </a:p>
          <a:p>
            <a:pPr lvl="1"/>
            <a:r>
              <a:rPr lang="ru-RU" sz="3200" dirty="0" err="1"/>
              <a:t>GitHub</a:t>
            </a:r>
            <a:r>
              <a:rPr lang="ru-RU" sz="3200" dirty="0"/>
              <a:t>, </a:t>
            </a:r>
            <a:r>
              <a:rPr lang="ru-RU" sz="3200" dirty="0" err="1"/>
              <a:t>Stack</a:t>
            </a:r>
            <a:r>
              <a:rPr lang="ru-RU" sz="3200" dirty="0"/>
              <a:t> </a:t>
            </a:r>
            <a:r>
              <a:rPr lang="ru-RU" sz="3200" dirty="0" err="1"/>
              <a:t>Overflow</a:t>
            </a:r>
            <a:endParaRPr lang="ru-RU" sz="3200" dirty="0"/>
          </a:p>
          <a:p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D57C9737-6C8A-1CEE-9A20-7F5C6C81F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4572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04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329A6-E0CC-6E6C-711E-76E81DAD9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448FA-C326-6B56-6FB5-70F6EC25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пароли важны?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9F9882-FF66-7D96-6922-107CB98B7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/>
              <a:t>80% взломов из-за слабых паролей</a:t>
            </a:r>
          </a:p>
          <a:p>
            <a:r>
              <a:rPr lang="ru-RU" sz="3200" dirty="0"/>
              <a:t>65% людей используют один пароль везде</a:t>
            </a:r>
          </a:p>
          <a:p>
            <a:r>
              <a:rPr lang="ru-RU" sz="3200" dirty="0"/>
              <a:t>Взлом простого пароля: 0.3 секунды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2248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CD71-A712-D11A-3F04-5C3E72CC3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2E116-5B76-4637-4699-321F5EF6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Взлом пароля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7E058-A493-5BD3-08AA-F012230B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ru-RU" sz="2400" dirty="0" err="1"/>
              <a:t>Хеши</a:t>
            </a:r>
            <a:r>
              <a:rPr lang="ru-RU" sz="2400" dirty="0"/>
              <a:t> для анализа:</a:t>
            </a:r>
          </a:p>
          <a:p>
            <a:pPr lvl="1" latinLnBrk="1"/>
            <a:r>
              <a:rPr lang="ru-RU" sz="2200" dirty="0"/>
              <a:t>5</a:t>
            </a:r>
            <a:r>
              <a:rPr lang="en-US" sz="2200" dirty="0"/>
              <a:t>f4dcc3b5aa765d61d8327deb882cf99 (password)</a:t>
            </a:r>
          </a:p>
          <a:p>
            <a:pPr lvl="1" latinLnBrk="1"/>
            <a:r>
              <a:rPr lang="en-US" sz="2200" dirty="0"/>
              <a:t>e10adc3949ba59abbe56e057f20f883e (123456)</a:t>
            </a:r>
          </a:p>
          <a:p>
            <a:pPr lvl="1" latinLnBrk="1"/>
            <a:r>
              <a:rPr lang="en-US" sz="2200" dirty="0"/>
              <a:t>25d55ad283aa400af464c76d713c07ad (12345678)</a:t>
            </a:r>
          </a:p>
          <a:p>
            <a:r>
              <a:rPr lang="ru-RU" sz="2400" b="1" dirty="0"/>
              <a:t>Инструменты:</a:t>
            </a:r>
            <a:r>
              <a:rPr lang="ru-RU" sz="2400" dirty="0"/>
              <a:t> </a:t>
            </a:r>
            <a:r>
              <a:rPr lang="en-US" sz="2400" dirty="0" err="1"/>
              <a:t>OnlineHashCrack</a:t>
            </a:r>
            <a:r>
              <a:rPr lang="en-US" sz="2400" dirty="0"/>
              <a:t>, MD5Decrypt</a:t>
            </a:r>
          </a:p>
          <a:p>
            <a:r>
              <a:rPr lang="ru-RU" sz="2400" b="1" dirty="0"/>
              <a:t>Задача:</a:t>
            </a:r>
            <a:r>
              <a:rPr lang="ru-RU" sz="2400" dirty="0"/>
              <a:t> Подобрать исходные пароли</a:t>
            </a:r>
          </a:p>
          <a:p>
            <a:r>
              <a:rPr lang="ru-RU" sz="2400" b="1" dirty="0"/>
              <a:t>Время:</a:t>
            </a:r>
            <a:r>
              <a:rPr lang="ru-RU" sz="2400" dirty="0"/>
              <a:t> 7 минут</a:t>
            </a:r>
          </a:p>
          <a:p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02290795-95C8-26F0-5968-53D9BD5FF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4572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972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7183-BE24-4F8C-56E8-1325700F3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B0542-2AE3-40F9-57B6-6C920EFA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взлома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175F469-D28F-42A9-9FBB-E96EB91E29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963931"/>
              </p:ext>
            </p:extLst>
          </p:nvPr>
        </p:nvGraphicFramePr>
        <p:xfrm>
          <a:off x="1348741" y="2524918"/>
          <a:ext cx="9171306" cy="30376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057102">
                  <a:extLst>
                    <a:ext uri="{9D8B030D-6E8A-4147-A177-3AD203B41FA5}">
                      <a16:colId xmlns:a16="http://schemas.microsoft.com/office/drawing/2014/main" val="3032793712"/>
                    </a:ext>
                  </a:extLst>
                </a:gridCol>
                <a:gridCol w="3057102">
                  <a:extLst>
                    <a:ext uri="{9D8B030D-6E8A-4147-A177-3AD203B41FA5}">
                      <a16:colId xmlns:a16="http://schemas.microsoft.com/office/drawing/2014/main" val="3246372114"/>
                    </a:ext>
                  </a:extLst>
                </a:gridCol>
                <a:gridCol w="3057102">
                  <a:extLst>
                    <a:ext uri="{9D8B030D-6E8A-4147-A177-3AD203B41FA5}">
                      <a16:colId xmlns:a16="http://schemas.microsoft.com/office/drawing/2014/main" val="3153891939"/>
                    </a:ext>
                  </a:extLst>
                </a:gridCol>
              </a:tblGrid>
              <a:tr h="60753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3200" b="1" dirty="0">
                          <a:solidFill>
                            <a:schemeClr val="bg1"/>
                          </a:solidFill>
                          <a:effectLst/>
                        </a:rPr>
                        <a:t>Пароль</a:t>
                      </a:r>
                      <a:endParaRPr lang="ru-RU" sz="32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3200" b="1" dirty="0">
                          <a:solidFill>
                            <a:schemeClr val="bg1"/>
                          </a:solidFill>
                          <a:effectLst/>
                        </a:rPr>
                        <a:t>Время взлома</a:t>
                      </a:r>
                      <a:endParaRPr lang="ru-RU" sz="32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3200" b="1" dirty="0">
                          <a:solidFill>
                            <a:schemeClr val="bg1"/>
                          </a:solidFill>
                          <a:effectLst/>
                        </a:rPr>
                        <a:t>Сложность</a:t>
                      </a:r>
                      <a:endParaRPr lang="ru-RU" sz="32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926928796"/>
                  </a:ext>
                </a:extLst>
              </a:tr>
              <a:tr h="6075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123456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0.01 сек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Очень слабый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318818369"/>
                  </a:ext>
                </a:extLst>
              </a:tr>
              <a:tr h="6075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3200" b="0">
                          <a:solidFill>
                            <a:schemeClr val="bg1"/>
                          </a:solidFill>
                          <a:effectLst/>
                        </a:rPr>
                        <a:t>password</a:t>
                      </a:r>
                      <a:endParaRPr lang="en-US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0.03 сек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 dirty="0">
                          <a:solidFill>
                            <a:schemeClr val="bg1"/>
                          </a:solidFill>
                          <a:effectLst/>
                        </a:rPr>
                        <a:t>Слабый</a:t>
                      </a:r>
                      <a:endParaRPr lang="ru-RU" sz="32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2512033"/>
                  </a:ext>
                </a:extLst>
              </a:tr>
              <a:tr h="6075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3200" b="0">
                          <a:solidFill>
                            <a:schemeClr val="bg1"/>
                          </a:solidFill>
                          <a:effectLst/>
                        </a:rPr>
                        <a:t>Cat2021!</a:t>
                      </a:r>
                      <a:endParaRPr lang="en-US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2 часа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Средний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926178844"/>
                  </a:ext>
                </a:extLst>
              </a:tr>
              <a:tr h="60753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3200" b="0">
                          <a:solidFill>
                            <a:schemeClr val="bg1"/>
                          </a:solidFill>
                          <a:effectLst/>
                        </a:rPr>
                        <a:t>G8@xK#pL$2</a:t>
                      </a:r>
                      <a:endParaRPr lang="en-US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>
                          <a:solidFill>
                            <a:schemeClr val="bg1"/>
                          </a:solidFill>
                          <a:effectLst/>
                        </a:rPr>
                        <a:t>100+ лет</a:t>
                      </a:r>
                      <a:endParaRPr lang="ru-RU" sz="32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3200" b="0" dirty="0">
                          <a:solidFill>
                            <a:schemeClr val="bg1"/>
                          </a:solidFill>
                          <a:effectLst/>
                        </a:rPr>
                        <a:t>Сильный</a:t>
                      </a:r>
                      <a:endParaRPr lang="ru-RU" sz="32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69495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063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FC9B7-65F3-DF7D-9650-EE9D4402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DC930-A9A0-D34D-0BA8-99F1FD00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Аудит паролей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E621ACE5-6324-8940-C6C9-FA6C32034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4572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ED6180-6A32-0F10-FA82-FCF056C74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9" y="1889382"/>
            <a:ext cx="9007621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98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A6818-48BA-3290-DB15-A1D38B485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4A9D5-A11C-B86E-50E2-219147929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Менеджер паролей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9F7AAF-5B4C-1144-CECE-BC9E4E90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79" y="1509524"/>
            <a:ext cx="5013959" cy="2518121"/>
          </a:xfrm>
          <a:prstGeom prst="rect">
            <a:avLst/>
          </a:prstGeom>
        </p:spPr>
      </p:pic>
      <p:pic>
        <p:nvPicPr>
          <p:cNvPr id="2050" name="Picture 2" descr="Bitwarden vs 1Password comparison">
            <a:extLst>
              <a:ext uri="{FF2B5EF4-FFF2-40B4-BE49-F238E27FC236}">
                <a16:creationId xmlns:a16="http://schemas.microsoft.com/office/drawing/2014/main" id="{E7A2B7E4-311C-0071-1F3C-3DA6D08E8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979" y="4479542"/>
            <a:ext cx="4739638" cy="173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939A08-BC6C-1F4A-5FB1-F0DB62489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33" y="2000549"/>
            <a:ext cx="5852667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26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E43CA-BDC3-6E53-3076-BB80DAFD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6D29F3-BDC7-5DD7-2A2D-73D85CDF9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Двухфакторная аутентификация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359525-E4B2-541C-6DD1-3691CBCC3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106333"/>
          </a:xfrm>
        </p:spPr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ru-RU" sz="5100" b="1" dirty="0"/>
              <a:t>Способы:</a:t>
            </a:r>
            <a:endParaRPr lang="ru-RU" sz="5100" dirty="0"/>
          </a:p>
          <a:p>
            <a:pPr lvl="1"/>
            <a:r>
              <a:rPr lang="en-US" sz="5100" dirty="0"/>
              <a:t>SMS (</a:t>
            </a:r>
            <a:r>
              <a:rPr lang="ru-RU" sz="5100" dirty="0"/>
              <a:t>небезопасно)</a:t>
            </a:r>
          </a:p>
          <a:p>
            <a:pPr lvl="1"/>
            <a:r>
              <a:rPr lang="en-US" sz="5100" dirty="0"/>
              <a:t>TOTP </a:t>
            </a:r>
            <a:r>
              <a:rPr lang="ru-RU" sz="5100" dirty="0"/>
              <a:t>приложения (</a:t>
            </a:r>
            <a:r>
              <a:rPr lang="en-US" sz="5100" dirty="0"/>
              <a:t>Google Authenticator)</a:t>
            </a:r>
          </a:p>
          <a:p>
            <a:pPr lvl="1"/>
            <a:r>
              <a:rPr lang="ru-RU" sz="5100" dirty="0"/>
              <a:t>Аппаратные ключи (</a:t>
            </a:r>
            <a:r>
              <a:rPr lang="en-US" sz="5100" dirty="0"/>
              <a:t>YubiKey)</a:t>
            </a:r>
          </a:p>
          <a:p>
            <a:pPr marL="0" indent="0">
              <a:buNone/>
            </a:pPr>
            <a:r>
              <a:rPr lang="ru-RU" sz="5100" b="1" dirty="0"/>
              <a:t>Настройка 2</a:t>
            </a:r>
            <a:r>
              <a:rPr lang="en-US" sz="5100" b="1" dirty="0"/>
              <a:t>FA </a:t>
            </a:r>
            <a:r>
              <a:rPr lang="ru-RU" sz="5100" b="1" dirty="0"/>
              <a:t>для:</a:t>
            </a:r>
            <a:endParaRPr lang="ru-RU" sz="5100" dirty="0"/>
          </a:p>
          <a:p>
            <a:pPr lvl="1"/>
            <a:r>
              <a:rPr lang="en-US" sz="5100" dirty="0"/>
              <a:t>Google/Microsoft </a:t>
            </a:r>
            <a:r>
              <a:rPr lang="ru-RU" sz="5100" dirty="0"/>
              <a:t>аккаунтов</a:t>
            </a:r>
          </a:p>
          <a:p>
            <a:pPr lvl="1"/>
            <a:r>
              <a:rPr lang="en-US" sz="5100" dirty="0"/>
              <a:t>GitHub/GitLab</a:t>
            </a:r>
          </a:p>
          <a:p>
            <a:pPr lvl="1"/>
            <a:r>
              <a:rPr lang="ru-RU" sz="5100" dirty="0"/>
              <a:t>Социальных сетей</a:t>
            </a:r>
          </a:p>
          <a:p>
            <a:pPr lvl="1"/>
            <a:r>
              <a:rPr lang="ru-RU" sz="5100" dirty="0"/>
              <a:t>Банковских приложений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9412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F6C0-D48B-887A-B04D-8D4E35412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CB55FD-172D-8B1A-B9BE-FF0264A2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Социальная инженерия по фото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44F7FE66-9C3C-67B4-FA81-608F54146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4572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8B935C91-090B-C700-0C66-8760D0004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080" y="2183566"/>
            <a:ext cx="6107430" cy="406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55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CD29-5691-F0A4-DBA1-5AEAB1B4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7EB45-2147-6921-35C4-95359843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Разбор активности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D33358-8DE8-883A-D07D-73BE99718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b="1" dirty="0"/>
              <a:t>Что можно узнать:</a:t>
            </a:r>
            <a:endParaRPr lang="ru-RU" sz="2800" dirty="0"/>
          </a:p>
          <a:p>
            <a:pPr lvl="1"/>
            <a:r>
              <a:rPr lang="ru-RU" sz="2800" dirty="0"/>
              <a:t>Место работы, должность</a:t>
            </a:r>
          </a:p>
          <a:p>
            <a:pPr lvl="1"/>
            <a:r>
              <a:rPr lang="ru-RU" sz="2800" dirty="0"/>
              <a:t>Проекты, технологии</a:t>
            </a:r>
          </a:p>
          <a:p>
            <a:pPr lvl="1"/>
            <a:r>
              <a:rPr lang="ru-RU" sz="2800" dirty="0"/>
              <a:t>Распорядок дня, встречи</a:t>
            </a:r>
          </a:p>
          <a:p>
            <a:pPr lvl="1"/>
            <a:r>
              <a:rPr lang="ru-RU" sz="2800" dirty="0"/>
              <a:t>Увлечения, контакты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4120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AD23E-EB6F-91CA-57A1-AF3E5DE29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91331-E934-674D-D50F-73B2BA11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Кейс - "Взлом через соцсети"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3F43AE2-C22D-77E0-A466-F7E1D41CA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6625324"/>
              </p:ext>
            </p:extLst>
          </p:nvPr>
        </p:nvGraphicFramePr>
        <p:xfrm>
          <a:off x="685800" y="2141538"/>
          <a:ext cx="10131425" cy="3649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2907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82D2E-276F-18BB-1437-8CB877EF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E2109-45EE-CCB8-7BA4-643D0713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Настройки приватности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A5C8E2-955C-949E-BC78-752BCC628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b="1" dirty="0"/>
              <a:t>Чек-лист для соцсетей:</a:t>
            </a:r>
            <a:endParaRPr lang="ru-RU" sz="2400" dirty="0"/>
          </a:p>
          <a:p>
            <a:pPr marL="0" indent="0">
              <a:buNone/>
            </a:pPr>
            <a:r>
              <a:rPr lang="ru-RU" sz="2800" dirty="0"/>
              <a:t>✅ Закрытые профили</a:t>
            </a:r>
          </a:p>
          <a:p>
            <a:pPr marL="0" indent="0">
              <a:buNone/>
            </a:pPr>
            <a:r>
              <a:rPr lang="ru-RU" sz="2800" dirty="0"/>
              <a:t>✅ Ограничение поиска по </a:t>
            </a:r>
            <a:r>
              <a:rPr lang="ru-RU" sz="2800" dirty="0" err="1"/>
              <a:t>email</a:t>
            </a:r>
            <a:r>
              <a:rPr lang="ru-RU" sz="2800" dirty="0"/>
              <a:t>/телефону</a:t>
            </a:r>
          </a:p>
          <a:p>
            <a:pPr marL="0" indent="0">
              <a:buNone/>
            </a:pPr>
            <a:r>
              <a:rPr lang="ru-RU" sz="2800" dirty="0"/>
              <a:t>✅ Контроль тегов на фото</a:t>
            </a:r>
          </a:p>
          <a:p>
            <a:pPr marL="0" indent="0">
              <a:buNone/>
            </a:pPr>
            <a:r>
              <a:rPr lang="ru-RU" sz="2800" dirty="0"/>
              <a:t>✅ Осторожность с геометками</a:t>
            </a:r>
          </a:p>
          <a:p>
            <a:pPr marL="0" indent="0">
              <a:buNone/>
            </a:pPr>
            <a:r>
              <a:rPr lang="ru-RU" sz="2800" dirty="0"/>
              <a:t>✅ Регулярная чистка друзей/подписчиков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959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3A02-EEFC-0858-F9A6-66F9648CF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83EDD-57AB-8CE8-B6F3-A24BE7C5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</a:t>
            </a:r>
            <a:r>
              <a:rPr lang="en-US" dirty="0"/>
              <a:t>Wi-Fi </a:t>
            </a:r>
            <a:r>
              <a:rPr lang="ru-RU" dirty="0"/>
              <a:t>сетей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3F246F-B047-BF83-E569-8F957E20A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atinLnBrk="1"/>
            <a:r>
              <a:rPr lang="ru-RU" sz="3000" b="1" dirty="0"/>
              <a:t>Список сетей:</a:t>
            </a:r>
          </a:p>
          <a:p>
            <a:pPr lvl="1" latinLnBrk="1"/>
            <a:r>
              <a:rPr lang="en-US" sz="2800" dirty="0" err="1"/>
              <a:t>Starbucks_Free_WiFi</a:t>
            </a:r>
            <a:endParaRPr lang="en-US" sz="2800" dirty="0"/>
          </a:p>
          <a:p>
            <a:pPr lvl="1" latinLnBrk="1"/>
            <a:r>
              <a:rPr lang="en-US" sz="2800" dirty="0"/>
              <a:t>MGTU-Student</a:t>
            </a:r>
          </a:p>
          <a:p>
            <a:pPr lvl="1" latinLnBrk="1"/>
            <a:r>
              <a:rPr lang="en-US" sz="2800" dirty="0" err="1"/>
              <a:t>Free_WiFi_Here</a:t>
            </a:r>
            <a:endParaRPr lang="en-US" sz="2800" dirty="0"/>
          </a:p>
          <a:p>
            <a:pPr lvl="1" latinLnBrk="1"/>
            <a:r>
              <a:rPr lang="en-US" sz="2800" dirty="0"/>
              <a:t>MGTU-Secure</a:t>
            </a:r>
          </a:p>
          <a:p>
            <a:pPr lvl="1" latinLnBrk="1"/>
            <a:r>
              <a:rPr lang="en-US" sz="2800" dirty="0"/>
              <a:t>AndroidAP_2345</a:t>
            </a:r>
          </a:p>
          <a:p>
            <a:r>
              <a:rPr lang="ru-RU" sz="3000" b="1" dirty="0"/>
              <a:t>Задача:</a:t>
            </a:r>
            <a:r>
              <a:rPr lang="ru-RU" sz="3000" dirty="0"/>
              <a:t> Определить потенциально опасные сети</a:t>
            </a:r>
          </a:p>
          <a:p>
            <a:r>
              <a:rPr lang="ru-RU" sz="3000" b="1" dirty="0"/>
              <a:t>Критерии:</a:t>
            </a:r>
            <a:r>
              <a:rPr lang="ru-RU" sz="3000" dirty="0"/>
              <a:t> Имя сети, безопасность, легитимность</a:t>
            </a:r>
          </a:p>
          <a:p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87CF78D3-359E-09FF-DAFE-979EFAD38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4572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728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CC51A-17B6-156F-873C-3C6E2D6A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F8C05-68B6-8F4A-E79C-BB767A30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Опасности публичных сетей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3F629D-F269-13CB-2426-B85DFD7B6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ru-RU" sz="3200" b="1" dirty="0"/>
              <a:t>Угрозы:</a:t>
            </a:r>
            <a:endParaRPr lang="ru-RU" sz="3200" dirty="0"/>
          </a:p>
          <a:p>
            <a:pPr lvl="1"/>
            <a:r>
              <a:rPr lang="ru-RU" sz="3200" dirty="0"/>
              <a:t>MITM атаки</a:t>
            </a:r>
          </a:p>
          <a:p>
            <a:pPr lvl="1"/>
            <a:r>
              <a:rPr lang="ru-RU" sz="3200" dirty="0"/>
              <a:t>Поддельные точки доступа</a:t>
            </a:r>
          </a:p>
          <a:p>
            <a:pPr lvl="1"/>
            <a:r>
              <a:rPr lang="ru-RU" sz="3200" dirty="0"/>
              <a:t>Перехват трафика</a:t>
            </a:r>
          </a:p>
          <a:p>
            <a:pPr lvl="1"/>
            <a:r>
              <a:rPr lang="ru-RU" sz="3200" dirty="0"/>
              <a:t>Заражение </a:t>
            </a:r>
            <a:r>
              <a:rPr lang="ru-RU" sz="3200" dirty="0" err="1"/>
              <a:t>malware</a:t>
            </a:r>
            <a:endParaRPr lang="ru-RU" sz="3200" dirty="0"/>
          </a:p>
          <a:p>
            <a:pPr marL="0" indent="0">
              <a:buNone/>
            </a:pPr>
            <a:r>
              <a:rPr lang="ru-RU" sz="3200" b="1" dirty="0"/>
              <a:t>Защита:</a:t>
            </a:r>
            <a:endParaRPr lang="ru-RU" sz="3200" dirty="0"/>
          </a:p>
          <a:p>
            <a:pPr lvl="1"/>
            <a:r>
              <a:rPr lang="ru-RU" sz="3200" dirty="0"/>
              <a:t>VPN обязательно</a:t>
            </a:r>
          </a:p>
          <a:p>
            <a:pPr lvl="1"/>
            <a:r>
              <a:rPr lang="ru-RU" sz="3200" dirty="0"/>
              <a:t>Отключение общего доступа</a:t>
            </a:r>
          </a:p>
          <a:p>
            <a:pPr lvl="1"/>
            <a:r>
              <a:rPr lang="ru-RU" sz="3200" dirty="0"/>
              <a:t>HTTPS везде</a:t>
            </a:r>
          </a:p>
          <a:p>
            <a:pPr lvl="1"/>
            <a:r>
              <a:rPr lang="ru-RU" sz="3200" dirty="0"/>
              <a:t>Огненная стена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8438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BA4BA-DD76-6BA4-DF43-B78F08556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829B1-19B7-51B3-6D16-0385F7946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Чек-лист безопасности устройств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2ED777-DFE6-D8B8-42DF-22A96F1B3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latinLnBrk="1">
              <a:buNone/>
            </a:pPr>
            <a:r>
              <a:rPr lang="ru-RU" sz="2400" dirty="0"/>
              <a:t>✅ Регулярные обновления ОС и ПО</a:t>
            </a:r>
          </a:p>
          <a:p>
            <a:pPr marL="0" indent="0" latinLnBrk="1">
              <a:buNone/>
            </a:pPr>
            <a:r>
              <a:rPr lang="ru-RU" sz="2400" dirty="0"/>
              <a:t>✅ Антивирус с активной защитой</a:t>
            </a:r>
          </a:p>
          <a:p>
            <a:pPr marL="0" indent="0" latinLnBrk="1">
              <a:buNone/>
            </a:pPr>
            <a:r>
              <a:rPr lang="ru-RU" sz="2400" dirty="0"/>
              <a:t>✅ VPN в публичных сетях</a:t>
            </a:r>
          </a:p>
          <a:p>
            <a:pPr marL="0" indent="0" latinLnBrk="1">
              <a:buNone/>
            </a:pPr>
            <a:r>
              <a:rPr lang="ru-RU" sz="2400" dirty="0"/>
              <a:t>✅ Блокировщик рекламы и трекеров</a:t>
            </a:r>
          </a:p>
          <a:p>
            <a:pPr marL="0" indent="0" latinLnBrk="1">
              <a:buNone/>
            </a:pPr>
            <a:r>
              <a:rPr lang="ru-RU" sz="2400" dirty="0"/>
              <a:t>✅ Резервные копии важных данных</a:t>
            </a:r>
          </a:p>
          <a:p>
            <a:pPr marL="0" indent="0" latinLnBrk="1">
              <a:buNone/>
            </a:pPr>
            <a:r>
              <a:rPr lang="ru-RU" sz="2400" dirty="0"/>
              <a:t>✅ Шифрование дисков</a:t>
            </a:r>
          </a:p>
          <a:p>
            <a:pPr marL="0" indent="0" latinLnBrk="1">
              <a:buNone/>
            </a:pPr>
            <a:r>
              <a:rPr lang="ru-RU" sz="2400" dirty="0"/>
              <a:t>✅ Автоматическая блокировка экрана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2834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4F13-DEA5-1690-D022-B8B697D46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18F2E-589B-91A6-C5E6-CD8D80B2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Мошеннические схемы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379273-D3A2-BF9F-EBC5-B9A47494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dirty="0"/>
              <a:t>Схемы для анализа:</a:t>
            </a:r>
            <a:endParaRPr lang="ru-RU" sz="2800" dirty="0"/>
          </a:p>
          <a:p>
            <a:pPr lvl="1"/>
            <a:r>
              <a:rPr lang="ru-RU" sz="2800" dirty="0"/>
              <a:t>"Близкий в беде" - срочный перевод</a:t>
            </a:r>
          </a:p>
          <a:p>
            <a:pPr lvl="1"/>
            <a:r>
              <a:rPr lang="ru-RU" sz="2800" dirty="0"/>
              <a:t>"Блокировка карты" - данные для "разблокировки"</a:t>
            </a:r>
          </a:p>
          <a:p>
            <a:pPr lvl="1"/>
            <a:r>
              <a:rPr lang="ru-RU" sz="2800" dirty="0"/>
              <a:t>"Выигрыш приза" - предоплата "налога"</a:t>
            </a:r>
          </a:p>
          <a:p>
            <a:pPr lvl="1"/>
            <a:r>
              <a:rPr lang="ru-RU" sz="2800" dirty="0"/>
              <a:t>"Техподдержка" - удаленный доступ к ПК</a:t>
            </a:r>
          </a:p>
          <a:p>
            <a:r>
              <a:rPr lang="ru-RU" sz="2800" b="1" dirty="0"/>
              <a:t>Задача:</a:t>
            </a:r>
            <a:r>
              <a:rPr lang="ru-RU" sz="2800" dirty="0"/>
              <a:t> Разработать алгоритм защиты для каждой схемы</a:t>
            </a:r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6387290C-A83D-650C-E545-DE7D2A16C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4572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403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0DF3-C942-0CD6-610B-03BF9C1A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B0F99-4F25-EDDB-DD2F-18BF27B6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Разбор мошеннических схем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A5EE7E-612F-7A89-E152-C8F491F13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b="1" dirty="0"/>
              <a:t>Алгоритмы защиты:</a:t>
            </a:r>
            <a:endParaRPr lang="ru-RU" sz="2800" dirty="0"/>
          </a:p>
          <a:p>
            <a:pPr lvl="1"/>
            <a:r>
              <a:rPr lang="ru-RU" sz="2800" dirty="0"/>
              <a:t>Всегда перезванивать на известные номера</a:t>
            </a:r>
          </a:p>
          <a:p>
            <a:pPr lvl="1"/>
            <a:r>
              <a:rPr lang="ru-RU" sz="2800" dirty="0"/>
              <a:t>Не называть данные карты по телефону</a:t>
            </a:r>
          </a:p>
          <a:p>
            <a:pPr lvl="1"/>
            <a:r>
              <a:rPr lang="ru-RU" sz="2800" dirty="0"/>
              <a:t>Проверять официальные сайты</a:t>
            </a:r>
          </a:p>
          <a:p>
            <a:pPr lvl="1"/>
            <a:r>
              <a:rPr lang="ru-RU" sz="2800" dirty="0"/>
              <a:t>Никому не давать удаленный доступ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8348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D7581-76A9-BAF1-D722-12815DEA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0124DB-F190-B934-915C-F3036963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банковских уведомлений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1B6DA6-C264-3D6A-1EBF-8BB296C2B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b="1" dirty="0"/>
              <a:t>Что настроить:</a:t>
            </a:r>
            <a:endParaRPr lang="ru-RU" sz="3200" dirty="0"/>
          </a:p>
          <a:p>
            <a:pPr lvl="1"/>
            <a:r>
              <a:rPr lang="ru-RU" sz="3200" dirty="0"/>
              <a:t>SMS о всех операциях</a:t>
            </a:r>
          </a:p>
          <a:p>
            <a:pPr lvl="1"/>
            <a:r>
              <a:rPr lang="ru-RU" sz="3200" dirty="0"/>
              <a:t>Лимиты на переводы</a:t>
            </a:r>
          </a:p>
          <a:p>
            <a:pPr lvl="1"/>
            <a:r>
              <a:rPr lang="ru-RU" sz="3200" dirty="0"/>
              <a:t>Подтверждение операций</a:t>
            </a:r>
          </a:p>
          <a:p>
            <a:pPr lvl="1"/>
            <a:r>
              <a:rPr lang="ru-RU" sz="3200" dirty="0"/>
              <a:t>Уведомления в мобильном приложении</a:t>
            </a:r>
          </a:p>
          <a:p>
            <a:endParaRPr lang="ru-RU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C127978-1274-C681-2F49-1D438A4C5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4572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1270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1028-CFE2-C7A3-E23D-CDD1360CE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4B5F67-4F50-A283-FC29-89D09DE6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Кейс - "Поддельное приложение банка"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11EFBD-578F-6742-DA45-6E930D1EA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106333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ru-RU" sz="3200" b="1" dirty="0"/>
              <a:t>История студента:</a:t>
            </a:r>
            <a:endParaRPr lang="ru-RU" sz="3200" dirty="0"/>
          </a:p>
          <a:p>
            <a:pPr lvl="1"/>
            <a:r>
              <a:rPr lang="ru-RU" sz="3200" dirty="0"/>
              <a:t>Нашел "выгодное" приложение банка</a:t>
            </a:r>
          </a:p>
          <a:p>
            <a:pPr lvl="1"/>
            <a:r>
              <a:rPr lang="ru-RU" sz="3200" dirty="0"/>
              <a:t>Ввел данные карты</a:t>
            </a:r>
          </a:p>
          <a:p>
            <a:pPr lvl="1"/>
            <a:r>
              <a:rPr lang="ru-RU" sz="3200" dirty="0"/>
              <a:t>Потерял 50 000 рублей за 2 минуты</a:t>
            </a:r>
          </a:p>
          <a:p>
            <a:endParaRPr lang="ru-RU" sz="3200" b="1" dirty="0"/>
          </a:p>
          <a:p>
            <a:endParaRPr lang="ru-RU" sz="3200" b="1" dirty="0"/>
          </a:p>
          <a:p>
            <a:pPr marL="0" indent="0">
              <a:buNone/>
            </a:pPr>
            <a:r>
              <a:rPr lang="ru-RU" sz="3200" b="1" dirty="0"/>
              <a:t>Как проверить приложение:</a:t>
            </a:r>
            <a:endParaRPr lang="ru-RU" sz="3200" dirty="0"/>
          </a:p>
          <a:p>
            <a:pPr lvl="1"/>
            <a:r>
              <a:rPr lang="ru-RU" sz="3200" dirty="0"/>
              <a:t>Только официальные магазины</a:t>
            </a:r>
          </a:p>
          <a:p>
            <a:pPr lvl="1"/>
            <a:r>
              <a:rPr lang="ru-RU" sz="3200" dirty="0"/>
              <a:t>Количество скачиваний, отзывы</a:t>
            </a:r>
          </a:p>
          <a:p>
            <a:pPr lvl="1"/>
            <a:r>
              <a:rPr lang="ru-RU" sz="3200" dirty="0"/>
              <a:t>Разработчик - сам банк</a:t>
            </a:r>
          </a:p>
          <a:p>
            <a:pPr lvl="1"/>
            <a:r>
              <a:rPr lang="ru-RU" sz="3200" dirty="0"/>
              <a:t>Права доступа приложения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3469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BD372-7E98-3656-FE18-39817D84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Ответы на вопросы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82E860-A0FE-E5B4-4F14-EF08FA359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1AB717-FF3B-A410-AEB4-6ACC14EF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5ED7-0083-41B9-9551-3BBAE914DC5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564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72346F-E74D-90B2-44E3-B5072A58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Спасибо за внимание!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5E0445-6F94-9554-6E25-797F1A504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B1C25A-B5B4-D541-CF0A-CB395473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95ED7-0083-41B9-9551-3BBAE914DC5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371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Небесная</Template>
  <TotalTime>57</TotalTime>
  <Words>584</Words>
  <Application>Microsoft Office PowerPoint</Application>
  <PresentationFormat>Широкоэкранный</PresentationFormat>
  <Paragraphs>168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quote-cjk-patch</vt:lpstr>
      <vt:lpstr>Небесная</vt:lpstr>
      <vt:lpstr>Личная безопасность в цифровом мире</vt:lpstr>
      <vt:lpstr>голосование - "Цифровой портрет"</vt:lpstr>
      <vt:lpstr>Кейс - "История разработчика"</vt:lpstr>
      <vt:lpstr>Цифровой след за 5 минут</vt:lpstr>
      <vt:lpstr>Почему пароли важны?</vt:lpstr>
      <vt:lpstr>Взлом пароля</vt:lpstr>
      <vt:lpstr>Результаты взлома</vt:lpstr>
      <vt:lpstr>Аудит паролей</vt:lpstr>
      <vt:lpstr>Менеджер паролей</vt:lpstr>
      <vt:lpstr>Двухфакторная аутентификация</vt:lpstr>
      <vt:lpstr>Социальная инженерия по фото</vt:lpstr>
      <vt:lpstr>Разбор активности</vt:lpstr>
      <vt:lpstr>Кейс - "Взлом через соцсети"</vt:lpstr>
      <vt:lpstr>Настройки приватности</vt:lpstr>
      <vt:lpstr>Анализ Wi-Fi сетей</vt:lpstr>
      <vt:lpstr>Опасности публичных сетей</vt:lpstr>
      <vt:lpstr>Чек-лист безопасности устройств</vt:lpstr>
      <vt:lpstr>Мошеннические схемы</vt:lpstr>
      <vt:lpstr>Разбор мошеннических схем</vt:lpstr>
      <vt:lpstr>Настройка банковских уведомлений</vt:lpstr>
      <vt:lpstr>Кейс - "Поддельное приложение банка"</vt:lpstr>
      <vt:lpstr>Ответы на вопросы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Татьяна Маркина</dc:creator>
  <cp:lastModifiedBy>Татьяна Маркина</cp:lastModifiedBy>
  <cp:revision>10</cp:revision>
  <dcterms:created xsi:type="dcterms:W3CDTF">2025-09-10T15:27:31Z</dcterms:created>
  <dcterms:modified xsi:type="dcterms:W3CDTF">2025-12-02T05:33:08Z</dcterms:modified>
</cp:coreProperties>
</file>