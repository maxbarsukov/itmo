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80" r:id="rId3"/>
    <p:sldId id="281" r:id="rId4"/>
    <p:sldId id="257" r:id="rId5"/>
    <p:sldId id="282" r:id="rId6"/>
    <p:sldId id="283" r:id="rId7"/>
    <p:sldId id="284" r:id="rId8"/>
    <p:sldId id="285" r:id="rId9"/>
    <p:sldId id="286" r:id="rId10"/>
    <p:sldId id="287" r:id="rId11"/>
    <p:sldId id="305" r:id="rId12"/>
    <p:sldId id="306" r:id="rId13"/>
    <p:sldId id="307" r:id="rId14"/>
    <p:sldId id="308" r:id="rId15"/>
    <p:sldId id="309" r:id="rId16"/>
    <p:sldId id="291" r:id="rId17"/>
    <p:sldId id="292" r:id="rId18"/>
    <p:sldId id="293" r:id="rId19"/>
    <p:sldId id="295" r:id="rId20"/>
    <p:sldId id="297" r:id="rId21"/>
    <p:sldId id="304" r:id="rId22"/>
    <p:sldId id="288" r:id="rId23"/>
    <p:sldId id="310" r:id="rId24"/>
    <p:sldId id="299" r:id="rId25"/>
    <p:sldId id="300" r:id="rId26"/>
    <p:sldId id="277" r:id="rId27"/>
    <p:sldId id="279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0996" autoAdjust="0"/>
  </p:normalViewPr>
  <p:slideViewPr>
    <p:cSldViewPr snapToGrid="0">
      <p:cViewPr varScale="1">
        <p:scale>
          <a:sx n="44" d="100"/>
          <a:sy n="44" d="100"/>
        </p:scale>
        <p:origin x="2117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E33066-CDA2-4A15-A30B-FCAFBFB95445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C4881-C061-4983-AA04-792181136A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922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5645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35352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96688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8852F-78E8-42E0-81FC-E01F380B8E2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99104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18027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42477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36827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87882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40893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35386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38208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85242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3041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69305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78575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40807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56247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47658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68045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01652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3587B-5718-2957-3508-FE3427BB5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E570D65-9D82-D698-DDAA-DA4733ABE8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916A4A1-5209-08B9-36A7-05BF7ED62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11: Демо: Отчет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SAST.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Скриншот отчета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SonarQube/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Semgrep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Показывает:</a:t>
            </a:r>
          </a:p>
          <a:p>
            <a:pPr lvl="2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Место в коде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(файл, строка).</a:t>
            </a:r>
          </a:p>
          <a:p>
            <a:pPr lvl="2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Критичность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Blocker, Critical, Major).</a:t>
            </a:r>
          </a:p>
          <a:p>
            <a:pPr lvl="2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Тип уязвимости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 Injection).</a:t>
            </a:r>
          </a:p>
          <a:p>
            <a:pPr lvl="2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Описание проблемы и рекомендации по исправлению.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(Слайд 11: Демо: Отчет SAST)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Преподаватель: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"Посмотрите на этот отчет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Semgrep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Видите — он нашел SQL-инъекцию в файле UserController.java на строке 42."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"Он показывает: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Критичность: HIGH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это не предупреждение, а серьезная проблема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Правило: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java.sql-injection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он знает, что это именно SQL-инъекция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Рекомендация: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использовать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prepared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statements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самое главное — он показывает точный путь данных: от параметра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username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до выполнения запроса."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2DF1BE5-8512-4BE0-BE58-CF0173088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78540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11: Демо: Отчет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SAST.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Скриншот отчета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SonarQube/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Semgrep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Показывает:</a:t>
            </a:r>
          </a:p>
          <a:p>
            <a:pPr lvl="2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Место в коде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(файл, строка).</a:t>
            </a:r>
          </a:p>
          <a:p>
            <a:pPr lvl="2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Критичность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Blocker, Critical, Major).</a:t>
            </a:r>
          </a:p>
          <a:p>
            <a:pPr lvl="2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Тип уязвимости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 Injection).</a:t>
            </a:r>
          </a:p>
          <a:p>
            <a:pPr lvl="2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Описание проблемы и рекомендации по исправлению.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(Слайд 11: Демо: Отчет SAST)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Преподаватель: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"Посмотрите на этот отчет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Semgrep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Видите — он нашел SQL-инъекцию в файле UserController.java на строке 42."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"Он показывает: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Критичность: HIGH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это не предупреждение, а серьезная проблема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Правило: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java.sql-injection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он знает, что это именно SQL-инъекция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Рекомендация: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использовать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prepared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statements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самое главное — он показывает точный путь данных: от параметра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username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до выполнения запроса."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36116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62485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94825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64895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D6C62-116B-40A7-9507-00F90D282241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99006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D6C62-116B-40A7-9507-00F90D282241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906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6C8B72AB-2D06-4F13-9CBC-2F69B54E9758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074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826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4481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158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7578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709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0629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8066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8831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9066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961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1796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56524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33834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17469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1343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189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C8B72AB-2D06-4F13-9CBC-2F69B54E9758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5388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19FB43-E929-7026-48B6-A5D4E4D5FF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Практики анализа безопасности кода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67E1918-33A7-2CA1-F622-1608BEDC20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Лекция №11</a:t>
            </a:r>
          </a:p>
          <a:p>
            <a:r>
              <a:rPr lang="ru-RU" dirty="0"/>
              <a:t>Дисциплин: Информационная безопасность</a:t>
            </a:r>
          </a:p>
          <a:p>
            <a:r>
              <a:rPr lang="ru-RU" dirty="0"/>
              <a:t>Преподаватель: Маркина Татьяна Анатольевна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7312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F937B-B25D-B375-D77F-3CDBF8142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1C70CD-C042-F00D-B427-92267AA5F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4000" dirty="0"/>
              <a:t>Найти и исправить уязвимость в коде до коммита — в 100 раз дешевле, чем после инцидента в продакшене.</a:t>
            </a:r>
          </a:p>
        </p:txBody>
      </p:sp>
    </p:spTree>
    <p:extLst>
      <p:ext uri="{BB962C8B-B14F-4D97-AF65-F5344CB8AC3E}">
        <p14:creationId xmlns:p14="http://schemas.microsoft.com/office/powerpoint/2010/main" val="3184862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3BF9BC-B890-86AE-113A-5E29270AC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не так с этим кодом?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49D721-84A8-D971-89DA-A0DBB0539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800" dirty="0" err="1"/>
              <a:t>python</a:t>
            </a:r>
            <a:endParaRPr lang="ru-RU" sz="2800" dirty="0"/>
          </a:p>
          <a:p>
            <a:pPr marL="0" indent="0" latinLnBrk="1">
              <a:buNone/>
            </a:pPr>
            <a:r>
              <a:rPr lang="ru-RU" sz="2800" dirty="0" err="1"/>
              <a:t>def</a:t>
            </a:r>
            <a:r>
              <a:rPr lang="ru-RU" sz="2800" dirty="0"/>
              <a:t> </a:t>
            </a:r>
            <a:r>
              <a:rPr lang="ru-RU" sz="2800" dirty="0" err="1"/>
              <a:t>login</a:t>
            </a:r>
            <a:r>
              <a:rPr lang="ru-RU" sz="2800" dirty="0"/>
              <a:t>(</a:t>
            </a:r>
            <a:r>
              <a:rPr lang="ru-RU" sz="2800" dirty="0" err="1"/>
              <a:t>username</a:t>
            </a:r>
            <a:r>
              <a:rPr lang="ru-RU" sz="2800" dirty="0"/>
              <a:t>, </a:t>
            </a:r>
            <a:r>
              <a:rPr lang="ru-RU" sz="2800" dirty="0" err="1"/>
              <a:t>password</a:t>
            </a:r>
            <a:r>
              <a:rPr lang="ru-RU" sz="2800" dirty="0"/>
              <a:t>):</a:t>
            </a:r>
          </a:p>
          <a:p>
            <a:pPr marL="0" indent="0" latinLnBrk="1">
              <a:buNone/>
            </a:pPr>
            <a:r>
              <a:rPr lang="ru-RU" sz="2800" dirty="0"/>
              <a:t>    </a:t>
            </a:r>
            <a:r>
              <a:rPr lang="ru-RU" sz="2800" dirty="0" err="1"/>
              <a:t>query</a:t>
            </a:r>
            <a:r>
              <a:rPr lang="ru-RU" sz="2800" dirty="0"/>
              <a:t> = </a:t>
            </a:r>
            <a:r>
              <a:rPr lang="ru-RU" sz="2800" dirty="0" err="1"/>
              <a:t>f"SELECT</a:t>
            </a:r>
            <a:r>
              <a:rPr lang="ru-RU" sz="2800" dirty="0"/>
              <a:t> * FROM </a:t>
            </a:r>
            <a:r>
              <a:rPr lang="ru-RU" sz="2800" dirty="0" err="1"/>
              <a:t>users</a:t>
            </a:r>
            <a:r>
              <a:rPr lang="ru-RU" sz="2800" dirty="0"/>
              <a:t> WHERE </a:t>
            </a:r>
            <a:r>
              <a:rPr lang="ru-RU" sz="2800" dirty="0" err="1"/>
              <a:t>username</a:t>
            </a:r>
            <a:r>
              <a:rPr lang="ru-RU" sz="2800" dirty="0"/>
              <a:t>='{</a:t>
            </a:r>
            <a:r>
              <a:rPr lang="ru-RU" sz="2800" dirty="0" err="1"/>
              <a:t>username</a:t>
            </a:r>
            <a:r>
              <a:rPr lang="ru-RU" sz="2800" dirty="0"/>
              <a:t>}' AND </a:t>
            </a:r>
            <a:r>
              <a:rPr lang="ru-RU" sz="2800" dirty="0" err="1"/>
              <a:t>password</a:t>
            </a:r>
            <a:r>
              <a:rPr lang="ru-RU" sz="2800" dirty="0"/>
              <a:t>='{</a:t>
            </a:r>
            <a:r>
              <a:rPr lang="ru-RU" sz="2800" dirty="0" err="1"/>
              <a:t>password</a:t>
            </a:r>
            <a:r>
              <a:rPr lang="ru-RU" sz="2800" dirty="0"/>
              <a:t>}'"</a:t>
            </a:r>
          </a:p>
          <a:p>
            <a:pPr marL="0" indent="0" latinLnBrk="1">
              <a:buNone/>
            </a:pPr>
            <a:r>
              <a:rPr lang="ru-RU" sz="2800" dirty="0"/>
              <a:t>    </a:t>
            </a:r>
            <a:r>
              <a:rPr lang="ru-RU" sz="2800" i="1" dirty="0"/>
              <a:t># Выполнить запрос и вернуть результат</a:t>
            </a:r>
            <a:endParaRPr lang="ru-RU" sz="28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9080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1EC068-2CA0-23C6-2B62-11468352A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План лекции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6812A4-C51E-81E3-383C-21AECF946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800" b="1" dirty="0" err="1"/>
              <a:t>Linters</a:t>
            </a:r>
            <a:r>
              <a:rPr lang="ru-RU" sz="2800" b="1" dirty="0"/>
              <a:t>:</a:t>
            </a:r>
            <a:r>
              <a:rPr lang="ru-RU" sz="2800" dirty="0"/>
              <a:t> "Первая линия обороны" (Автоматический стиль и очевидные ошибки)</a:t>
            </a:r>
          </a:p>
          <a:p>
            <a:r>
              <a:rPr lang="ru-RU" sz="2800" b="1" dirty="0"/>
              <a:t>SAST:</a:t>
            </a:r>
            <a:r>
              <a:rPr lang="ru-RU" sz="2800" dirty="0"/>
              <a:t> "Статический анализ" (Глубокий поиск уязвимостей в исходном коде)</a:t>
            </a:r>
          </a:p>
          <a:p>
            <a:r>
              <a:rPr lang="ru-RU" sz="2800" b="1" dirty="0"/>
              <a:t>Code Review:</a:t>
            </a:r>
            <a:r>
              <a:rPr lang="ru-RU" sz="2800" dirty="0"/>
              <a:t> "Экспертный взгляд" (Поиск логических уязвимостей и сложных паттернов)</a:t>
            </a:r>
          </a:p>
          <a:p>
            <a:r>
              <a:rPr lang="ru-RU" sz="2800" b="1" dirty="0"/>
              <a:t>CI/CD:</a:t>
            </a:r>
            <a:r>
              <a:rPr lang="ru-RU" sz="2800" dirty="0"/>
              <a:t> "Интеграция в процесс" (Сборка всего вместе)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BA4836-A86E-2AE5-DDBE-0151B2F44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95ED7-0083-41B9-9551-3BBAE914DC5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389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5FBE35-9711-7EC5-70CF-14A875047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линтеры?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B7E6F3-357B-E087-AB8D-9835572CA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sz="2400" b="1" dirty="0"/>
              <a:t>Аналогия:</a:t>
            </a:r>
            <a:r>
              <a:rPr lang="ru-RU" sz="2400" dirty="0"/>
              <a:t> "Орфографическая и грамматическая проверка для вашего кода."</a:t>
            </a:r>
          </a:p>
          <a:p>
            <a:pPr marL="0" indent="0">
              <a:buNone/>
            </a:pPr>
            <a:r>
              <a:rPr lang="ru-RU" sz="2400" dirty="0"/>
              <a:t>✅ Стиль кода, </a:t>
            </a:r>
          </a:p>
          <a:p>
            <a:pPr marL="0" indent="0">
              <a:buNone/>
            </a:pPr>
            <a:r>
              <a:rPr lang="ru-RU" sz="2400" dirty="0"/>
              <a:t>✅ Потенциальные баги, </a:t>
            </a:r>
          </a:p>
          <a:p>
            <a:pPr marL="0" indent="0">
              <a:buNone/>
            </a:pPr>
            <a:r>
              <a:rPr lang="ru-RU" sz="2400" dirty="0"/>
              <a:t>✅ </a:t>
            </a:r>
            <a:r>
              <a:rPr lang="en-US" sz="2400" dirty="0"/>
              <a:t>Code Smells, </a:t>
            </a:r>
            <a:endParaRPr lang="ru-RU" sz="2400" dirty="0"/>
          </a:p>
          <a:p>
            <a:pPr marL="0" indent="0">
              <a:buNone/>
            </a:pPr>
            <a:r>
              <a:rPr lang="ru-RU" sz="2400" dirty="0"/>
              <a:t>✅ </a:t>
            </a:r>
            <a:r>
              <a:rPr lang="ru-RU" sz="2400" b="1" dirty="0"/>
              <a:t>Простые уязвимости безопасности</a:t>
            </a:r>
            <a:r>
              <a:rPr lang="ru-RU" sz="2400" dirty="0"/>
              <a:t>.</a:t>
            </a:r>
          </a:p>
          <a:p>
            <a:r>
              <a:rPr lang="ru-RU" sz="2400" b="1" dirty="0"/>
              <a:t>Примеры инструментов:</a:t>
            </a:r>
            <a:r>
              <a:rPr lang="ru-RU" sz="2400" dirty="0"/>
              <a:t> </a:t>
            </a:r>
            <a:r>
              <a:rPr lang="en-US" sz="2400" dirty="0" err="1"/>
              <a:t>ESLint</a:t>
            </a:r>
            <a:r>
              <a:rPr lang="en-US" sz="2400" dirty="0"/>
              <a:t> (JS/TS), </a:t>
            </a:r>
            <a:r>
              <a:rPr lang="en-US" sz="2400" dirty="0" err="1"/>
              <a:t>Pylint</a:t>
            </a:r>
            <a:r>
              <a:rPr lang="en-US" sz="2400" dirty="0"/>
              <a:t> (Python), </a:t>
            </a:r>
            <a:r>
              <a:rPr lang="en-US" sz="2400" dirty="0" err="1"/>
              <a:t>Checkstyle</a:t>
            </a:r>
            <a:r>
              <a:rPr lang="en-US" sz="2400" dirty="0"/>
              <a:t> (Java), </a:t>
            </a:r>
            <a:r>
              <a:rPr lang="en-US" sz="2400" dirty="0" err="1"/>
              <a:t>RuboCop</a:t>
            </a:r>
            <a:r>
              <a:rPr lang="en-US" sz="2400" dirty="0"/>
              <a:t> (Ruby).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859762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6B45A6-09B1-7276-AB54-6AB848145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Linters</a:t>
            </a:r>
            <a:r>
              <a:rPr lang="ru-RU" dirty="0"/>
              <a:t> в действии (сравнение "До/После")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CE2DB1FB-D74F-35A1-CB60-51507E1903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0375472"/>
              </p:ext>
            </p:extLst>
          </p:nvPr>
        </p:nvGraphicFramePr>
        <p:xfrm>
          <a:off x="685800" y="2141538"/>
          <a:ext cx="10131424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5712">
                  <a:extLst>
                    <a:ext uri="{9D8B030D-6E8A-4147-A177-3AD203B41FA5}">
                      <a16:colId xmlns:a16="http://schemas.microsoft.com/office/drawing/2014/main" val="2228529074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1120389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Плохо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Хорошо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958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/>
                        <a:t>javascript</a:t>
                      </a:r>
                      <a:endParaRPr lang="en-US" sz="2400" dirty="0"/>
                    </a:p>
                    <a:p>
                      <a:r>
                        <a:rPr lang="en-US" sz="2400" dirty="0"/>
                        <a:t>// </a:t>
                      </a:r>
                      <a:r>
                        <a:rPr lang="ru-RU" sz="2400" dirty="0"/>
                        <a:t>Использование </a:t>
                      </a:r>
                      <a:r>
                        <a:rPr lang="en-US" sz="2400" dirty="0"/>
                        <a:t>eval - </a:t>
                      </a:r>
                      <a:r>
                        <a:rPr lang="ru-RU" sz="2400" dirty="0"/>
                        <a:t>опасно!</a:t>
                      </a:r>
                    </a:p>
                    <a:p>
                      <a:r>
                        <a:rPr lang="en-US" sz="2400" dirty="0"/>
                        <a:t>var result = eval(</a:t>
                      </a:r>
                      <a:r>
                        <a:rPr lang="en-US" sz="2400" dirty="0" err="1"/>
                        <a:t>userInput</a:t>
                      </a:r>
                      <a:r>
                        <a:rPr lang="en-US" sz="2400" dirty="0"/>
                        <a:t>);</a:t>
                      </a:r>
                    </a:p>
                    <a:p>
                      <a:r>
                        <a:rPr lang="en-US" sz="2400" dirty="0"/>
                        <a:t>// </a:t>
                      </a:r>
                      <a:r>
                        <a:rPr lang="ru-RU" sz="2400" dirty="0"/>
                        <a:t>Неиспользуемая переменная</a:t>
                      </a:r>
                    </a:p>
                    <a:p>
                      <a:r>
                        <a:rPr lang="en-US" sz="2400" dirty="0"/>
                        <a:t>var </a:t>
                      </a:r>
                      <a:r>
                        <a:rPr lang="en-US" sz="2400" dirty="0" err="1"/>
                        <a:t>secretKey</a:t>
                      </a:r>
                      <a:r>
                        <a:rPr lang="en-US" sz="2400" dirty="0"/>
                        <a:t> = "12345";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javascript</a:t>
                      </a:r>
                      <a:endParaRPr lang="en-US" sz="2400" dirty="0"/>
                    </a:p>
                    <a:p>
                      <a:r>
                        <a:rPr lang="en-US" sz="2400" dirty="0"/>
                        <a:t>// </a:t>
                      </a:r>
                      <a:r>
                        <a:rPr lang="en-US" sz="2400" dirty="0" err="1"/>
                        <a:t>ESLint</a:t>
                      </a:r>
                      <a:r>
                        <a:rPr lang="en-US" sz="2400" dirty="0"/>
                        <a:t> </a:t>
                      </a:r>
                      <a:r>
                        <a:rPr lang="ru-RU" sz="2400" dirty="0"/>
                        <a:t>подсветит ошибку и предложит фикс</a:t>
                      </a:r>
                    </a:p>
                    <a:p>
                      <a:r>
                        <a:rPr lang="ru-RU" sz="2400" dirty="0"/>
                        <a:t>// </a:t>
                      </a:r>
                      <a:r>
                        <a:rPr lang="en-US" sz="2400" dirty="0"/>
                        <a:t>var result = eval(</a:t>
                      </a:r>
                      <a:r>
                        <a:rPr lang="en-US" sz="2400" dirty="0" err="1"/>
                        <a:t>userInput</a:t>
                      </a:r>
                      <a:r>
                        <a:rPr lang="en-US" sz="2400" dirty="0"/>
                        <a:t>); </a:t>
                      </a:r>
                      <a:endParaRPr lang="ru-RU" sz="2400" dirty="0"/>
                    </a:p>
                    <a:p>
                      <a:r>
                        <a:rPr lang="en-US" sz="2400" dirty="0"/>
                        <a:t>// </a:t>
                      </a:r>
                      <a:r>
                        <a:rPr lang="ru-RU" sz="2400" dirty="0"/>
                        <a:t>Ошибка: Запрещено использовать </a:t>
                      </a:r>
                      <a:r>
                        <a:rPr lang="en-US" sz="2400" dirty="0"/>
                        <a:t>eval</a:t>
                      </a:r>
                    </a:p>
                    <a:p>
                      <a:r>
                        <a:rPr lang="en-US" sz="2400" dirty="0"/>
                        <a:t>const </a:t>
                      </a:r>
                      <a:r>
                        <a:rPr lang="en-US" sz="2400" dirty="0" err="1"/>
                        <a:t>secretKey</a:t>
                      </a:r>
                      <a:r>
                        <a:rPr lang="en-US" sz="2400" dirty="0"/>
                        <a:t> = "12345"; </a:t>
                      </a:r>
                      <a:endParaRPr lang="ru-RU" sz="2400" dirty="0"/>
                    </a:p>
                    <a:p>
                      <a:r>
                        <a:rPr lang="en-US" sz="2400" dirty="0"/>
                        <a:t>// </a:t>
                      </a:r>
                      <a:r>
                        <a:rPr lang="ru-RU" sz="2400" dirty="0"/>
                        <a:t>Предупреждение: '</a:t>
                      </a:r>
                      <a:r>
                        <a:rPr lang="en-US" sz="2400" dirty="0" err="1"/>
                        <a:t>secretKey</a:t>
                      </a:r>
                      <a:r>
                        <a:rPr lang="en-US" sz="2400" dirty="0"/>
                        <a:t>' </a:t>
                      </a:r>
                      <a:r>
                        <a:rPr lang="ru-RU" sz="2400" dirty="0"/>
                        <a:t>объявлена, но не используется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544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6664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EC66A-1EE2-E38B-A4FA-90E4595D3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D703A4-1C3E-E05B-ACAA-DF461DC76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Security-specific </a:t>
            </a:r>
            <a:r>
              <a:rPr lang="ru-RU" dirty="0"/>
              <a:t>линтеры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51FEC1-5007-8F61-4E28-94F891E04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Bandit (Python):</a:t>
            </a:r>
            <a:r>
              <a:rPr lang="en-US" sz="2400" dirty="0"/>
              <a:t> </a:t>
            </a:r>
            <a:r>
              <a:rPr lang="ru-RU" sz="2400" dirty="0"/>
              <a:t>Сканирует код </a:t>
            </a:r>
            <a:r>
              <a:rPr lang="en-US" sz="2400" dirty="0"/>
              <a:t>Python </a:t>
            </a:r>
            <a:r>
              <a:rPr lang="ru-RU" sz="2400" dirty="0"/>
              <a:t>на наличие распространенных уязвимостей.</a:t>
            </a:r>
          </a:p>
          <a:p>
            <a:pPr marL="0" indent="0">
              <a:buNone/>
            </a:pPr>
            <a:r>
              <a:rPr lang="ru-RU" sz="2400" b="1" dirty="0"/>
              <a:t>Код примера:</a:t>
            </a:r>
            <a:endParaRPr lang="ru-RU" sz="2400" dirty="0"/>
          </a:p>
          <a:p>
            <a:pPr marL="0" indent="0">
              <a:buNone/>
            </a:pPr>
            <a:r>
              <a:rPr lang="en-US" sz="2400" dirty="0"/>
              <a:t>python</a:t>
            </a:r>
          </a:p>
          <a:p>
            <a:pPr marL="0" indent="0" latinLnBrk="1">
              <a:buNone/>
            </a:pPr>
            <a:r>
              <a:rPr lang="en-US" sz="2400" i="1" dirty="0"/>
              <a:t># Bandit </a:t>
            </a:r>
            <a:r>
              <a:rPr lang="ru-RU" sz="2400" i="1" dirty="0"/>
              <a:t>выдаст предупреждение: [</a:t>
            </a:r>
            <a:r>
              <a:rPr lang="en-US" sz="2400" i="1" dirty="0"/>
              <a:t>B601:request_with_no_cert_validation]</a:t>
            </a:r>
            <a:endParaRPr lang="en-US" sz="2400" dirty="0"/>
          </a:p>
          <a:p>
            <a:pPr marL="0" indent="0" latinLnBrk="1">
              <a:buNone/>
            </a:pPr>
            <a:r>
              <a:rPr lang="en-US" sz="2400" dirty="0"/>
              <a:t>import requests</a:t>
            </a:r>
          </a:p>
          <a:p>
            <a:pPr marL="0" indent="0" latinLnBrk="1">
              <a:buNone/>
            </a:pPr>
            <a:r>
              <a:rPr lang="en-US" sz="2400" dirty="0" err="1"/>
              <a:t>requests.get</a:t>
            </a:r>
            <a:r>
              <a:rPr lang="en-US" sz="2400" dirty="0"/>
              <a:t>('https://bank.com/</a:t>
            </a:r>
            <a:r>
              <a:rPr lang="en-US" sz="2400" dirty="0" err="1"/>
              <a:t>api</a:t>
            </a:r>
            <a:r>
              <a:rPr lang="en-US" sz="2400" dirty="0"/>
              <a:t>', verify=False)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6434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64324-099F-9738-B98A-A959B5D53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584495-1783-61A8-F1B2-8747B1F7B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SAST?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EE6A60-DF9B-5CD2-6B2D-7FC8B02B3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3600" b="1" dirty="0"/>
              <a:t>Определение:</a:t>
            </a:r>
            <a:r>
              <a:rPr lang="ru-RU" sz="3600" dirty="0"/>
              <a:t> "</a:t>
            </a:r>
            <a:r>
              <a:rPr lang="en-US" sz="3600" dirty="0"/>
              <a:t>Static Application Security Testing — </a:t>
            </a:r>
            <a:r>
              <a:rPr lang="ru-RU" sz="3600" dirty="0"/>
              <a:t>анализ исходного кода БЕЗ его выполнения."</a:t>
            </a:r>
          </a:p>
          <a:p>
            <a:r>
              <a:rPr lang="ru-RU" sz="3600" b="1" dirty="0"/>
              <a:t>Как работает:</a:t>
            </a:r>
            <a:r>
              <a:rPr lang="ru-RU" sz="3600" dirty="0"/>
              <a:t> Абстрактные синтаксические деревья (</a:t>
            </a:r>
            <a:r>
              <a:rPr lang="en-US" sz="3600" dirty="0"/>
              <a:t>AST) + </a:t>
            </a:r>
            <a:r>
              <a:rPr lang="ru-RU" sz="3600" dirty="0"/>
              <a:t>Анализ потоков данных (</a:t>
            </a:r>
            <a:r>
              <a:rPr lang="en-US" sz="3600" dirty="0"/>
              <a:t>Data Flow Analysis).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0517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5EDF0-8CFF-7489-D826-4A7BB0A3E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34B9A4-66B6-1EB0-A159-E6444FAC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находит </a:t>
            </a:r>
            <a:r>
              <a:rPr lang="en-US" dirty="0"/>
              <a:t>SAST?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600B89-E06C-013F-1CA1-8DC19C7B8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3200" b="1" dirty="0"/>
              <a:t>Инъекции:</a:t>
            </a:r>
            <a:r>
              <a:rPr lang="ru-RU" sz="3200" dirty="0"/>
              <a:t> </a:t>
            </a:r>
            <a:r>
              <a:rPr lang="en-US" sz="3200" dirty="0"/>
              <a:t>SQL, NoSQL, Command Injection.</a:t>
            </a:r>
          </a:p>
          <a:p>
            <a:r>
              <a:rPr lang="en-US" sz="3200" b="1" dirty="0"/>
              <a:t>XSS (</a:t>
            </a:r>
            <a:r>
              <a:rPr lang="ru-RU" sz="3200" b="1" dirty="0"/>
              <a:t>Межсайтовый </a:t>
            </a:r>
            <a:r>
              <a:rPr lang="ru-RU" sz="3200" b="1" dirty="0" err="1"/>
              <a:t>скриптинг</a:t>
            </a:r>
            <a:r>
              <a:rPr lang="ru-RU" sz="3200" b="1" dirty="0"/>
              <a:t>).</a:t>
            </a:r>
            <a:endParaRPr lang="ru-RU" sz="3200" dirty="0"/>
          </a:p>
          <a:p>
            <a:r>
              <a:rPr lang="ru-RU" sz="3200" b="1" dirty="0"/>
              <a:t>Уязвимости управления доступом.</a:t>
            </a:r>
            <a:endParaRPr lang="ru-RU" sz="3200" dirty="0"/>
          </a:p>
          <a:p>
            <a:r>
              <a:rPr lang="ru-RU" sz="3200" b="1" dirty="0"/>
              <a:t>Работа с секретами (</a:t>
            </a:r>
            <a:r>
              <a:rPr lang="ru-RU" sz="3200" b="1" dirty="0" err="1"/>
              <a:t>хардкод</a:t>
            </a:r>
            <a:r>
              <a:rPr lang="ru-RU" sz="3200" b="1" dirty="0"/>
              <a:t>).</a:t>
            </a:r>
            <a:endParaRPr lang="ru-RU" sz="3200" dirty="0"/>
          </a:p>
          <a:p>
            <a:r>
              <a:rPr lang="ru-RU" sz="3200" b="1" dirty="0"/>
              <a:t>Утечки памяти (</a:t>
            </a:r>
            <a:r>
              <a:rPr lang="en-US" sz="3200" b="1" dirty="0"/>
              <a:t>C/C++).</a:t>
            </a:r>
            <a:endParaRPr lang="en-US" sz="32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7019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6E21B-0C94-E1DD-C90D-EC7B3838D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8FA8BC-E5D8-E680-21FC-302E4B624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Инструменты </a:t>
            </a:r>
            <a:r>
              <a:rPr lang="en-US" dirty="0"/>
              <a:t>SAST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C9B403-32C4-5CF6-4145-8C04DE9C2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3200" b="1" dirty="0"/>
              <a:t>Корпоративные (проприетарные):</a:t>
            </a:r>
            <a:r>
              <a:rPr lang="ru-RU" sz="3200" dirty="0"/>
              <a:t> </a:t>
            </a:r>
            <a:r>
              <a:rPr lang="en-US" sz="3200" dirty="0"/>
              <a:t>SonarQube, </a:t>
            </a:r>
            <a:r>
              <a:rPr lang="en-US" sz="3200" dirty="0" err="1"/>
              <a:t>Checkmarx</a:t>
            </a:r>
            <a:r>
              <a:rPr lang="en-US" sz="3200" dirty="0"/>
              <a:t>, Veracode.</a:t>
            </a:r>
          </a:p>
          <a:p>
            <a:r>
              <a:rPr lang="en-US" sz="3200" b="1" dirty="0"/>
              <a:t>Open-Source:</a:t>
            </a:r>
            <a:r>
              <a:rPr lang="en-US" sz="3200" dirty="0"/>
              <a:t> </a:t>
            </a:r>
            <a:r>
              <a:rPr lang="en-US" sz="3200" dirty="0" err="1"/>
              <a:t>Semgrep</a:t>
            </a:r>
            <a:r>
              <a:rPr lang="en-US" sz="3200" dirty="0"/>
              <a:t>, Bandit (Python), </a:t>
            </a:r>
            <a:r>
              <a:rPr lang="en-US" sz="3200" dirty="0" err="1"/>
              <a:t>FindSecBugs</a:t>
            </a:r>
            <a:r>
              <a:rPr lang="en-US" sz="3200" dirty="0"/>
              <a:t> (Java).</a:t>
            </a:r>
          </a:p>
          <a:p>
            <a:r>
              <a:rPr lang="ru-RU" sz="3200" b="1" dirty="0"/>
              <a:t>Встроенные в </a:t>
            </a:r>
            <a:r>
              <a:rPr lang="en-US" sz="3200" b="1" dirty="0"/>
              <a:t>IDE:</a:t>
            </a:r>
            <a:r>
              <a:rPr lang="en-US" sz="3200" dirty="0"/>
              <a:t> </a:t>
            </a:r>
            <a:r>
              <a:rPr lang="ru-RU" sz="3200" dirty="0"/>
              <a:t>Плагины для </a:t>
            </a:r>
            <a:r>
              <a:rPr lang="en-US" sz="3200" dirty="0"/>
              <a:t>VS Code, IntelliJ IDEA.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6996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BF2BBC-A39B-6F32-FD70-3CBD20FBE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DAST?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F39EC6-B608-FDB6-44A2-40E29693A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3200" b="1" dirty="0"/>
              <a:t>Определение:</a:t>
            </a:r>
            <a:r>
              <a:rPr lang="ru-RU" sz="3200" dirty="0"/>
              <a:t> Анализ безопасности работающего приложения методом 'черного ящика'</a:t>
            </a:r>
          </a:p>
          <a:p>
            <a:r>
              <a:rPr lang="ru-RU" sz="3200" b="1" dirty="0"/>
              <a:t>Ключевая особенность:</a:t>
            </a:r>
            <a:r>
              <a:rPr lang="ru-RU" sz="3200" dirty="0"/>
              <a:t> Не требует доступа к исходному коду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9819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A5351B-9BF7-4A05-E98D-DCC66A08D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работает </a:t>
            </a:r>
            <a:r>
              <a:rPr lang="en-US" dirty="0"/>
              <a:t>DAST?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73A256-44FA-B68A-657B-E4BFEB43F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800" b="1" dirty="0"/>
              <a:t>Процесс:</a:t>
            </a:r>
            <a:endParaRPr lang="ru-RU" sz="2800" dirty="0"/>
          </a:p>
          <a:p>
            <a:pPr lvl="1"/>
            <a:r>
              <a:rPr lang="ru-RU" sz="2800" dirty="0"/>
              <a:t>Сканер отправляет различные запросы к приложению</a:t>
            </a:r>
          </a:p>
          <a:p>
            <a:pPr lvl="1"/>
            <a:r>
              <a:rPr lang="ru-RU" sz="2800" dirty="0"/>
              <a:t>Анализирует ответы на наличие уязвимостей</a:t>
            </a:r>
          </a:p>
          <a:p>
            <a:pPr lvl="1"/>
            <a:r>
              <a:rPr lang="ru-RU" sz="2800" dirty="0"/>
              <a:t>Составляет карту приложения и точек ввода</a:t>
            </a:r>
          </a:p>
          <a:p>
            <a:pPr lvl="1"/>
            <a:r>
              <a:rPr lang="ru-RU" sz="2800" dirty="0"/>
              <a:t>Тестирует параметры, заголовки, </a:t>
            </a:r>
            <a:r>
              <a:rPr lang="ru-RU" sz="2800" dirty="0" err="1"/>
              <a:t>cookies</a:t>
            </a:r>
            <a:r>
              <a:rPr lang="ru-RU" sz="2800" dirty="0"/>
              <a:t>, формы</a:t>
            </a:r>
          </a:p>
          <a:p>
            <a:r>
              <a:rPr lang="ru-RU" sz="2800" b="1" dirty="0"/>
              <a:t>Методы:</a:t>
            </a:r>
            <a:r>
              <a:rPr lang="ru-RU" sz="2800" dirty="0"/>
              <a:t> </a:t>
            </a:r>
            <a:r>
              <a:rPr lang="ru-RU" sz="2800" dirty="0" err="1"/>
              <a:t>Fuzzing</a:t>
            </a:r>
            <a:r>
              <a:rPr lang="ru-RU" sz="2800" dirty="0"/>
              <a:t>, SQL-инъекции, XSS, </a:t>
            </a:r>
            <a:r>
              <a:rPr lang="ru-RU" sz="2800" dirty="0" err="1"/>
              <a:t>Path</a:t>
            </a:r>
            <a:r>
              <a:rPr lang="ru-RU" sz="2800" dirty="0"/>
              <a:t> </a:t>
            </a:r>
            <a:r>
              <a:rPr lang="ru-RU" sz="2800" dirty="0" err="1"/>
              <a:t>Traversal</a:t>
            </a:r>
            <a:endParaRPr lang="ru-RU" sz="28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233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5A338C-B0AD-3E9D-3E32-3574C1DB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находит </a:t>
            </a:r>
            <a:r>
              <a:rPr lang="en-US" dirty="0"/>
              <a:t>DAST?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9B8231-CB9B-9819-C960-9742FC615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800" b="1" dirty="0"/>
              <a:t>Уязвимости сервера:</a:t>
            </a:r>
            <a:r>
              <a:rPr lang="ru-RU" sz="2800" dirty="0"/>
              <a:t> SQL </a:t>
            </a:r>
            <a:r>
              <a:rPr lang="ru-RU" sz="2800" dirty="0" err="1"/>
              <a:t>Injection</a:t>
            </a:r>
            <a:r>
              <a:rPr lang="ru-RU" sz="2800" dirty="0"/>
              <a:t>, XSS, CSRF, XXE</a:t>
            </a:r>
          </a:p>
          <a:p>
            <a:r>
              <a:rPr lang="ru-RU" sz="2800" b="1" dirty="0"/>
              <a:t>Проблемы конфигурации:</a:t>
            </a:r>
            <a:r>
              <a:rPr lang="ru-RU" sz="2800" dirty="0"/>
              <a:t> Небезопасные заголовки, ошибки сервера</a:t>
            </a:r>
          </a:p>
          <a:p>
            <a:r>
              <a:rPr lang="ru-RU" sz="2800" b="1" dirty="0"/>
              <a:t>Аутентификация и сессии:</a:t>
            </a:r>
            <a:r>
              <a:rPr lang="ru-RU" sz="2800" dirty="0"/>
              <a:t> Слабые </a:t>
            </a:r>
            <a:r>
              <a:rPr lang="ru-RU" sz="2800" dirty="0" err="1"/>
              <a:t>cookies</a:t>
            </a:r>
            <a:r>
              <a:rPr lang="ru-RU" sz="2800" dirty="0"/>
              <a:t>, сессионные проблемы</a:t>
            </a:r>
          </a:p>
          <a:p>
            <a:r>
              <a:rPr lang="ru-RU" sz="2800" b="1" dirty="0"/>
              <a:t>Бизнес-логика:</a:t>
            </a:r>
            <a:r>
              <a:rPr lang="ru-RU" sz="2800" dirty="0"/>
              <a:t> Недостатки, которые видны только в работающем приложении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5454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86B08B-7BE6-BAD0-E738-B0CE1A204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Инструменты </a:t>
            </a:r>
            <a:r>
              <a:rPr lang="en-US" dirty="0"/>
              <a:t>DAST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E389D3-E0B5-3645-4547-0D1F04FD0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3200" b="1" dirty="0"/>
              <a:t>Проприетарные:</a:t>
            </a:r>
            <a:r>
              <a:rPr lang="ru-RU" sz="3200" dirty="0"/>
              <a:t> </a:t>
            </a:r>
            <a:r>
              <a:rPr lang="en-US" sz="3200" dirty="0"/>
              <a:t>Burp Suite Professional, </a:t>
            </a:r>
            <a:r>
              <a:rPr lang="en-US" sz="3200" dirty="0" err="1"/>
              <a:t>Acunetix</a:t>
            </a:r>
            <a:r>
              <a:rPr lang="en-US" sz="3200" dirty="0"/>
              <a:t>, Nessus</a:t>
            </a:r>
          </a:p>
          <a:p>
            <a:r>
              <a:rPr lang="en-US" sz="3200" b="1" dirty="0"/>
              <a:t>Open-Source:</a:t>
            </a:r>
            <a:r>
              <a:rPr lang="en-US" sz="3200" dirty="0"/>
              <a:t> OWASP ZAP, </a:t>
            </a:r>
            <a:r>
              <a:rPr lang="en-US" sz="3200" dirty="0" err="1"/>
              <a:t>Nikto</a:t>
            </a:r>
            <a:r>
              <a:rPr lang="en-US" sz="3200" dirty="0"/>
              <a:t>, </a:t>
            </a:r>
            <a:r>
              <a:rPr lang="en-US" sz="3200" dirty="0" err="1"/>
              <a:t>Wfuzz</a:t>
            </a:r>
            <a:endParaRPr lang="en-US" sz="3200" dirty="0"/>
          </a:p>
          <a:p>
            <a:r>
              <a:rPr lang="ru-RU" sz="3200" b="1" dirty="0"/>
              <a:t>Облачные:</a:t>
            </a:r>
            <a:r>
              <a:rPr lang="ru-RU" sz="3200" dirty="0"/>
              <a:t> </a:t>
            </a:r>
            <a:r>
              <a:rPr lang="en-US" sz="3200" dirty="0" err="1"/>
              <a:t>Detectify</a:t>
            </a:r>
            <a:r>
              <a:rPr lang="en-US" sz="3200" dirty="0"/>
              <a:t>, Intruder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67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459DEA-8181-40AF-4580-03CCC2DDB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Демо: OWASP ZAP в действии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2BEF40-B065-9591-F8D9-7026B5DDD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1819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F5D38-15D8-C385-D5B9-71381A5C9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BADE37-0882-9040-29EF-A3F1EE516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</a:t>
            </a:r>
            <a:r>
              <a:rPr lang="en-US" dirty="0"/>
              <a:t>Code Review?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82C77F-1D7D-EB7F-1D47-15833E379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4000" dirty="0"/>
              <a:t>SAST не найдет все. Логические уязвимости и проблемы бизнес-уровня видит только человек.</a:t>
            </a:r>
          </a:p>
        </p:txBody>
      </p:sp>
    </p:spTree>
    <p:extLst>
      <p:ext uri="{BB962C8B-B14F-4D97-AF65-F5344CB8AC3E}">
        <p14:creationId xmlns:p14="http://schemas.microsoft.com/office/powerpoint/2010/main" val="3018183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7F249-8D14-F382-BC6F-0CA46885A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D2B1D8-9E66-E19A-59B1-EA9FDA7EB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Чек-лист </a:t>
            </a:r>
            <a:r>
              <a:rPr lang="ru-RU" dirty="0" err="1"/>
              <a:t>ревьювера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B7EF37-BE4B-2A39-3D1E-B696CE87E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410633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sz="2600" dirty="0"/>
              <a:t>✅ </a:t>
            </a:r>
            <a:r>
              <a:rPr lang="ru-RU" sz="2600" b="1" dirty="0"/>
              <a:t>Валидация входных данных:</a:t>
            </a:r>
            <a:r>
              <a:rPr lang="ru-RU" sz="2600" dirty="0"/>
              <a:t> Все ли входные параметры проверяются?</a:t>
            </a:r>
          </a:p>
          <a:p>
            <a:pPr marL="0" indent="0">
              <a:buNone/>
            </a:pPr>
            <a:r>
              <a:rPr lang="ru-RU" sz="2600" dirty="0"/>
              <a:t>✅ </a:t>
            </a:r>
            <a:r>
              <a:rPr lang="ru-RU" sz="2600" b="1" dirty="0"/>
              <a:t>Аутентификация и авторизация:</a:t>
            </a:r>
            <a:r>
              <a:rPr lang="ru-RU" sz="2600" dirty="0"/>
              <a:t> Проверены ли права доступа для этой операции?</a:t>
            </a:r>
          </a:p>
          <a:p>
            <a:pPr marL="0" indent="0">
              <a:buNone/>
            </a:pPr>
            <a:r>
              <a:rPr lang="ru-RU" sz="2600" dirty="0"/>
              <a:t>✅ </a:t>
            </a:r>
            <a:r>
              <a:rPr lang="ru-RU" sz="2600" b="1" dirty="0"/>
              <a:t>Безопасная конфигурация:</a:t>
            </a:r>
            <a:r>
              <a:rPr lang="ru-RU" sz="2600" dirty="0"/>
              <a:t> Нет ли </a:t>
            </a:r>
            <a:r>
              <a:rPr lang="ru-RU" sz="2600" dirty="0" err="1"/>
              <a:t>хардкод</a:t>
            </a:r>
            <a:r>
              <a:rPr lang="ru-RU" sz="2600" dirty="0"/>
              <a:t>-секретов, слабых алгоритмов шифрования?</a:t>
            </a:r>
          </a:p>
          <a:p>
            <a:pPr marL="0" indent="0">
              <a:buNone/>
            </a:pPr>
            <a:r>
              <a:rPr lang="ru-RU" sz="2600" dirty="0"/>
              <a:t>✅ </a:t>
            </a:r>
            <a:r>
              <a:rPr lang="ru-RU" sz="2600" b="1" dirty="0"/>
              <a:t>Обработка ошибок:</a:t>
            </a:r>
            <a:r>
              <a:rPr lang="ru-RU" sz="2600" dirty="0"/>
              <a:t> Не раскрывается ли в ошибках чувствительная информация (</a:t>
            </a:r>
            <a:r>
              <a:rPr lang="ru-RU" sz="2600" dirty="0" err="1"/>
              <a:t>stack</a:t>
            </a:r>
            <a:r>
              <a:rPr lang="ru-RU" sz="2600" dirty="0"/>
              <a:t> </a:t>
            </a:r>
            <a:r>
              <a:rPr lang="ru-RU" sz="2600" dirty="0" err="1"/>
              <a:t>traces</a:t>
            </a:r>
            <a:r>
              <a:rPr lang="ru-RU" sz="2600" dirty="0"/>
              <a:t>, ключи)?</a:t>
            </a:r>
          </a:p>
          <a:p>
            <a:pPr marL="0" indent="0">
              <a:buNone/>
            </a:pPr>
            <a:r>
              <a:rPr lang="ru-RU" sz="2600" dirty="0"/>
              <a:t>✅ </a:t>
            </a:r>
            <a:r>
              <a:rPr lang="ru-RU" sz="2600" b="1" dirty="0"/>
              <a:t>Криптография:</a:t>
            </a:r>
            <a:r>
              <a:rPr lang="ru-RU" sz="2600" dirty="0"/>
              <a:t> Не используется ли самописная или устаревшая криптография?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3637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79CDE-FA3A-663A-3F2F-AAF7ACBFB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7D07BD-61C5-5776-B29C-4D8D4F457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для ревью: Уязвимый код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65E40A-E48C-5B70-B875-EF47B126C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lvl="1" indent="0">
              <a:buNone/>
            </a:pPr>
            <a:r>
              <a:rPr lang="en-US" sz="1100" dirty="0"/>
              <a:t>python</a:t>
            </a:r>
          </a:p>
          <a:p>
            <a:pPr marL="457200" lvl="1" indent="0" latinLnBrk="1">
              <a:buNone/>
            </a:pPr>
            <a:r>
              <a:rPr lang="en-US" sz="1100" dirty="0"/>
              <a:t>import </a:t>
            </a:r>
            <a:r>
              <a:rPr lang="en-US" sz="1100" dirty="0" err="1"/>
              <a:t>os</a:t>
            </a:r>
            <a:endParaRPr lang="en-US" sz="1100" dirty="0"/>
          </a:p>
          <a:p>
            <a:pPr marL="457200" lvl="1" indent="0" latinLnBrk="1">
              <a:buNone/>
            </a:pPr>
            <a:r>
              <a:rPr lang="en-US" sz="1100" dirty="0"/>
              <a:t>def </a:t>
            </a:r>
            <a:r>
              <a:rPr lang="en-US" sz="1100" dirty="0" err="1"/>
              <a:t>get_user_file</a:t>
            </a:r>
            <a:r>
              <a:rPr lang="en-US" sz="1100" dirty="0"/>
              <a:t>(username, filename):</a:t>
            </a:r>
          </a:p>
          <a:p>
            <a:pPr marL="457200" lvl="1" indent="0" latinLnBrk="1">
              <a:buNone/>
            </a:pPr>
            <a:r>
              <a:rPr lang="en-US" sz="1100" dirty="0"/>
              <a:t>    </a:t>
            </a:r>
            <a:r>
              <a:rPr lang="en-US" sz="1100" i="1" dirty="0"/>
              <a:t># </a:t>
            </a:r>
            <a:r>
              <a:rPr lang="ru-RU" sz="1100" i="1" dirty="0"/>
              <a:t>Проблема 1: </a:t>
            </a:r>
            <a:r>
              <a:rPr lang="en-US" sz="1100" i="1" dirty="0"/>
              <a:t>Path Traversal</a:t>
            </a:r>
            <a:endParaRPr lang="en-US" sz="1100" dirty="0"/>
          </a:p>
          <a:p>
            <a:pPr marL="457200" lvl="1" indent="0" latinLnBrk="1">
              <a:buNone/>
            </a:pPr>
            <a:r>
              <a:rPr lang="en-US" sz="1100" dirty="0"/>
              <a:t>    </a:t>
            </a:r>
            <a:r>
              <a:rPr lang="en-US" sz="1100" dirty="0" err="1"/>
              <a:t>filepath</a:t>
            </a:r>
            <a:r>
              <a:rPr lang="en-US" sz="1100" dirty="0"/>
              <a:t> = f"/home/{username}/files/{filename}"</a:t>
            </a:r>
          </a:p>
          <a:p>
            <a:pPr marL="457200" lvl="1" indent="0" latinLnBrk="1">
              <a:buNone/>
            </a:pPr>
            <a:r>
              <a:rPr lang="en-US" sz="1100" dirty="0"/>
              <a:t>    with open(</a:t>
            </a:r>
            <a:r>
              <a:rPr lang="en-US" sz="1100" dirty="0" err="1"/>
              <a:t>filepath</a:t>
            </a:r>
            <a:r>
              <a:rPr lang="en-US" sz="1100" dirty="0"/>
              <a:t>, 'r') as f:</a:t>
            </a:r>
          </a:p>
          <a:p>
            <a:pPr marL="457200" lvl="1" indent="0" latinLnBrk="1">
              <a:buNone/>
            </a:pPr>
            <a:r>
              <a:rPr lang="en-US" sz="1100" dirty="0"/>
              <a:t>        return </a:t>
            </a:r>
            <a:r>
              <a:rPr lang="en-US" sz="1100" dirty="0" err="1"/>
              <a:t>f.read</a:t>
            </a:r>
            <a:r>
              <a:rPr lang="en-US" sz="1100" dirty="0"/>
              <a:t>()</a:t>
            </a:r>
          </a:p>
          <a:p>
            <a:pPr marL="457200" lvl="1" indent="0" latinLnBrk="1">
              <a:buNone/>
            </a:pPr>
            <a:endParaRPr lang="en-US" sz="1100" dirty="0"/>
          </a:p>
          <a:p>
            <a:pPr marL="457200" lvl="1" indent="0" latinLnBrk="1">
              <a:buNone/>
            </a:pPr>
            <a:r>
              <a:rPr lang="en-US" sz="1100" dirty="0"/>
              <a:t>API_KEY = "sk_live_123456789" </a:t>
            </a:r>
            <a:r>
              <a:rPr lang="en-US" sz="1100" i="1" dirty="0"/>
              <a:t># </a:t>
            </a:r>
            <a:r>
              <a:rPr lang="ru-RU" sz="1100" i="1" dirty="0"/>
              <a:t>Проблема 2: </a:t>
            </a:r>
            <a:r>
              <a:rPr lang="ru-RU" sz="1100" i="1" dirty="0" err="1"/>
              <a:t>Хардкод</a:t>
            </a:r>
            <a:r>
              <a:rPr lang="ru-RU" sz="1100" i="1" dirty="0"/>
              <a:t>-секрет</a:t>
            </a:r>
            <a:endParaRPr lang="ru-RU" sz="1100" dirty="0"/>
          </a:p>
          <a:p>
            <a:pPr marL="457200" lvl="1" indent="0" latinLnBrk="1">
              <a:buNone/>
            </a:pPr>
            <a:endParaRPr lang="ru-RU" sz="1100" dirty="0"/>
          </a:p>
          <a:p>
            <a:pPr marL="457200" lvl="1" indent="0" latinLnBrk="1">
              <a:buNone/>
            </a:pPr>
            <a:r>
              <a:rPr lang="ru-RU" sz="1100" i="1" dirty="0"/>
              <a:t># Проблема 3: Слабая генерация пароля</a:t>
            </a:r>
            <a:endParaRPr lang="ru-RU" sz="1100" dirty="0"/>
          </a:p>
          <a:p>
            <a:pPr marL="457200" lvl="1" indent="0" latinLnBrk="1">
              <a:buNone/>
            </a:pPr>
            <a:r>
              <a:rPr lang="en-US" sz="1100" dirty="0"/>
              <a:t>import random</a:t>
            </a:r>
          </a:p>
          <a:p>
            <a:pPr marL="457200" lvl="1" indent="0" latinLnBrk="1">
              <a:buNone/>
            </a:pPr>
            <a:r>
              <a:rPr lang="en-US" sz="1100" dirty="0"/>
              <a:t>def </a:t>
            </a:r>
            <a:r>
              <a:rPr lang="en-US" sz="1100" dirty="0" err="1"/>
              <a:t>generate_temp_password</a:t>
            </a:r>
            <a:r>
              <a:rPr lang="en-US" sz="1100" dirty="0"/>
              <a:t>():</a:t>
            </a:r>
          </a:p>
          <a:p>
            <a:pPr marL="457200" lvl="1" indent="0" latinLnBrk="1">
              <a:buNone/>
            </a:pPr>
            <a:r>
              <a:rPr lang="en-US" sz="1100" dirty="0"/>
              <a:t>    return str(</a:t>
            </a:r>
            <a:r>
              <a:rPr lang="en-US" sz="1100" dirty="0" err="1"/>
              <a:t>random.randint</a:t>
            </a:r>
            <a:r>
              <a:rPr lang="en-US" sz="1100" dirty="0"/>
              <a:t>(1000, 9999))</a:t>
            </a:r>
          </a:p>
          <a:p>
            <a:pPr marL="0" indent="0">
              <a:buNone/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7580036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3B25E-2F42-2931-058A-2E27B9731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A61F1A-9200-02AE-3FC1-86F31719C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Лучшие практики </a:t>
            </a:r>
            <a:r>
              <a:rPr lang="en-US" dirty="0"/>
              <a:t>Code Review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E88202-93FB-41CA-63EA-A11906D1B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400" b="1" dirty="0"/>
              <a:t>Будьте конструктивны:</a:t>
            </a:r>
            <a:r>
              <a:rPr lang="ru-RU" sz="2400" dirty="0"/>
              <a:t> "Это уязвимость, потому что...", а не "Это плохой код".</a:t>
            </a:r>
          </a:p>
          <a:p>
            <a:r>
              <a:rPr lang="ru-RU" sz="2400" b="1" dirty="0"/>
              <a:t>Ссылайтесь на стандарты:</a:t>
            </a:r>
            <a:r>
              <a:rPr lang="ru-RU" sz="2400" dirty="0"/>
              <a:t> "Это нарушает OWASP Top 10, A01:2021 - </a:t>
            </a:r>
            <a:r>
              <a:rPr lang="ru-RU" sz="2400" dirty="0" err="1"/>
              <a:t>Broken</a:t>
            </a:r>
            <a:r>
              <a:rPr lang="ru-RU" sz="2400" dirty="0"/>
              <a:t> Access Control".</a:t>
            </a:r>
          </a:p>
          <a:p>
            <a:r>
              <a:rPr lang="ru-RU" sz="2400" b="1" dirty="0"/>
              <a:t>Предлагайте исправления:</a:t>
            </a:r>
            <a:r>
              <a:rPr lang="ru-RU" sz="2400" dirty="0"/>
              <a:t> "Вместо этого, используйте параметризованные запросы...".</a:t>
            </a:r>
          </a:p>
          <a:p>
            <a:r>
              <a:rPr lang="ru-RU" sz="2400" b="1" dirty="0"/>
              <a:t>Автоматизируйте рутину:</a:t>
            </a:r>
            <a:r>
              <a:rPr lang="ru-RU" sz="2400" dirty="0"/>
              <a:t> "Используйте линтеры и SAST для поиска очевидных вещей."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17988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064A8-3CC3-F6BA-C637-B22719C09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56FD5-4828-4D5F-9769-D1742BEC6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Pipeline </a:t>
            </a:r>
            <a:r>
              <a:rPr lang="ru-RU" dirty="0"/>
              <a:t>в </a:t>
            </a:r>
            <a:r>
              <a:rPr lang="en-US" dirty="0"/>
              <a:t>CI/CD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4EB9F7-861A-4D57-F297-A18D35AD5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4106333"/>
          </a:xfrm>
        </p:spPr>
        <p:txBody>
          <a:bodyPr>
            <a:normAutofit/>
          </a:bodyPr>
          <a:lstStyle/>
          <a:p>
            <a:r>
              <a:rPr lang="en-US" sz="2400" b="1" dirty="0"/>
              <a:t>Developer Laptop:</a:t>
            </a:r>
            <a:r>
              <a:rPr lang="en-US" sz="2400" dirty="0"/>
              <a:t> Pre-commit hooks (</a:t>
            </a:r>
            <a:r>
              <a:rPr lang="ru-RU" sz="2400" dirty="0"/>
              <a:t>Линтеры).</a:t>
            </a:r>
          </a:p>
          <a:p>
            <a:r>
              <a:rPr lang="en-US" sz="2400" b="1" dirty="0"/>
              <a:t>CI Pipeline:</a:t>
            </a:r>
            <a:endParaRPr lang="en-US" sz="2400" dirty="0"/>
          </a:p>
          <a:p>
            <a:pPr lvl="1"/>
            <a:r>
              <a:rPr lang="ru-RU" sz="2400" dirty="0"/>
              <a:t>Шаг 1: </a:t>
            </a:r>
            <a:r>
              <a:rPr lang="en-US" sz="2400" dirty="0"/>
              <a:t>lint (</a:t>
            </a:r>
            <a:r>
              <a:rPr lang="ru-RU" sz="2400" dirty="0"/>
              <a:t>Проверка стиля и простых ошибок).</a:t>
            </a:r>
          </a:p>
          <a:p>
            <a:pPr lvl="1"/>
            <a:r>
              <a:rPr lang="ru-RU" sz="2400" dirty="0"/>
              <a:t>Шаг 2: </a:t>
            </a:r>
            <a:r>
              <a:rPr lang="en-US" sz="2400" dirty="0" err="1"/>
              <a:t>sast</a:t>
            </a:r>
            <a:r>
              <a:rPr lang="en-US" sz="2400" dirty="0"/>
              <a:t> (</a:t>
            </a:r>
            <a:r>
              <a:rPr lang="ru-RU" sz="2400" dirty="0"/>
              <a:t>Запуск </a:t>
            </a:r>
            <a:r>
              <a:rPr lang="en-US" sz="2400" dirty="0"/>
              <a:t>SAST-</a:t>
            </a:r>
            <a:r>
              <a:rPr lang="ru-RU" sz="2400" dirty="0"/>
              <a:t>сканирования).</a:t>
            </a:r>
          </a:p>
          <a:p>
            <a:pPr lvl="1"/>
            <a:r>
              <a:rPr lang="ru-RU" sz="2400" dirty="0"/>
              <a:t>Шаг 3: </a:t>
            </a:r>
            <a:r>
              <a:rPr lang="en-US" sz="2400" dirty="0"/>
              <a:t>test (</a:t>
            </a:r>
            <a:r>
              <a:rPr lang="ru-RU" sz="2400" dirty="0"/>
              <a:t>Юнит-тесты, включая </a:t>
            </a:r>
            <a:r>
              <a:rPr lang="en-US" sz="2400" dirty="0"/>
              <a:t>security-</a:t>
            </a:r>
            <a:r>
              <a:rPr lang="ru-RU" sz="2400" dirty="0"/>
              <a:t>тесты).</a:t>
            </a:r>
          </a:p>
          <a:p>
            <a:r>
              <a:rPr lang="en-US" sz="2400" b="1" dirty="0"/>
              <a:t>Pull Request:</a:t>
            </a:r>
            <a:r>
              <a:rPr lang="en-US" sz="2400" dirty="0"/>
              <a:t> </a:t>
            </a:r>
            <a:r>
              <a:rPr lang="ru-RU" sz="2400" dirty="0"/>
              <a:t>Обязательный </a:t>
            </a:r>
            <a:r>
              <a:rPr lang="en-US" sz="2400" dirty="0"/>
              <a:t>Security Code Review.</a:t>
            </a:r>
          </a:p>
          <a:p>
            <a:r>
              <a:rPr lang="en-US" sz="2400" b="1" dirty="0"/>
              <a:t>Merge:</a:t>
            </a:r>
            <a:r>
              <a:rPr lang="en-US" sz="2400" dirty="0"/>
              <a:t> </a:t>
            </a:r>
            <a:r>
              <a:rPr lang="ru-RU" sz="2400" dirty="0"/>
              <a:t>Сборка и деплой только при успешном прохождении всех проверок.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8699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F407F-2E99-C244-5B1C-2B1787E8D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582D07-085A-5E2B-3696-EE0E7BE98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Демо: </a:t>
            </a:r>
            <a:r>
              <a:rPr lang="en-US" dirty="0"/>
              <a:t>Security Pipeline </a:t>
            </a:r>
            <a:r>
              <a:rPr lang="ru-RU" dirty="0"/>
              <a:t>в </a:t>
            </a:r>
            <a:r>
              <a:rPr lang="en-US" dirty="0"/>
              <a:t>CI/CD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7A6783-2147-AB56-E5CA-578885F4F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07796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0B355-7483-04F4-26C2-ECB3EC92E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534C37-ADCE-5F09-A924-3F32F1792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Демо: Отчет </a:t>
            </a:r>
            <a:r>
              <a:rPr lang="en-US" dirty="0"/>
              <a:t>SAST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C0186C-05D1-0598-E773-6D5E55886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94465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2216D0-3640-77BB-55C5-FC947A98D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</a:t>
            </a:r>
            <a:r>
              <a:rPr lang="en-US" dirty="0"/>
              <a:t>SAST vs DAST</a:t>
            </a: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16D9FAE7-56DC-0CDC-CA27-69430896C5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8782847"/>
              </p:ext>
            </p:extLst>
          </p:nvPr>
        </p:nvGraphicFramePr>
        <p:xfrm>
          <a:off x="1321533" y="2568881"/>
          <a:ext cx="9495693" cy="38506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446585">
                  <a:extLst>
                    <a:ext uri="{9D8B030D-6E8A-4147-A177-3AD203B41FA5}">
                      <a16:colId xmlns:a16="http://schemas.microsoft.com/office/drawing/2014/main" val="991480569"/>
                    </a:ext>
                  </a:extLst>
                </a:gridCol>
                <a:gridCol w="3024554">
                  <a:extLst>
                    <a:ext uri="{9D8B030D-6E8A-4147-A177-3AD203B41FA5}">
                      <a16:colId xmlns:a16="http://schemas.microsoft.com/office/drawing/2014/main" val="1812935162"/>
                    </a:ext>
                  </a:extLst>
                </a:gridCol>
                <a:gridCol w="3024554">
                  <a:extLst>
                    <a:ext uri="{9D8B030D-6E8A-4147-A177-3AD203B41FA5}">
                      <a16:colId xmlns:a16="http://schemas.microsoft.com/office/drawing/2014/main" val="38772304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3200" b="0" dirty="0">
                          <a:solidFill>
                            <a:schemeClr val="bg1"/>
                          </a:solidFill>
                          <a:effectLst/>
                        </a:rPr>
                        <a:t>Параметр</a:t>
                      </a:r>
                      <a:endParaRPr lang="ru-RU" sz="3200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3200" b="0" dirty="0">
                          <a:solidFill>
                            <a:schemeClr val="bg1"/>
                          </a:solidFill>
                          <a:effectLst/>
                        </a:rPr>
                        <a:t>SAST</a:t>
                      </a:r>
                      <a:endParaRPr lang="en-US" sz="3200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3200" b="0" dirty="0">
                          <a:solidFill>
                            <a:schemeClr val="bg1"/>
                          </a:solidFill>
                          <a:effectLst/>
                        </a:rPr>
                        <a:t>DAST</a:t>
                      </a:r>
                      <a:endParaRPr lang="en-US" sz="3200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067210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3200" b="0">
                          <a:solidFill>
                            <a:schemeClr val="bg1"/>
                          </a:solidFill>
                          <a:effectLst/>
                        </a:rPr>
                        <a:t>Когда используется</a:t>
                      </a:r>
                      <a:endParaRPr lang="ru-RU" sz="32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3200" b="0">
                          <a:solidFill>
                            <a:schemeClr val="bg1"/>
                          </a:solidFill>
                          <a:effectLst/>
                        </a:rPr>
                        <a:t>Во время разработки</a:t>
                      </a:r>
                      <a:endParaRPr lang="ru-RU" sz="32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3200" b="0">
                          <a:solidFill>
                            <a:schemeClr val="bg1"/>
                          </a:solidFill>
                          <a:effectLst/>
                        </a:rPr>
                        <a:t>На тестовом/продакшен окружении</a:t>
                      </a:r>
                      <a:endParaRPr lang="ru-RU" sz="32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79372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3200" b="0">
                          <a:solidFill>
                            <a:schemeClr val="bg1"/>
                          </a:solidFill>
                          <a:effectLst/>
                        </a:rPr>
                        <a:t>Требует код</a:t>
                      </a:r>
                      <a:endParaRPr lang="ru-RU" sz="32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3200" b="0">
                          <a:solidFill>
                            <a:schemeClr val="bg1"/>
                          </a:solidFill>
                          <a:effectLst/>
                        </a:rPr>
                        <a:t>Да</a:t>
                      </a:r>
                      <a:endParaRPr lang="ru-RU" sz="32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3200" b="0">
                          <a:solidFill>
                            <a:schemeClr val="bg1"/>
                          </a:solidFill>
                          <a:effectLst/>
                        </a:rPr>
                        <a:t>Нет</a:t>
                      </a:r>
                      <a:endParaRPr lang="ru-RU" sz="32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910438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3200" b="0" dirty="0">
                          <a:solidFill>
                            <a:schemeClr val="bg1"/>
                          </a:solidFill>
                          <a:effectLst/>
                        </a:rPr>
                        <a:t>Находит логические уязвимости</a:t>
                      </a:r>
                      <a:endParaRPr lang="ru-RU" sz="3200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3200" b="0">
                          <a:solidFill>
                            <a:schemeClr val="bg1"/>
                          </a:solidFill>
                          <a:effectLst/>
                        </a:rPr>
                        <a:t>Частично</a:t>
                      </a:r>
                      <a:endParaRPr lang="ru-RU" sz="32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3200" b="0">
                          <a:solidFill>
                            <a:schemeClr val="bg1"/>
                          </a:solidFill>
                          <a:effectLst/>
                        </a:rPr>
                        <a:t>Хорошо</a:t>
                      </a:r>
                      <a:endParaRPr lang="ru-RU" sz="32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502403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3200" b="0">
                          <a:solidFill>
                            <a:schemeClr val="bg1"/>
                          </a:solidFill>
                          <a:effectLst/>
                        </a:rPr>
                        <a:t>False Positive Rate</a:t>
                      </a:r>
                      <a:endParaRPr lang="en-US" sz="32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3200" b="0">
                          <a:solidFill>
                            <a:schemeClr val="bg1"/>
                          </a:solidFill>
                          <a:effectLst/>
                        </a:rPr>
                        <a:t>Высокий</a:t>
                      </a:r>
                      <a:endParaRPr lang="ru-RU" sz="32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3200" b="0">
                          <a:solidFill>
                            <a:schemeClr val="bg1"/>
                          </a:solidFill>
                          <a:effectLst/>
                        </a:rPr>
                        <a:t>Средний</a:t>
                      </a:r>
                      <a:endParaRPr lang="ru-RU" sz="32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244496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3200" b="0">
                          <a:solidFill>
                            <a:schemeClr val="bg1"/>
                          </a:solidFill>
                          <a:effectLst/>
                        </a:rPr>
                        <a:t>Скорость</a:t>
                      </a:r>
                      <a:endParaRPr lang="ru-RU" sz="32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3200" b="0">
                          <a:solidFill>
                            <a:schemeClr val="bg1"/>
                          </a:solidFill>
                          <a:effectLst/>
                        </a:rPr>
                        <a:t>Быстро</a:t>
                      </a:r>
                      <a:endParaRPr lang="ru-RU" sz="32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3200" b="0" dirty="0">
                          <a:solidFill>
                            <a:schemeClr val="bg1"/>
                          </a:solidFill>
                          <a:effectLst/>
                        </a:rPr>
                        <a:t>Медленно</a:t>
                      </a:r>
                      <a:endParaRPr lang="ru-RU" sz="3200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610468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12189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5ADA2-4D7F-4536-B708-AF72C9C51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B19FDD-45E5-E924-E9A1-A0AF677F2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Метрики и культура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3951F2-6811-CB78-0DF7-577498E50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4000" dirty="0"/>
              <a:t>Безопасность — это ответственность каждого разработчика, а не только команды Security.</a:t>
            </a:r>
          </a:p>
        </p:txBody>
      </p:sp>
    </p:spTree>
    <p:extLst>
      <p:ext uri="{BB962C8B-B14F-4D97-AF65-F5344CB8AC3E}">
        <p14:creationId xmlns:p14="http://schemas.microsoft.com/office/powerpoint/2010/main" val="36826835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D424E-6123-D239-C934-F03C29AB7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9AE1CA-61BE-333A-F121-BAD966C3B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Ключевые 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DAF1D0-261B-516A-5818-53A322A61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800" dirty="0"/>
              <a:t>Многослойная защита: Линтеры + SAST + Code Review.</a:t>
            </a:r>
          </a:p>
          <a:p>
            <a:r>
              <a:rPr lang="ru-RU" sz="2800" dirty="0"/>
              <a:t>Автоматизируйте рутину, чтобы люди могли сосредоточиться на сложных вещах.</a:t>
            </a:r>
          </a:p>
          <a:p>
            <a:r>
              <a:rPr lang="ru-RU" sz="2800" dirty="0"/>
              <a:t>Внедряйте безопасность в процесс (Shift </a:t>
            </a:r>
            <a:r>
              <a:rPr lang="ru-RU" sz="2800" dirty="0" err="1"/>
              <a:t>Left</a:t>
            </a:r>
            <a:r>
              <a:rPr lang="ru-RU" sz="2800" dirty="0"/>
              <a:t>), а не проверяйте в конце.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22401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3BD372-7E98-3656-FE18-39817D84C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Ответы на вопросы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82E860-A0FE-E5B4-4F14-EF08FA359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F1AB717-FF3B-A410-AEB4-6ACC14EF0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95ED7-0083-41B9-9551-3BBAE914DC58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35648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72346F-E74D-90B2-44E3-B5072A581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Спасибо за внимание!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5E0445-6F94-9554-6E25-797F1A504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EB1C25A-B5B4-D541-CF0A-CB3954736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95ED7-0083-41B9-9551-3BBAE914DC58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53710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ебесная">
  <a:themeElements>
    <a:clrScheme name="Небесная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Небес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Небесная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Небесная</Template>
  <TotalTime>84</TotalTime>
  <Words>1266</Words>
  <Application>Microsoft Office PowerPoint</Application>
  <PresentationFormat>Широкоэкранный</PresentationFormat>
  <Paragraphs>199</Paragraphs>
  <Slides>27</Slides>
  <Notes>27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quote-cjk-patch</vt:lpstr>
      <vt:lpstr>Небесная</vt:lpstr>
      <vt:lpstr>Практики анализа безопасности кода</vt:lpstr>
      <vt:lpstr>Презентация PowerPoint</vt:lpstr>
      <vt:lpstr>Что не так с этим кодом?</vt:lpstr>
      <vt:lpstr>План лекции</vt:lpstr>
      <vt:lpstr>Что такое линтеры?</vt:lpstr>
      <vt:lpstr>Linters в действии (сравнение "До/После")</vt:lpstr>
      <vt:lpstr>Security-specific линтеры</vt:lpstr>
      <vt:lpstr>Что такое SAST?</vt:lpstr>
      <vt:lpstr>Что находит SAST?</vt:lpstr>
      <vt:lpstr>Инструменты SAST</vt:lpstr>
      <vt:lpstr>Что такое DAST?</vt:lpstr>
      <vt:lpstr>Как работает DAST?</vt:lpstr>
      <vt:lpstr>Что находит DAST?</vt:lpstr>
      <vt:lpstr>Инструменты DAST</vt:lpstr>
      <vt:lpstr>Демо: OWASP ZAP в действии</vt:lpstr>
      <vt:lpstr>Зачем Code Review?</vt:lpstr>
      <vt:lpstr>Чек-лист ревьювера</vt:lpstr>
      <vt:lpstr>Пример для ревью: Уязвимый код</vt:lpstr>
      <vt:lpstr>Лучшие практики Code Review</vt:lpstr>
      <vt:lpstr>Security Pipeline в CI/CD</vt:lpstr>
      <vt:lpstr>Демо: Security Pipeline в CI/CD</vt:lpstr>
      <vt:lpstr>Демо: Отчет SAST</vt:lpstr>
      <vt:lpstr>Сравнение SAST vs DAST</vt:lpstr>
      <vt:lpstr>Метрики и культура</vt:lpstr>
      <vt:lpstr>Ключевые выводы</vt:lpstr>
      <vt:lpstr>Ответы на вопросы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Татьяна Маркина</dc:creator>
  <cp:lastModifiedBy>Татьяна Маркина</cp:lastModifiedBy>
  <cp:revision>8</cp:revision>
  <dcterms:created xsi:type="dcterms:W3CDTF">2025-09-10T15:27:31Z</dcterms:created>
  <dcterms:modified xsi:type="dcterms:W3CDTF">2025-11-26T06:51:00Z</dcterms:modified>
</cp:coreProperties>
</file>