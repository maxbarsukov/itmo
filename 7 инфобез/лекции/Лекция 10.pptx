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24"/>
  </p:notesMasterIdLst>
  <p:sldIdLst>
    <p:sldId id="256" r:id="rId2"/>
    <p:sldId id="279" r:id="rId3"/>
    <p:sldId id="258" r:id="rId4"/>
    <p:sldId id="257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  <p:sldId id="274" r:id="rId21"/>
    <p:sldId id="275" r:id="rId22"/>
    <p:sldId id="277" r:id="rId2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69CF1AB2-1976-4502-BF36-3FF5EA218861}" styleName="Средний стиль 4 — акцент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60000" autoAdjust="0"/>
  </p:normalViewPr>
  <p:slideViewPr>
    <p:cSldViewPr snapToGrid="0">
      <p:cViewPr varScale="1">
        <p:scale>
          <a:sx n="32" d="100"/>
          <a:sy n="32" d="100"/>
        </p:scale>
        <p:origin x="1908" y="2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6E33066-CDA2-4A15-A30B-FCAFBFB95445}" type="datetimeFigureOut">
              <a:rPr lang="ru-RU" smtClean="0"/>
              <a:t>13.11.2025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44C4881-C061-4983-AA04-792181136A6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5892214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44C4881-C061-4983-AA04-792181136A65}" type="slidenum">
              <a:rPr lang="ru-RU" smtClean="0"/>
              <a:t>1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0218659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https://habr.com/ru/articles/443122/</a:t>
            </a:r>
            <a:endParaRPr lang="ru-RU" sz="1200" b="1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ru-RU" sz="1200" b="1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44C4881-C061-4983-AA04-792181136A65}" type="slidenum">
              <a:rPr lang="ru-RU" smtClean="0"/>
              <a:t>2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2628263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44C4881-C061-4983-AA04-792181136A65}" type="slidenum">
              <a:rPr lang="ru-RU" smtClean="0"/>
              <a:t>3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8172657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208852F-78E8-42E0-81FC-E01F380B8E2B}" type="slidenum">
              <a:rPr lang="ru-RU" smtClean="0"/>
              <a:t>4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25991044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44C4881-C061-4983-AA04-792181136A65}" type="slidenum">
              <a:rPr lang="ru-RU" smtClean="0"/>
              <a:t>5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9165027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44C4881-C061-4983-AA04-792181136A65}" type="slidenum">
              <a:rPr lang="ru-RU" smtClean="0"/>
              <a:t>6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493162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44C4881-C061-4983-AA04-792181136A65}" type="slidenum">
              <a:rPr lang="ru-RU" smtClean="0"/>
              <a:t>7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39886740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Пример диаграммы: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Внутри "Бэкенд-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API" 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показаны блоки: 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AuthController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 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UserService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 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OrderRepository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r>
              <a:rPr lang="ru-RU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Фокус ИБ: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Вопрос: "</a:t>
            </a:r>
            <a:r>
              <a:rPr lang="ru-RU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Кто имеет доступ к каким данным внутри сервиса?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</a:t>
            </a:r>
          </a:p>
          <a:p>
            <a:r>
              <a:rPr lang="ru-RU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(Слайд 8: Уровень Компонентов)</a:t>
            </a:r>
            <a:endParaRPr lang="ru-RU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ru-RU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Текст для преподавателя:</a:t>
            </a:r>
            <a:b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"Третий уровень — Компоненты. Это уже внутренняя структура одного контейнера. Например, внутри нашего бэкенд-API мы можем выделить </a:t>
            </a:r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AuthController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 </a:t>
            </a:r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UserService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и так далее. Здесь анализ безопасности становится очень детальным. Мы задаемся вопросами: </a:t>
            </a:r>
            <a:r>
              <a:rPr lang="ru-RU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'По каким путям данные перемещаются между компонентами?'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 </a:t>
            </a:r>
            <a:r>
              <a:rPr lang="ru-RU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'Где и как происходит валидация ввода?'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 </a:t>
            </a:r>
            <a:r>
              <a:rPr lang="ru-RU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'Какой компонент отвечает за проверку прав доступа?'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Уязвимости на этом уровне — это часто инъекции или ошибки логики авторизации."</a:t>
            </a:r>
          </a:p>
          <a:p>
            <a:r>
              <a:rPr lang="ru-RU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(Слайд 8: Уровень Компонентов)</a:t>
            </a:r>
            <a:endParaRPr lang="ru-RU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ru-RU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Текст для преподавателя:</a:t>
            </a:r>
            <a:b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"Третий уровень — Компоненты. Здесь мы смотрим на внутреннюю кухню. Вот </a:t>
            </a:r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FileUploadController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Его задача — принимать файлы. Пример уязвимости: в 2021 году хакеры использовали уязвимость в библиотеке </a:t>
            </a:r>
            <a:r>
              <a:rPr lang="ru-RU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Log4j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Если бы в компоненте, который </a:t>
            </a:r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логирует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имя загружаемого файла, была проверка, ущерб можно было бы смягчить. Но ее не было. Вопрос </a:t>
            </a:r>
            <a:r>
              <a:rPr lang="ru-RU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'Где валидация?'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здесь критичен. Другой пример: компонент </a:t>
            </a:r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PaymentProcessor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при ошибке возвращает в ответе весь стек-трейс, где может быть строка подключения к БД. Вопрос </a:t>
            </a:r>
            <a:r>
              <a:rPr lang="ru-RU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'Как обрабатываются ошибки?'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— это вопрос о том, не оставляем ли мы на столе ключи от сейфа на всеобщее обозрение."</a:t>
            </a:r>
          </a:p>
          <a:p>
            <a:br>
              <a:rPr lang="ru-RU" dirty="0"/>
            </a:br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44C4881-C061-4983-AA04-792181136A65}" type="slidenum">
              <a:rPr lang="ru-RU" smtClean="0"/>
              <a:t>8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7455241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44C4881-C061-4983-AA04-792181136A65}" type="slidenum">
              <a:rPr lang="ru-RU" smtClean="0"/>
              <a:t>9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28581479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44C4881-C061-4983-AA04-792181136A65}" type="slidenum">
              <a:rPr lang="ru-RU" smtClean="0"/>
              <a:t>10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1607543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44C4881-C061-4983-AA04-792181136A65}" type="slidenum">
              <a:rPr lang="ru-RU" smtClean="0"/>
              <a:t>11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28771955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44C4881-C061-4983-AA04-792181136A65}" type="slidenum">
              <a:rPr lang="ru-RU" smtClean="0"/>
              <a:t>12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19420383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44C4881-C061-4983-AA04-792181136A65}" type="slidenum">
              <a:rPr lang="ru-RU" smtClean="0"/>
              <a:t>13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64409669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44C4881-C061-4983-AA04-792181136A65}" type="slidenum">
              <a:rPr lang="ru-RU" smtClean="0"/>
              <a:t>14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894188593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44C4881-C061-4983-AA04-792181136A65}" type="slidenum">
              <a:rPr lang="ru-RU" smtClean="0"/>
              <a:t>15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34530120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44C4881-C061-4983-AA04-792181136A65}" type="slidenum">
              <a:rPr lang="ru-RU" smtClean="0"/>
              <a:t>16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9396518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44C4881-C061-4983-AA04-792181136A65}" type="slidenum">
              <a:rPr lang="ru-RU" smtClean="0"/>
              <a:t>17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850869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44C4881-C061-4983-AA04-792181136A65}" type="slidenum">
              <a:rPr lang="ru-RU" smtClean="0"/>
              <a:t>18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84402118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44C4881-C061-4983-AA04-792181136A65}" type="slidenum">
              <a:rPr lang="ru-RU" smtClean="0"/>
              <a:t>19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3865122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44C4881-C061-4983-AA04-792181136A65}" type="slidenum">
              <a:rPr lang="ru-RU" smtClean="0"/>
              <a:t>20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530004050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44C4881-C061-4983-AA04-792181136A65}" type="slidenum">
              <a:rPr lang="ru-RU" smtClean="0"/>
              <a:t>21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554162876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44C4881-C061-4983-AA04-792181136A65}" type="slidenum">
              <a:rPr lang="ru-RU" smtClean="0"/>
              <a:t>22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7289568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Title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962399" y="1964267"/>
            <a:ext cx="7197726" cy="2421464"/>
          </a:xfrm>
        </p:spPr>
        <p:txBody>
          <a:bodyPr anchor="b">
            <a:normAutofit/>
          </a:bodyPr>
          <a:lstStyle>
            <a:lvl1pPr algn="r">
              <a:defRPr sz="4800">
                <a:effectLst/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962399" y="4385732"/>
            <a:ext cx="7197726" cy="1405467"/>
          </a:xfrm>
        </p:spPr>
        <p:txBody>
          <a:bodyPr anchor="t">
            <a:normAutofit/>
          </a:bodyPr>
          <a:lstStyle>
            <a:lvl1pPr marL="0" indent="0" algn="r">
              <a:buNone/>
              <a:defRPr sz="1800" cap="all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ru-RU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932558" y="5870575"/>
            <a:ext cx="1600200" cy="377825"/>
          </a:xfrm>
        </p:spPr>
        <p:txBody>
          <a:bodyPr/>
          <a:lstStyle/>
          <a:p>
            <a:fld id="{6C8B72AB-2D06-4F13-9CBC-2F69B54E9758}" type="datetimeFigureOut">
              <a:rPr lang="ru-RU" smtClean="0"/>
              <a:t>13.11.2025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962399" y="5870575"/>
            <a:ext cx="4893958" cy="377825"/>
          </a:xfrm>
        </p:spPr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608958" y="5870575"/>
            <a:ext cx="551167" cy="377825"/>
          </a:xfrm>
        </p:spPr>
        <p:txBody>
          <a:bodyPr/>
          <a:lstStyle/>
          <a:p>
            <a:fld id="{7A2448B8-4EEB-4BD7-A05D-D1C2D73CA30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907471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8B72AB-2D06-4F13-9CBC-2F69B54E9758}" type="datetimeFigureOut">
              <a:rPr lang="ru-RU" smtClean="0"/>
              <a:t>13.11.2025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2448B8-4EEB-4BD7-A05D-D1C2D73CA30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2182684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3308581"/>
            <a:ext cx="10131427" cy="1468800"/>
          </a:xfrm>
        </p:spPr>
        <p:txBody>
          <a:bodyPr anchor="b"/>
          <a:lstStyle>
            <a:lvl1pPr algn="l">
              <a:defRPr sz="4000" b="0" cap="all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799" y="4777381"/>
            <a:ext cx="10131428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 cap="all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8B72AB-2D06-4F13-9CBC-2F69B54E9758}" type="datetimeFigureOut">
              <a:rPr lang="ru-RU" smtClean="0"/>
              <a:t>13.11.2025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2448B8-4EEB-4BD7-A05D-D1C2D73CA30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0448131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2" y="2142067"/>
            <a:ext cx="4995334" cy="3649134"/>
          </a:xfrm>
        </p:spPr>
        <p:txBody>
          <a:bodyPr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821895" y="2142067"/>
            <a:ext cx="4995332" cy="3649133"/>
          </a:xfrm>
        </p:spPr>
        <p:txBody>
          <a:bodyPr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8B72AB-2D06-4F13-9CBC-2F69B54E9758}" type="datetimeFigureOut">
              <a:rPr lang="ru-RU" smtClean="0"/>
              <a:t>13.11.2025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2448B8-4EEB-4BD7-A05D-D1C2D73CA30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715870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73670" y="2218267"/>
            <a:ext cx="4709054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5801" y="2870201"/>
            <a:ext cx="4996923" cy="2920998"/>
          </a:xfrm>
        </p:spPr>
        <p:txBody>
          <a:bodyPr anchor="t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096003" y="2226734"/>
            <a:ext cx="4722813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823483" y="2870201"/>
            <a:ext cx="4995334" cy="2920998"/>
          </a:xfrm>
        </p:spPr>
        <p:txBody>
          <a:bodyPr anchor="t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8B72AB-2D06-4F13-9CBC-2F69B54E9758}" type="datetimeFigureOut">
              <a:rPr lang="ru-RU" smtClean="0"/>
              <a:t>13.11.2025</a:t>
            </a:fld>
            <a:endParaRPr lang="ru-R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2448B8-4EEB-4BD7-A05D-D1C2D73CA30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3757809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8B72AB-2D06-4F13-9CBC-2F69B54E9758}" type="datetimeFigureOut">
              <a:rPr lang="ru-RU" smtClean="0"/>
              <a:t>13.11.2025</a:t>
            </a:fld>
            <a:endParaRPr lang="ru-R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2448B8-4EEB-4BD7-A05D-D1C2D73CA30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3470933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8B72AB-2D06-4F13-9CBC-2F69B54E9758}" type="datetimeFigureOut">
              <a:rPr lang="ru-RU" smtClean="0"/>
              <a:t>13.11.2025</a:t>
            </a:fld>
            <a:endParaRPr lang="ru-R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2448B8-4EEB-4BD7-A05D-D1C2D73CA30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4062988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2074333"/>
            <a:ext cx="3680885" cy="1371600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48201" y="609601"/>
            <a:ext cx="6169026" cy="5181600"/>
          </a:xfrm>
        </p:spPr>
        <p:txBody>
          <a:bodyPr anchor="ctr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3445933"/>
            <a:ext cx="3680885" cy="1828800"/>
          </a:xfrm>
        </p:spPr>
        <p:txBody>
          <a:bodyPr anchor="t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8B72AB-2D06-4F13-9CBC-2F69B54E9758}" type="datetimeFigureOut">
              <a:rPr lang="ru-RU" smtClean="0"/>
              <a:t>13.11.2025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2448B8-4EEB-4BD7-A05D-D1C2D73CA30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0806672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1600200"/>
            <a:ext cx="6164653" cy="1371600"/>
          </a:xfrm>
        </p:spPr>
        <p:txBody>
          <a:bodyPr anchor="b">
            <a:normAutofit/>
          </a:bodyPr>
          <a:lstStyle>
            <a:lvl1pPr algn="l">
              <a:defRPr sz="2800" b="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14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536253" y="914400"/>
            <a:ext cx="3280974" cy="4572000"/>
          </a:xfrm>
          <a:prstGeom prst="roundRect">
            <a:avLst>
              <a:gd name="adj" fmla="val 4280"/>
            </a:avLst>
          </a:prstGeom>
          <a:ln w="50800" cap="sq" cmpd="dbl">
            <a:gradFill flip="none" rotWithShape="1">
              <a:gsLst>
                <a:gs pos="0">
                  <a:srgbClr val="FFFFFF"/>
                </a:gs>
                <a:gs pos="100000">
                  <a:schemeClr val="tx1">
                    <a:alpha val="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2971800"/>
            <a:ext cx="6164653" cy="1828800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8B72AB-2D06-4F13-9CBC-2F69B54E9758}" type="datetimeFigureOut">
              <a:rPr lang="ru-RU" smtClean="0"/>
              <a:t>13.11.2025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2448B8-4EEB-4BD7-A05D-D1C2D73CA30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5883103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Панорамная фотография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4732865"/>
            <a:ext cx="1013142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371600" y="932112"/>
            <a:ext cx="8759827" cy="3164976"/>
          </a:xfrm>
          <a:prstGeom prst="roundRect">
            <a:avLst>
              <a:gd name="adj" fmla="val 4380"/>
            </a:avLst>
          </a:prstGeom>
          <a:ln w="50800" cap="sq" cmpd="dbl">
            <a:gradFill flip="none" rotWithShape="1">
              <a:gsLst>
                <a:gs pos="0">
                  <a:srgbClr val="FFFFFF"/>
                </a:gs>
                <a:gs pos="100000">
                  <a:schemeClr val="tx1">
                    <a:alpha val="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5299603"/>
            <a:ext cx="10131427" cy="49371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8B72AB-2D06-4F13-9CBC-2F69B54E9758}" type="datetimeFigureOut">
              <a:rPr lang="ru-RU" smtClean="0"/>
              <a:t>13.11.2025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2448B8-4EEB-4BD7-A05D-D1C2D73CA30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1906637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Заголовок и подпис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1" y="609601"/>
            <a:ext cx="10131427" cy="3124199"/>
          </a:xfrm>
        </p:spPr>
        <p:txBody>
          <a:bodyPr anchor="ctr">
            <a:normAutofit/>
          </a:bodyPr>
          <a:lstStyle>
            <a:lvl1pPr algn="l">
              <a:defRPr sz="3200" b="0" cap="none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0" y="4343400"/>
            <a:ext cx="10131428" cy="1447800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8B72AB-2D06-4F13-9CBC-2F69B54E9758}" type="datetimeFigureOut">
              <a:rPr lang="ru-RU" smtClean="0"/>
              <a:t>13.11.2025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2448B8-4EEB-4BD7-A05D-D1C2D73CA30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39961276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Цитата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10237867" y="274320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88275" y="823337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92267" y="609601"/>
            <a:ext cx="9550399" cy="2743199"/>
          </a:xfrm>
        </p:spPr>
        <p:txBody>
          <a:bodyPr anchor="ctr">
            <a:normAutofit/>
          </a:bodyPr>
          <a:lstStyle>
            <a:lvl1pPr algn="l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097875" y="3352800"/>
            <a:ext cx="9339184" cy="381000"/>
          </a:xfrm>
        </p:spPr>
        <p:txBody>
          <a:bodyPr anchor="ctr"/>
          <a:lstStyle>
            <a:lvl1pPr marL="0" indent="0">
              <a:buFontTx/>
              <a:buNone/>
              <a:defRPr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7465" y="4343400"/>
            <a:ext cx="10152367" cy="1447800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8B72AB-2D06-4F13-9CBC-2F69B54E9758}" type="datetimeFigureOut">
              <a:rPr lang="ru-RU" smtClean="0"/>
              <a:t>13.11.2025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2448B8-4EEB-4BD7-A05D-D1C2D73CA30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9179694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Карточка имен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2" y="3308581"/>
            <a:ext cx="10131425" cy="1468800"/>
          </a:xfrm>
        </p:spPr>
        <p:txBody>
          <a:bodyPr anchor="b">
            <a:normAutofit/>
          </a:bodyPr>
          <a:lstStyle>
            <a:lvl1pPr algn="l">
              <a:defRPr sz="3200" b="0" cap="none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1" y="4777381"/>
            <a:ext cx="10131426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8B72AB-2D06-4F13-9CBC-2F69B54E9758}" type="datetimeFigureOut">
              <a:rPr lang="ru-RU" smtClean="0"/>
              <a:t>13.11.2025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2448B8-4EEB-4BD7-A05D-D1C2D73CA30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86565240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Цитата карточки имен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10237867" y="274320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8275" y="823337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6" name="Title 1"/>
          <p:cNvSpPr>
            <a:spLocks noGrp="1"/>
          </p:cNvSpPr>
          <p:nvPr>
            <p:ph type="title"/>
          </p:nvPr>
        </p:nvSpPr>
        <p:spPr>
          <a:xfrm>
            <a:off x="992267" y="609601"/>
            <a:ext cx="9550399" cy="2743199"/>
          </a:xfrm>
        </p:spPr>
        <p:txBody>
          <a:bodyPr anchor="ctr">
            <a:normAutofit/>
          </a:bodyPr>
          <a:lstStyle>
            <a:lvl1pPr algn="l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85800" y="3886200"/>
            <a:ext cx="10135436" cy="8890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4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ru-RU"/>
              <a:t>Образец текста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799" y="4775200"/>
            <a:ext cx="10135436" cy="10160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8B72AB-2D06-4F13-9CBC-2F69B54E9758}" type="datetimeFigureOut">
              <a:rPr lang="ru-RU" smtClean="0"/>
              <a:t>13.11.2025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2448B8-4EEB-4BD7-A05D-D1C2D73CA30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96338345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Истина или лож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1" y="609601"/>
            <a:ext cx="10131427" cy="2743199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85801" y="3505200"/>
            <a:ext cx="10131428" cy="8382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8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ru-RU"/>
              <a:t>Образец текста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0" y="4343400"/>
            <a:ext cx="10131428" cy="14478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8B72AB-2D06-4F13-9CBC-2F69B54E9758}" type="datetimeFigureOut">
              <a:rPr lang="ru-RU" smtClean="0"/>
              <a:t>13.11.2025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2448B8-4EEB-4BD7-A05D-D1C2D73CA30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0174690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8B72AB-2D06-4F13-9CBC-2F69B54E9758}" type="datetimeFigureOut">
              <a:rPr lang="ru-RU" smtClean="0"/>
              <a:t>13.11.2025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2448B8-4EEB-4BD7-A05D-D1C2D73CA301}" type="slidenum">
              <a:rPr lang="ru-RU" smtClean="0"/>
              <a:t>‹#›</a:t>
            </a:fld>
            <a:endParaRPr lang="ru-RU"/>
          </a:p>
        </p:txBody>
      </p:sp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685801" y="609600"/>
            <a:ext cx="10131425" cy="1456267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40134324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658675" y="609599"/>
            <a:ext cx="2158552" cy="5181601"/>
          </a:xfrm>
        </p:spPr>
        <p:txBody>
          <a:bodyPr vert="eaVert"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7832116" cy="5181600"/>
          </a:xfrm>
        </p:spPr>
        <p:txBody>
          <a:bodyPr vert="eaVert" anchor="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8B72AB-2D06-4F13-9CBC-2F69B54E9758}" type="datetimeFigureOut">
              <a:rPr lang="ru-RU" smtClean="0"/>
              <a:t>13.11.2025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2448B8-4EEB-4BD7-A05D-D1C2D73CA30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2318918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5801" y="609600"/>
            <a:ext cx="10131425" cy="14562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1" y="2142067"/>
            <a:ext cx="10131425" cy="364913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589660" y="5870575"/>
            <a:ext cx="1600200" cy="3778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6C8B72AB-2D06-4F13-9CBC-2F69B54E9758}" type="datetimeFigureOut">
              <a:rPr lang="ru-RU" smtClean="0"/>
              <a:t>13.11.2025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5800" y="5870575"/>
            <a:ext cx="7827659" cy="3778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266060" y="5870575"/>
            <a:ext cx="551167" cy="3778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7A2448B8-4EEB-4BD7-A05D-D1C2D73CA30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5538814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 cap="all">
          <a:ln w="3175" cmpd="sng">
            <a:noFill/>
          </a:ln>
          <a:solidFill>
            <a:schemeClr val="tx1"/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8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6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819FB43-E929-7026-48B6-A5D4E4D5FFF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ru-RU" dirty="0"/>
              <a:t> Анализ архитектуры с точки зрения ИБ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367E1918-33A7-2CA1-F622-1608BEDC2039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ru-RU" dirty="0"/>
              <a:t>Лекция №</a:t>
            </a:r>
            <a:r>
              <a:rPr lang="en-US" dirty="0"/>
              <a:t>10</a:t>
            </a:r>
            <a:endParaRPr lang="ru-RU" dirty="0"/>
          </a:p>
          <a:p>
            <a:r>
              <a:rPr lang="ru-RU" dirty="0"/>
              <a:t>Дисциплина: Информационная безопасность</a:t>
            </a:r>
          </a:p>
          <a:p>
            <a:r>
              <a:rPr lang="ru-RU" dirty="0"/>
              <a:t>Преподаватель: Маркина Татьяна Анатольевна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91731235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F094214-9971-AC3B-0926-42795D855F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Архитектурный </a:t>
            </a:r>
            <a:br>
              <a:rPr lang="ru-RU" dirty="0"/>
            </a:br>
            <a:r>
              <a:rPr lang="ru-RU" dirty="0"/>
              <a:t>провал</a:t>
            </a: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16681265-B1DE-9AD3-D6DC-512C63D8763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61295" y="1553463"/>
            <a:ext cx="7620000" cy="51149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80566556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>
            <a:extLst>
              <a:ext uri="{FF2B5EF4-FFF2-40B4-BE49-F238E27FC236}">
                <a16:creationId xmlns:a16="http://schemas.microsoft.com/office/drawing/2014/main" id="{E7C6CF97-3815-9295-F18C-EF4961BA96F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ru-RU" sz="4400" b="1" dirty="0"/>
              <a:t>Безопасность — это свойство архитектуры, а не опция</a:t>
            </a:r>
            <a:endParaRPr lang="ru-RU" sz="4400" dirty="0"/>
          </a:p>
        </p:txBody>
      </p:sp>
    </p:spTree>
    <p:extLst>
      <p:ext uri="{BB962C8B-B14F-4D97-AF65-F5344CB8AC3E}">
        <p14:creationId xmlns:p14="http://schemas.microsoft.com/office/powerpoint/2010/main" val="9061605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71EC068-2CA0-23C6-2B62-11468352AF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/>
              <a:t>План лекции</a:t>
            </a: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D96812A4-C51E-81E3-383C-21AECF94687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514350" indent="-514350">
              <a:buFont typeface="+mj-lt"/>
              <a:buAutoNum type="arabicPeriod"/>
            </a:pPr>
            <a:r>
              <a:rPr lang="ru-RU" sz="3200" dirty="0"/>
              <a:t>Инструмент: Учимся видеть (C4-модель).</a:t>
            </a:r>
          </a:p>
          <a:p>
            <a:pPr marL="514350" indent="-514350">
              <a:buFont typeface="+mj-lt"/>
              <a:buAutoNum type="arabicPeriod"/>
            </a:pPr>
            <a:r>
              <a:rPr lang="ru-RU" sz="3200" dirty="0"/>
              <a:t>Диагностика: Учимся искать угрозы (Точки уязвимостей).</a:t>
            </a:r>
          </a:p>
          <a:p>
            <a:pPr marL="514350" indent="-514350">
              <a:buFont typeface="+mj-lt"/>
              <a:buAutoNum type="arabicPeriod"/>
            </a:pPr>
            <a:r>
              <a:rPr lang="ru-RU" sz="3200" dirty="0"/>
              <a:t>Лечение: Учимся защищать (Паттерны безопасной архитектуры).</a:t>
            </a:r>
          </a:p>
          <a:p>
            <a:pPr marL="514350" indent="-514350">
              <a:buFont typeface="+mj-lt"/>
              <a:buAutoNum type="arabicPeriod"/>
            </a:pPr>
            <a:r>
              <a:rPr lang="ru-RU" sz="3200" dirty="0"/>
              <a:t>Практика: Применяем все вместе.</a:t>
            </a:r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81BA4836-A86E-2AE5-DDBE-0151B2F443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495ED7-0083-41B9-9551-3BBAE914DC58}" type="slidenum">
              <a:rPr lang="ru-RU" smtClean="0"/>
              <a:t>4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8038904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596A69F-23EC-2099-62F4-7FEC086D39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Что такое </a:t>
            </a:r>
            <a:r>
              <a:rPr lang="en-US" dirty="0"/>
              <a:t>C4-</a:t>
            </a:r>
            <a:r>
              <a:rPr lang="ru-RU" dirty="0"/>
              <a:t>модель?</a:t>
            </a:r>
          </a:p>
        </p:txBody>
      </p:sp>
      <p:pic>
        <p:nvPicPr>
          <p:cNvPr id="2052" name="Picture 4" descr="Picture background">
            <a:extLst>
              <a:ext uri="{FF2B5EF4-FFF2-40B4-BE49-F238E27FC236}">
                <a16:creationId xmlns:a16="http://schemas.microsoft.com/office/drawing/2014/main" id="{A931E8E8-6F1A-F33F-DB5A-EDC0A644A35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60575" y="1867314"/>
            <a:ext cx="8872330" cy="499068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67922268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E819E0-B6C1-5898-9FB4-CCA3085051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32F4006-E97A-6F19-5864-6058CC5D0F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 Уровень К</a:t>
            </a:r>
            <a:br>
              <a:rPr lang="en-US" dirty="0"/>
            </a:br>
            <a:r>
              <a:rPr lang="ru-RU" dirty="0" err="1"/>
              <a:t>онтекста</a:t>
            </a:r>
            <a:endParaRPr lang="ru-RU" dirty="0"/>
          </a:p>
        </p:txBody>
      </p:sp>
      <p:pic>
        <p:nvPicPr>
          <p:cNvPr id="3074" name="Picture 2">
            <a:extLst>
              <a:ext uri="{FF2B5EF4-FFF2-40B4-BE49-F238E27FC236}">
                <a16:creationId xmlns:a16="http://schemas.microsoft.com/office/drawing/2014/main" id="{E2B4E603-1C0D-2856-743C-B8075990A7B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06853" y="238082"/>
            <a:ext cx="7499346" cy="621111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37513339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AE8E98-CE3E-FFCA-491D-DC543C1715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3F5F80F-AAB3-038B-EACD-E9B8FA55D7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Уровень </a:t>
            </a:r>
            <a:br>
              <a:rPr lang="en-US" dirty="0"/>
            </a:br>
            <a:r>
              <a:rPr lang="ru-RU" dirty="0"/>
              <a:t>Контейнеров</a:t>
            </a:r>
          </a:p>
        </p:txBody>
      </p:sp>
      <p:pic>
        <p:nvPicPr>
          <p:cNvPr id="4098" name="Picture 2">
            <a:extLst>
              <a:ext uri="{FF2B5EF4-FFF2-40B4-BE49-F238E27FC236}">
                <a16:creationId xmlns:a16="http://schemas.microsoft.com/office/drawing/2014/main" id="{AC474522-CF15-7B61-688E-8EABF429F1F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78300" y="0"/>
            <a:ext cx="80137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63368121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467E32-10FF-DC0D-3C17-0A2D4A7350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AE5146F-9C88-FA0F-265C-947B03C471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Уровень Компонентов</a:t>
            </a:r>
          </a:p>
        </p:txBody>
      </p:sp>
      <p:pic>
        <p:nvPicPr>
          <p:cNvPr id="5122" name="Picture 2" descr="Реализована в Draw.io">
            <a:extLst>
              <a:ext uri="{FF2B5EF4-FFF2-40B4-BE49-F238E27FC236}">
                <a16:creationId xmlns:a16="http://schemas.microsoft.com/office/drawing/2014/main" id="{E9C176A7-8BD8-0F3F-F17D-FD45C97D69C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89042" y="1863767"/>
            <a:ext cx="10402957" cy="499423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14032580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28BB23-54BF-2980-7B46-BEE86850A7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5D18C75-6CEC-9D15-B8BB-EC7A3DB98C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Практикум №1</a:t>
            </a:r>
            <a:r>
              <a:rPr lang="en-US" dirty="0"/>
              <a:t> </a:t>
            </a:r>
            <a:r>
              <a:rPr lang="ru-RU" dirty="0"/>
              <a:t>Строим карту нашего "Облачного файлового хранилища"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403F3359-8009-68B9-47D3-CBC18DE8ABE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lvl="0"/>
            <a:r>
              <a:rPr lang="ru-RU" sz="2400" b="1" dirty="0"/>
              <a:t>Шаг 1: Определяем нашу систему</a:t>
            </a:r>
            <a:endParaRPr lang="ru-RU" sz="2400" dirty="0"/>
          </a:p>
          <a:p>
            <a:pPr lvl="0"/>
            <a:r>
              <a:rPr lang="ru-RU" sz="2400" b="1" dirty="0"/>
              <a:t>Шаг 2: Определяем акторов - Кто взаимодействует с системой?</a:t>
            </a:r>
            <a:endParaRPr lang="ru-RU" sz="2400" dirty="0"/>
          </a:p>
          <a:p>
            <a:pPr lvl="0"/>
            <a:r>
              <a:rPr lang="ru-RU" sz="2400" b="1" dirty="0"/>
              <a:t>Шаг 3: Определяем внешние системы - С чем мы интегрируемся?</a:t>
            </a:r>
            <a:endParaRPr lang="ru-RU" sz="2400" dirty="0"/>
          </a:p>
          <a:p>
            <a:pPr lvl="0"/>
            <a:r>
              <a:rPr lang="ru-RU" sz="2400" b="1" dirty="0"/>
              <a:t>Шаг 4: Определяем взаимодействия - Что передается через границы доверия?</a:t>
            </a:r>
            <a:endParaRPr lang="ru-RU" sz="2400" dirty="0"/>
          </a:p>
          <a:p>
            <a:pPr lvl="0"/>
            <a:r>
              <a:rPr lang="ru-RU" sz="2400" b="1" dirty="0"/>
              <a:t>Подводим итог</a:t>
            </a:r>
            <a:endParaRPr lang="ru-RU" sz="2400" dirty="0"/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68951305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7C75E6A-8F33-05A7-69D9-81A410F9F7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63C31E5-76A8-8A2F-EFA8-2DEB256641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Карта готова. Теперь ищем "минные поля"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5C1BD33F-2721-FB8E-BC7A-E9C213FF72E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4967943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F04176A-07F7-3A49-FB42-ABE1F1F455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1D65121-FF19-1727-CB44-4A3CA337D7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Опросник для Контекста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3DC9BDFE-3F53-80A8-B491-891569FE7E6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ru-RU" sz="3200" dirty="0"/>
              <a:t>Кто пользователи? Доверяем ли мы ему?</a:t>
            </a:r>
          </a:p>
          <a:p>
            <a:r>
              <a:rPr lang="ru-RU" sz="3200" dirty="0"/>
              <a:t>Какие внешние системы? Как мы </a:t>
            </a:r>
            <a:r>
              <a:rPr lang="ru-RU" sz="3200" dirty="0" err="1"/>
              <a:t>аутентифируемся</a:t>
            </a:r>
            <a:r>
              <a:rPr lang="ru-RU" sz="3200" dirty="0"/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253824184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CF2068-A9B4-E7DA-6A05-96F56D901A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9598C6B-A9F8-A777-7316-18D5D8390B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Опросник для Контейнеров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C69CEFDE-494C-2464-5B51-F069AEB71D5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5801" y="2065867"/>
            <a:ext cx="10131425" cy="3649133"/>
          </a:xfrm>
        </p:spPr>
        <p:txBody>
          <a:bodyPr>
            <a:normAutofit/>
          </a:bodyPr>
          <a:lstStyle/>
          <a:p>
            <a:r>
              <a:rPr lang="ru-RU" sz="3200" b="1" dirty="0"/>
              <a:t>Протоколы? Как они общаются? </a:t>
            </a:r>
            <a:endParaRPr lang="en-US" sz="3200" b="1" dirty="0"/>
          </a:p>
          <a:p>
            <a:r>
              <a:rPr lang="ru-RU" sz="3200" b="1" dirty="0"/>
              <a:t>Где данные?</a:t>
            </a:r>
            <a:r>
              <a:rPr lang="ru-RU" sz="3200" dirty="0"/>
              <a:t> Где сама БД? Что на счёт кэша?</a:t>
            </a:r>
          </a:p>
        </p:txBody>
      </p:sp>
    </p:spTree>
    <p:extLst>
      <p:ext uri="{BB962C8B-B14F-4D97-AF65-F5344CB8AC3E}">
        <p14:creationId xmlns:p14="http://schemas.microsoft.com/office/powerpoint/2010/main" val="277494070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BAFC1D-BD19-3C70-07D3-859CC04E7E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8633BDA-F49A-F28E-CF8C-0FECCA1D32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Опросник для Компонентов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BCE517C1-6539-CB44-4323-486810F03CF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sz="3200" b="1" dirty="0"/>
              <a:t>Где валидация? Где проверка, что это не исполняемый файл?</a:t>
            </a:r>
            <a:r>
              <a:rPr lang="ru-RU" sz="3200" dirty="0"/>
              <a:t> </a:t>
            </a:r>
            <a:endParaRPr lang="en-US" sz="3200" dirty="0"/>
          </a:p>
          <a:p>
            <a:r>
              <a:rPr lang="ru-RU" sz="3200" b="1" dirty="0"/>
              <a:t>Что в логах?</a:t>
            </a:r>
            <a:r>
              <a:rPr lang="ru-RU" sz="3200" dirty="0"/>
              <a:t> 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95732710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9E9910-851A-A492-C6D0-FB3AEAEA55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976A2E6-36F6-C128-D67B-00D50FB42A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dirty="0"/>
              <a:t>Практикум №2</a:t>
            </a:r>
            <a:r>
              <a:rPr lang="en-US" dirty="0"/>
              <a:t> </a:t>
            </a:r>
            <a:r>
              <a:rPr lang="ru-RU" dirty="0"/>
              <a:t>'Ищем уязвимости' (Анализ угроз)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9DECA5BF-0D6D-1941-5FC1-C3576F31BE1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ru-RU" sz="2000" dirty="0"/>
              <a:t>Для КОНТЕКСТА (внешние взаимодействия):</a:t>
            </a:r>
          </a:p>
          <a:p>
            <a:r>
              <a:rPr lang="ru-RU" sz="2000" dirty="0"/>
              <a:t>'Как пользователь доказывает, что это именно он? Достаточно ли только пароля?'</a:t>
            </a:r>
          </a:p>
          <a:p>
            <a:r>
              <a:rPr lang="ru-RU" sz="2000" dirty="0"/>
              <a:t>'Как мы защищаем данные, когда они передаются между системой и мобильным приложением?'</a:t>
            </a:r>
          </a:p>
          <a:p>
            <a:r>
              <a:rPr lang="ru-RU" sz="2000" dirty="0"/>
              <a:t>'Что произойдет, если злоумышленник перехватит ключ API к нашему </a:t>
            </a:r>
            <a:r>
              <a:rPr lang="ru-RU" sz="2000" dirty="0" err="1"/>
              <a:t>Email</a:t>
            </a:r>
            <a:r>
              <a:rPr lang="ru-RU" sz="2000" dirty="0"/>
              <a:t>-сервису?'</a:t>
            </a:r>
          </a:p>
          <a:p>
            <a:pPr marL="0" indent="0">
              <a:buNone/>
            </a:pPr>
            <a:r>
              <a:rPr lang="ru-RU" sz="2000" dirty="0"/>
              <a:t>Для КОНТЕЙНЕРОВ (внутренние компоненты):</a:t>
            </a:r>
          </a:p>
          <a:p>
            <a:r>
              <a:rPr lang="ru-RU" sz="2000" dirty="0"/>
              <a:t>'Где хранятся файлы пользователей? Кто имеет к ним доступ?'</a:t>
            </a:r>
          </a:p>
          <a:p>
            <a:r>
              <a:rPr lang="ru-RU" sz="2000" dirty="0"/>
              <a:t>'Как общаются между собой веб-сервер и база данных? Зашифрован ли этот канал?'</a:t>
            </a:r>
          </a:p>
          <a:p>
            <a:r>
              <a:rPr lang="ru-RU" sz="2000" dirty="0"/>
              <a:t>'Где хранятся пароли пользователей? Как они защищены?'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12286510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0DF186-C90A-C7F9-9785-14CFE2E51B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EAA997E-3E46-3092-5D35-EEF9C67E5C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Проблемы найдены. Как их решить?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13D20394-0CA8-5D01-83F3-C8050A0316B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sz="3200" dirty="0"/>
              <a:t>Принцип наименьших привилегий</a:t>
            </a:r>
          </a:p>
          <a:p>
            <a:r>
              <a:rPr lang="ru-RU" sz="3200" dirty="0"/>
              <a:t>Глубина защиты (Defense </a:t>
            </a:r>
            <a:r>
              <a:rPr lang="ru-RU" sz="3200" dirty="0" err="1"/>
              <a:t>in</a:t>
            </a:r>
            <a:r>
              <a:rPr lang="ru-RU" sz="3200" dirty="0"/>
              <a:t> </a:t>
            </a:r>
            <a:r>
              <a:rPr lang="ru-RU" sz="3200" dirty="0" err="1"/>
              <a:t>Depth</a:t>
            </a:r>
            <a:r>
              <a:rPr lang="ru-RU" sz="3200" dirty="0"/>
              <a:t>)</a:t>
            </a:r>
          </a:p>
          <a:p>
            <a:r>
              <a:rPr lang="ru-RU" sz="3200" dirty="0"/>
              <a:t>Zero Trust ("Не доверяй, проверяй")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60918645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E623D8-DC93-B2EE-C77A-0CC8B2382C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34A2C0C-9A02-FB0E-914D-71EA948026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Паттерн "</a:t>
            </a:r>
            <a:r>
              <a:rPr lang="en-US" dirty="0"/>
              <a:t>API Gateway"</a:t>
            </a: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4E5575F0-3AF8-8CEB-B983-8E8F1AA7692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sz="2800" dirty="0"/>
              <a:t>Было: Схема, где клиент напрямую обращается к разным сервисам.</a:t>
            </a:r>
          </a:p>
          <a:p>
            <a:r>
              <a:rPr lang="ru-RU" sz="2800" dirty="0"/>
              <a:t>Стало: Схема, где клиент обращается к единому API Gateway, который перенаправляет запросы к сервисам.</a:t>
            </a:r>
          </a:p>
          <a:p>
            <a:r>
              <a:rPr lang="ru-RU" sz="2800" dirty="0"/>
              <a:t>Выгода: Единая точка для: Аутентификации, Авторизации, Брандмауэра WAF, Логирования.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4726264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72B1E3-BC3C-F95E-B899-CC6F8C901E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DE36FED-AB6B-B3EF-5E99-6FC178798C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Паттерн "</a:t>
            </a:r>
            <a:r>
              <a:rPr lang="en-US" dirty="0"/>
              <a:t>Service Mesh &amp; </a:t>
            </a:r>
            <a:r>
              <a:rPr lang="en-US" dirty="0" err="1"/>
              <a:t>mTLS</a:t>
            </a:r>
            <a:r>
              <a:rPr lang="en-US" dirty="0"/>
              <a:t>"</a:t>
            </a: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D166F2DE-F91D-F57E-B93C-4FC14F5E0E9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sz="2800" dirty="0"/>
              <a:t>Было: Схема связи между сервисами с подписью "HTTP (открытый текст)".</a:t>
            </a:r>
          </a:p>
          <a:p>
            <a:r>
              <a:rPr lang="ru-RU" sz="2800" dirty="0"/>
              <a:t>Стало: Схема, где между каждыми двумя сервисами находится </a:t>
            </a:r>
            <a:r>
              <a:rPr lang="ru-RU" sz="2800" dirty="0" err="1"/>
              <a:t>Sidecar</a:t>
            </a:r>
            <a:r>
              <a:rPr lang="ru-RU" sz="2800" dirty="0"/>
              <a:t>-прокси, а связь подписана "</a:t>
            </a:r>
            <a:r>
              <a:rPr lang="ru-RU" sz="2800" dirty="0" err="1"/>
              <a:t>mTLS</a:t>
            </a:r>
            <a:r>
              <a:rPr lang="ru-RU" sz="2800" dirty="0"/>
              <a:t> (зашифровано)".</a:t>
            </a:r>
          </a:p>
          <a:p>
            <a:r>
              <a:rPr lang="ru-RU" sz="2800" dirty="0"/>
              <a:t>Выгода: Сквозное шифрование, контроль доступа "сервис-сервис".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21457559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45B22A-E02C-5085-AE0D-EF66F1786B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5890633-E7CC-4183-EF74-0A6D4D290C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Паттерн "</a:t>
            </a:r>
            <a:r>
              <a:rPr lang="en-US" dirty="0"/>
              <a:t>Secrets Management" (Vault)</a:t>
            </a: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EFC1BF02-283B-6955-9D2A-597953F999A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sz="2800" dirty="0"/>
              <a:t>Проблема: Иконка ключа в конфиг-файле с красным крестом.</a:t>
            </a:r>
          </a:p>
          <a:p>
            <a:r>
              <a:rPr lang="ru-RU" sz="2800" dirty="0"/>
              <a:t>Решение: Иконка сервиса (</a:t>
            </a:r>
            <a:r>
              <a:rPr lang="ru-RU" sz="2800" dirty="0" err="1"/>
              <a:t>HashiCorp</a:t>
            </a:r>
            <a:r>
              <a:rPr lang="ru-RU" sz="2800" dirty="0"/>
              <a:t> </a:t>
            </a:r>
            <a:r>
              <a:rPr lang="ru-RU" sz="2800" dirty="0" err="1"/>
              <a:t>Vault</a:t>
            </a:r>
            <a:r>
              <a:rPr lang="ru-RU" sz="2800" dirty="0"/>
              <a:t>), от которого ключи "выдаются по запросу" сервисам.</a:t>
            </a:r>
          </a:p>
          <a:p>
            <a:r>
              <a:rPr lang="ru-RU" sz="2800" dirty="0"/>
              <a:t>Выгода: Никаких </a:t>
            </a:r>
            <a:r>
              <a:rPr lang="ru-RU" sz="2800" dirty="0" err="1"/>
              <a:t>хардкод</a:t>
            </a:r>
            <a:r>
              <a:rPr lang="ru-RU" sz="2800" dirty="0"/>
              <a:t>-секретов, централизованный аудит и ротация.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27796701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964187-AEC2-7678-1C26-03311A325C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1F4AF19-ACE9-FEC7-7872-0604CF270B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Принцип "Сетевой сегментации"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E6925C30-86E3-3D10-9C95-9BB3C4A0732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sz="2800" dirty="0"/>
              <a:t>Было: Одна общая сеть, где веб-сервер, БД и кэш "видят" друг друга.</a:t>
            </a:r>
          </a:p>
          <a:p>
            <a:r>
              <a:rPr lang="ru-RU" sz="2800" dirty="0"/>
              <a:t>Стало: Схема с тремя "полочками" (сетями): Публичная, Служебная (DMZ), Приватная. БД находится в Приватной сети.</a:t>
            </a:r>
          </a:p>
          <a:p>
            <a:r>
              <a:rPr lang="ru-RU" sz="2800" dirty="0"/>
              <a:t>Выгода: Изоляция критичных компонентов.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79522006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37E229-25DA-D646-1A19-79CDDB0076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ED60596-7A8B-148F-E328-2E9FF924F1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Итоговая архитектура защиты</a:t>
            </a:r>
          </a:p>
        </p:txBody>
      </p:sp>
    </p:spTree>
    <p:extLst>
      <p:ext uri="{BB962C8B-B14F-4D97-AF65-F5344CB8AC3E}">
        <p14:creationId xmlns:p14="http://schemas.microsoft.com/office/powerpoint/2010/main" val="182164567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B0041F-16CC-F070-F2DF-2FC2B63C2D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44025CF-21B9-12C9-B325-146E86D3D3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Практикум №3 Модернизируем наше "Файловое хранилище"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228F1894-6B6C-3EB6-A9F4-3E7EC38948C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sz="3200" dirty="0"/>
              <a:t>Задача: "Используя изученные паттерны, предложите архитектурные изменения для устранения уязвимостей".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34442233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A45F24-13F5-A48D-F684-931E96F1A3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3639F9A-8543-F102-A987-20447767FC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Ключевые выводы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99545912-ED3E-4477-0197-E9DAD51AAD3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342900" indent="-342900">
              <a:buFont typeface="+mj-lt"/>
              <a:buAutoNum type="arabicPeriod"/>
            </a:pPr>
            <a:r>
              <a:rPr lang="ru-RU" sz="3200" dirty="0"/>
              <a:t>C4 — это карта. Без нее анализ безопасности вслепую неэффективен.</a:t>
            </a:r>
          </a:p>
          <a:p>
            <a:pPr marL="342900" indent="-342900">
              <a:buFont typeface="+mj-lt"/>
              <a:buAutoNum type="arabicPeriod"/>
            </a:pPr>
            <a:r>
              <a:rPr lang="ru-RU" sz="3200" dirty="0"/>
              <a:t>Безопасность проектируется, а не добавляется. Заложите ее в основу.</a:t>
            </a:r>
          </a:p>
          <a:p>
            <a:pPr marL="342900" indent="-342900">
              <a:buFont typeface="+mj-lt"/>
              <a:buAutoNum type="arabicPeriod"/>
            </a:pPr>
            <a:r>
              <a:rPr lang="ru-RU" sz="3200" dirty="0"/>
              <a:t>Используйте паттерны. Не изобретайте велосипед для стандартных угроз.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38224788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Небесная">
  <a:themeElements>
    <a:clrScheme name="Небесная">
      <a:dk1>
        <a:sysClr val="windowText" lastClr="000000"/>
      </a:dk1>
      <a:lt1>
        <a:sysClr val="window" lastClr="FFFFFF"/>
      </a:lt1>
      <a:dk2>
        <a:srgbClr val="18276C"/>
      </a:dk2>
      <a:lt2>
        <a:srgbClr val="EBEBEB"/>
      </a:lt2>
      <a:accent1>
        <a:srgbClr val="AC3EC1"/>
      </a:accent1>
      <a:accent2>
        <a:srgbClr val="477BD1"/>
      </a:accent2>
      <a:accent3>
        <a:srgbClr val="46B298"/>
      </a:accent3>
      <a:accent4>
        <a:srgbClr val="90BA4C"/>
      </a:accent4>
      <a:accent5>
        <a:srgbClr val="DD9D31"/>
      </a:accent5>
      <a:accent6>
        <a:srgbClr val="E25247"/>
      </a:accent6>
      <a:hlink>
        <a:srgbClr val="C573D2"/>
      </a:hlink>
      <a:folHlink>
        <a:srgbClr val="CCAEE8"/>
      </a:folHlink>
    </a:clrScheme>
    <a:fontScheme name="Небесная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Небесная">
      <a:fillStyleLst>
        <a:solidFill>
          <a:schemeClr val="phClr"/>
        </a:solidFill>
        <a:gradFill rotWithShape="1">
          <a:gsLst>
            <a:gs pos="0">
              <a:schemeClr val="phClr">
                <a:tint val="70000"/>
                <a:lumMod val="110000"/>
              </a:schemeClr>
            </a:gs>
            <a:gs pos="100000">
              <a:schemeClr val="phClr">
                <a:tint val="82000"/>
                <a:alpha val="74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00000"/>
              </a:schemeClr>
            </a:gs>
            <a:gs pos="100000">
              <a:schemeClr val="phClr">
                <a:shade val="88000"/>
                <a:lumMod val="88000"/>
              </a:schemeClr>
            </a:gs>
          </a:gsLst>
          <a:lin ang="5400000" scaled="1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5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38100" h="127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shade val="96000"/>
                <a:hueMod val="100000"/>
                <a:satMod val="180000"/>
                <a:lumMod val="110000"/>
              </a:schemeClr>
            </a:gs>
            <a:gs pos="100000">
              <a:schemeClr val="phClr">
                <a:shade val="96000"/>
                <a:satMod val="160000"/>
                <a:lumMod val="100000"/>
              </a:schemeClr>
            </a:gs>
          </a:gsLst>
          <a:lin ang="4740000" scaled="1"/>
        </a:gradFill>
        <a:blipFill>
          <a:blip xmlns:r="http://schemas.openxmlformats.org/officeDocument/2006/relationships" r:embed="rId1"/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elestial" id="{C4BB2A3D-0E93-4C5F-B0D2-9D3FCE089CC5}" vid="{42E5908D-19A2-46FD-89FA-638B126129EF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Небесная</Template>
  <TotalTime>351</TotalTime>
  <Words>864</Words>
  <Application>Microsoft Office PowerPoint</Application>
  <PresentationFormat>Широкоэкранный</PresentationFormat>
  <Paragraphs>98</Paragraphs>
  <Slides>22</Slides>
  <Notes>22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22</vt:i4>
      </vt:variant>
    </vt:vector>
  </HeadingPairs>
  <TitlesOfParts>
    <vt:vector size="26" baseType="lpstr">
      <vt:lpstr>Arial</vt:lpstr>
      <vt:lpstr>Calibri</vt:lpstr>
      <vt:lpstr>Calibri Light</vt:lpstr>
      <vt:lpstr>Небесная</vt:lpstr>
      <vt:lpstr> Анализ архитектуры с точки зрения ИБ</vt:lpstr>
      <vt:lpstr>Архитектурный  провал</vt:lpstr>
      <vt:lpstr>Презентация PowerPoint</vt:lpstr>
      <vt:lpstr>План лекции</vt:lpstr>
      <vt:lpstr>Что такое C4-модель?</vt:lpstr>
      <vt:lpstr> Уровень К онтекста</vt:lpstr>
      <vt:lpstr>Уровень  Контейнеров</vt:lpstr>
      <vt:lpstr>Уровень Компонентов</vt:lpstr>
      <vt:lpstr>Практикум №1 Строим карту нашего "Облачного файлового хранилища"</vt:lpstr>
      <vt:lpstr>Карта готова. Теперь ищем "минные поля"</vt:lpstr>
      <vt:lpstr>Опросник для Контекста</vt:lpstr>
      <vt:lpstr>Опросник для Контейнеров</vt:lpstr>
      <vt:lpstr>Опросник для Компонентов</vt:lpstr>
      <vt:lpstr>Практикум №2 'Ищем уязвимости' (Анализ угроз)</vt:lpstr>
      <vt:lpstr>Проблемы найдены. Как их решить?</vt:lpstr>
      <vt:lpstr>Паттерн "API Gateway"</vt:lpstr>
      <vt:lpstr>Паттерн "Service Mesh &amp; mTLS"</vt:lpstr>
      <vt:lpstr>Паттерн "Secrets Management" (Vault)</vt:lpstr>
      <vt:lpstr>Принцип "Сетевой сегментации"</vt:lpstr>
      <vt:lpstr>Итоговая архитектура защиты</vt:lpstr>
      <vt:lpstr>Практикум №3 Модернизируем наше "Файловое хранилище"</vt:lpstr>
      <vt:lpstr>Ключевые выводы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Татьяна Маркина</dc:creator>
  <cp:lastModifiedBy>Татьяна Маркина</cp:lastModifiedBy>
  <cp:revision>37</cp:revision>
  <dcterms:created xsi:type="dcterms:W3CDTF">2025-09-10T15:27:31Z</dcterms:created>
  <dcterms:modified xsi:type="dcterms:W3CDTF">2025-11-13T05:08:40Z</dcterms:modified>
</cp:coreProperties>
</file>