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7"/>
  </p:notesMasterIdLst>
  <p:handoutMasterIdLst>
    <p:handoutMasterId r:id="rId8"/>
  </p:handoutMasterIdLst>
  <p:sldIdLst>
    <p:sldId id="265" r:id="rId2"/>
    <p:sldId id="325" r:id="rId3"/>
    <p:sldId id="258" r:id="rId4"/>
    <p:sldId id="324" r:id="rId5"/>
    <p:sldId id="263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1" autoAdjust="0"/>
    <p:restoredTop sz="89228" autoAdjust="0"/>
  </p:normalViewPr>
  <p:slideViewPr>
    <p:cSldViewPr snapToGrid="0" snapToObjects="1" showGuides="1">
      <p:cViewPr varScale="1">
        <p:scale>
          <a:sx n="79" d="100"/>
          <a:sy n="79" d="100"/>
        </p:scale>
        <p:origin x="566" y="6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19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Актуальность работы обусловлена активным развитием проектов на основе графов знаний и Semantic Web, что требует новых подходов к хранению семантически связанных данных.</a:t>
            </a:r>
          </a:p>
          <a:p>
            <a:endParaRPr lang="ru-RU" dirty="0" smtClean="0"/>
          </a:p>
          <a:p>
            <a:r>
              <a:rPr lang="ru-RU" dirty="0" smtClean="0"/>
              <a:t>Современные информационные системы переходят от хранения изолированных записей к анализу связей между ними. Это требует использования семантических моделей данных.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 smtClean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Существующие распределенные решения имеют архитектурные ограничения. Протокол RDF</a:t>
            </a:r>
            <a:r>
              <a:rPr lang="en-US" dirty="0" smtClean="0"/>
              <a:t> (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Description Framework</a:t>
            </a:r>
            <a:r>
              <a:rPr lang="en-US" dirty="0" smtClean="0"/>
              <a:t>)</a:t>
            </a:r>
            <a:r>
              <a:rPr lang="ru-RU" dirty="0" smtClean="0"/>
              <a:t> изначально не проектировался для распределенной среды, поэтому наивное шардирование приводит к неэффективности: либо к дисбалансу нагрузки из-за "горячих" предикатов, либо к избыточным сетевым взаимодействиям, так как обработка </a:t>
            </a:r>
            <a:r>
              <a:rPr lang="ru-RU" sz="1200" dirty="0" smtClean="0">
                <a:latin typeface="+mn-lt"/>
              </a:rPr>
              <a:t>семантических запросов в распределенной среде принципиально сложнее, чем </a:t>
            </a:r>
            <a:r>
              <a:rPr lang="ru-RU" sz="1200" dirty="0" err="1" smtClean="0">
                <a:latin typeface="+mn-lt"/>
              </a:rPr>
              <a:t>key</a:t>
            </a:r>
            <a:r>
              <a:rPr lang="ru-RU" sz="1200" dirty="0" smtClean="0">
                <a:latin typeface="+mn-lt"/>
              </a:rPr>
              <a:t>-value запросов.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Возникает задача</a:t>
            </a:r>
            <a:r>
              <a:rPr lang="ru-RU" baseline="0" dirty="0" smtClean="0"/>
              <a:t> </a:t>
            </a:r>
            <a:r>
              <a:rPr lang="ru-RU" dirty="0" smtClean="0"/>
              <a:t>разработка адаптивной стратегии размещения данных в кластере, которая учитывала бы структуру графа и специфику семантических запросов, </a:t>
            </a:r>
            <a:r>
              <a:rPr lang="ru-RU" dirty="0" err="1" smtClean="0"/>
              <a:t>минимизируя</a:t>
            </a:r>
            <a:r>
              <a:rPr lang="ru-RU" dirty="0" smtClean="0"/>
              <a:t> накладные расходы на коммуникацию между узлами, что и определяет актуальность моей работы.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82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Таким образом, можно сказать, что на данный момент не существует решения, полностью удовлетворяющего необходимым критериям.</a:t>
            </a:r>
            <a:br>
              <a:rPr lang="ru-RU" dirty="0" smtClean="0"/>
            </a:br>
            <a:r>
              <a:rPr lang="ru-RU" dirty="0" smtClean="0"/>
              <a:t>Задачи перечислены на слайде.</a:t>
            </a:r>
            <a:br>
              <a:rPr lang="ru-RU" dirty="0" smtClean="0"/>
            </a:br>
            <a:endParaRPr lang="ru-RU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Ключевая цель работы — не просто разработать еще одно хранилище, а доказать, что оно работает так, как задумано. А именно: подтвердить на практике, что производительность растет линейно при добавлении узлов, и что данные не теряются при сбоях.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Аналитический: разобраться, почему существующие решения плохо масштабируются, и сформулировать требования к новому.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Проектирование и разработка: спроектировать архитектуру, написать код прототипа и сразу закладывать тестирование — целевой уровень покрытия 70 процентов.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Экспериментальный: проверить прототип под нагрузкой, устроить ему отказы узлов и честно сравнить результаты с тем, что есть у аналогов.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Ожидаемый результат - работающий код и документация, чтобы любой мог развернуть кластер одной командой.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 smtClean="0"/>
          </a:p>
        </p:txBody>
      </p:sp>
      <p:sp>
        <p:nvSpPr>
          <p:cNvPr id="149" name="Google Shape;1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7367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Коротко о текущем прогрессе.</a:t>
            </a:r>
          </a:p>
          <a:p>
            <a:endParaRPr lang="ru-RU" dirty="0" smtClean="0"/>
          </a:p>
          <a:p>
            <a:r>
              <a:rPr lang="ru-RU" dirty="0" smtClean="0"/>
              <a:t>Были проведены</a:t>
            </a:r>
            <a:r>
              <a:rPr lang="ru-RU" baseline="0" dirty="0" smtClean="0"/>
              <a:t> </a:t>
            </a:r>
            <a:r>
              <a:rPr lang="ru-RU" dirty="0" smtClean="0"/>
              <a:t>анализ аналогов, сформулированы</a:t>
            </a:r>
            <a:r>
              <a:rPr lang="ru-RU" baseline="0" dirty="0" smtClean="0"/>
              <a:t> </a:t>
            </a:r>
            <a:r>
              <a:rPr lang="ru-RU" dirty="0" smtClean="0"/>
              <a:t>требования, определился с технологиями и целевыми алгоритмами. Архитектура и модель хранения</a:t>
            </a:r>
            <a:r>
              <a:rPr lang="ru-RU" baseline="0" dirty="0" smtClean="0"/>
              <a:t> определены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Сейчас в активной фазе разработка одноузлового ядра. Модуль кластеризации, репликация и распределенные запросы — следующие в очереди.</a:t>
            </a:r>
          </a:p>
          <a:p>
            <a:endParaRPr lang="ru-RU" dirty="0" smtClean="0"/>
          </a:p>
          <a:p>
            <a:r>
              <a:rPr lang="ru-RU" dirty="0" smtClean="0"/>
              <a:t>Тестирование и документация — впереди. Модульные тесты, нагрузка и оформление текста работы запланированы на апрель-май.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84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 smtClean="0"/>
              <a:t>Спасибо</a:t>
            </a:r>
            <a:r>
              <a:rPr lang="ru-RU" sz="1200" baseline="0" dirty="0" smtClean="0"/>
              <a:t> </a:t>
            </a:r>
            <a:r>
              <a:rPr lang="ru-RU" sz="1200" dirty="0" smtClean="0"/>
              <a:t>за внимание!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6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xmlns="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xmlns="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xmlns="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xmlns="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xmlns="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xmlns="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xmlns="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xmlns="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xmlns="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xmlns="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xmlns="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xmlns="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xmlns="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xmlns="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xmlns="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xmlns="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xmlns="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xmlns="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xmlns="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xmlns="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xmlns="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xmlns="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xmlns="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xmlns="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xmlns="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xmlns="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xmlns="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xmlns="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xmlns="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xmlns="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xmlns="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xmlns="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xmlns="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xmlns="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xmlns="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xmlns="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xmlns="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xmlns="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xmlns="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xmlns="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xmlns="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xmlns="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xmlns="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xmlns="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xmlns="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xmlns="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xmlns="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xmlns="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1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102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  <p:sldLayoutId id="2147483895" r:id="rId23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;p1">
            <a:extLst>
              <a:ext uri="{FF2B5EF4-FFF2-40B4-BE49-F238E27FC236}">
                <a16:creationId xmlns:a16="http://schemas.microsoft.com/office/drawing/2014/main" xmlns="" id="{C3D82DBF-6F79-0206-B514-A06D4A62DA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chemeClr val="lt1"/>
              </a:buClr>
              <a:buSzPts val="4400"/>
            </a:pPr>
            <a:r>
              <a:rPr lang="ru-RU" sz="2500" dirty="0">
                <a:solidFill>
                  <a:schemeClr val="lt1"/>
                </a:solidFill>
              </a:rPr>
              <a:t>Проектирование и разработка распределённого хранилища данных для семантической сети</a:t>
            </a:r>
            <a:endParaRPr sz="2500" dirty="0">
              <a:solidFill>
                <a:schemeClr val="lt1"/>
              </a:solidFill>
            </a:endParaRPr>
          </a:p>
        </p:txBody>
      </p:sp>
      <p:sp>
        <p:nvSpPr>
          <p:cNvPr id="6" name="Google Shape;137;p1">
            <a:extLst>
              <a:ext uri="{FF2B5EF4-FFF2-40B4-BE49-F238E27FC236}">
                <a16:creationId xmlns:a16="http://schemas.microsoft.com/office/drawing/2014/main" xmlns="" id="{691074F7-9535-9364-6A64-4A946298013D}"/>
              </a:ext>
            </a:extLst>
          </p:cNvPr>
          <p:cNvSpPr txBox="1"/>
          <p:nvPr/>
        </p:nvSpPr>
        <p:spPr>
          <a:xfrm>
            <a:off x="5293522" y="3589110"/>
            <a:ext cx="37587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FFFFF"/>
                </a:solidFill>
              </a:rPr>
              <a:t> Выполнил: </a:t>
            </a:r>
            <a:r>
              <a:rPr lang="ru-RU" sz="1200" dirty="0" smtClean="0">
                <a:solidFill>
                  <a:srgbClr val="FFFFFF"/>
                </a:solidFill>
              </a:rPr>
              <a:t>Барсуков </a:t>
            </a:r>
            <a:r>
              <a:rPr lang="ru-RU" sz="1200" dirty="0" smtClean="0">
                <a:solidFill>
                  <a:srgbClr val="FFFFFF"/>
                </a:solidFill>
              </a:rPr>
              <a:t>М</a:t>
            </a:r>
            <a:r>
              <a:rPr lang="ru-RU" sz="1200" dirty="0" smtClean="0">
                <a:solidFill>
                  <a:srgbClr val="FFFFFF"/>
                </a:solidFill>
              </a:rPr>
              <a:t>.А. P3415</a:t>
            </a:r>
            <a:endParaRPr sz="1200" dirty="0">
              <a:solidFill>
                <a:srgbClr val="FFFFFF"/>
              </a:solidFill>
            </a:endParaRPr>
          </a:p>
          <a:p>
            <a:pPr lvl="0" algn="r">
              <a:lnSpc>
                <a:spcPct val="150000"/>
              </a:lnSpc>
            </a:pPr>
            <a:r>
              <a:rPr lang="ru-RU" sz="1200" dirty="0">
                <a:solidFill>
                  <a:srgbClr val="FFFFFF"/>
                </a:solidFill>
              </a:rPr>
              <a:t>Руководитель: </a:t>
            </a:r>
            <a:r>
              <a:rPr lang="ru-RU" sz="1200" dirty="0">
                <a:solidFill>
                  <a:srgbClr val="FFFFFF"/>
                </a:solidFill>
              </a:rPr>
              <a:t>Цопа </a:t>
            </a:r>
            <a:r>
              <a:rPr lang="ru-RU" sz="1200" dirty="0" smtClean="0">
                <a:solidFill>
                  <a:srgbClr val="FFFFFF"/>
                </a:solidFill>
              </a:rPr>
              <a:t>Е.А</a:t>
            </a:r>
            <a:r>
              <a:rPr lang="ru-RU" sz="1200" dirty="0">
                <a:solidFill>
                  <a:srgbClr val="FFFFFF"/>
                </a:solidFill>
              </a:rPr>
              <a:t>.</a:t>
            </a:r>
            <a:endParaRPr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Актуальность работы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7E95D14C-0749-B366-DF60-831456AD6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6381" y="1028272"/>
            <a:ext cx="5875610" cy="3834184"/>
          </a:xfrm>
        </p:spPr>
        <p:txBody>
          <a:bodyPr>
            <a:normAutofit/>
          </a:bodyPr>
          <a:lstStyle/>
          <a:p>
            <a:r>
              <a:rPr lang="ru-RU" sz="1400" dirty="0" smtClean="0">
                <a:latin typeface="+mn-lt"/>
              </a:rPr>
              <a:t>Активное развитие проектов на основе графов знаний, Semantic Web и Linked Open Data требует новых подходов к хранению.</a:t>
            </a:r>
            <a:endParaRPr lang="en-US" sz="1400" dirty="0" smtClean="0">
              <a:latin typeface="+mn-lt"/>
            </a:endParaRPr>
          </a:p>
          <a:p>
            <a:endParaRPr lang="ru-RU" sz="1400" dirty="0">
              <a:latin typeface="+mn-lt"/>
            </a:endParaRPr>
          </a:p>
          <a:p>
            <a:r>
              <a:rPr lang="ru-RU" sz="1400" b="1" dirty="0">
                <a:latin typeface="+mn-lt"/>
              </a:rPr>
              <a:t>Ограничения существующих решений</a:t>
            </a:r>
            <a:r>
              <a:rPr lang="ru-RU" sz="1400" b="1" dirty="0" smtClean="0">
                <a:latin typeface="+mn-lt"/>
              </a:rPr>
              <a:t>:</a:t>
            </a:r>
            <a:endParaRPr lang="ru-RU" sz="1400" b="1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+mn-lt"/>
              </a:rPr>
              <a:t>Neo4j (Community): Не поддерживает шардирование </a:t>
            </a:r>
            <a:r>
              <a:rPr lang="ru-RU" sz="1400" dirty="0" smtClean="0">
                <a:latin typeface="+mn-lt"/>
              </a:rPr>
              <a:t>«из коробки», </a:t>
            </a:r>
            <a:r>
              <a:rPr lang="ru-RU" sz="1400" dirty="0">
                <a:latin typeface="+mn-lt"/>
              </a:rPr>
              <a:t>что ограничивает горизонтальное масштабирование</a:t>
            </a:r>
            <a:r>
              <a:rPr lang="ru-RU" sz="1400" dirty="0" smtClean="0">
                <a:latin typeface="+mn-lt"/>
              </a:rPr>
              <a:t>.</a:t>
            </a:r>
            <a:endParaRPr lang="ru-RU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err="1" smtClean="0">
                <a:latin typeface="+mn-lt"/>
              </a:rPr>
              <a:t>Apache</a:t>
            </a:r>
            <a:r>
              <a:rPr lang="ru-RU" sz="1400" dirty="0" smtClean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Jena</a:t>
            </a:r>
            <a:r>
              <a:rPr lang="ru-RU" sz="1400" dirty="0">
                <a:latin typeface="+mn-lt"/>
              </a:rPr>
              <a:t> (</a:t>
            </a:r>
            <a:r>
              <a:rPr lang="ru-RU" sz="1400" dirty="0" err="1">
                <a:latin typeface="+mn-lt"/>
              </a:rPr>
              <a:t>Fuseki</a:t>
            </a:r>
            <a:r>
              <a:rPr lang="ru-RU" sz="1400" dirty="0">
                <a:latin typeface="+mn-lt"/>
              </a:rPr>
              <a:t>): </a:t>
            </a:r>
            <a:r>
              <a:rPr lang="ru-RU" sz="1400" dirty="0" smtClean="0">
                <a:latin typeface="+mn-lt"/>
              </a:rPr>
              <a:t>Фиксированное </a:t>
            </a:r>
            <a:r>
              <a:rPr lang="ru-RU" sz="1400" dirty="0">
                <a:latin typeface="+mn-lt"/>
              </a:rPr>
              <a:t>партиционирование → дисбаланс нагрузки при росте данных</a:t>
            </a:r>
            <a:r>
              <a:rPr lang="ru-RU" sz="1400" dirty="0" smtClean="0">
                <a:latin typeface="+mn-lt"/>
              </a:rPr>
              <a:t>.</a:t>
            </a:r>
            <a:endParaRPr lang="ru-RU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n-lt"/>
              </a:rPr>
              <a:t>Virtuoso</a:t>
            </a:r>
            <a:r>
              <a:rPr lang="en-US" sz="1400" dirty="0">
                <a:latin typeface="+mn-lt"/>
              </a:rPr>
              <a:t> Cluster</a:t>
            </a:r>
            <a:r>
              <a:rPr lang="ru-RU" sz="1400" dirty="0" smtClean="0">
                <a:latin typeface="+mn-lt"/>
              </a:rPr>
              <a:t>: </a:t>
            </a:r>
            <a:r>
              <a:rPr lang="ru-RU" sz="1400" dirty="0">
                <a:latin typeface="+mn-lt"/>
              </a:rPr>
              <a:t>Предикатное шардирование → перегрузка узлов </a:t>
            </a:r>
            <a:r>
              <a:rPr lang="ru-RU" sz="1400">
                <a:latin typeface="+mn-lt"/>
              </a:rPr>
              <a:t>с </a:t>
            </a:r>
            <a:r>
              <a:rPr lang="ru-RU" sz="1400" smtClean="0">
                <a:latin typeface="+mn-lt"/>
              </a:rPr>
              <a:t>«горячими» </a:t>
            </a:r>
            <a:r>
              <a:rPr lang="ru-RU" sz="1400" dirty="0">
                <a:latin typeface="+mn-lt"/>
              </a:rPr>
              <a:t>предикатами</a:t>
            </a:r>
            <a:r>
              <a:rPr lang="ru-RU" sz="1400" dirty="0" smtClean="0">
                <a:latin typeface="+mn-lt"/>
              </a:rPr>
              <a:t>.</a:t>
            </a:r>
            <a:endParaRPr lang="en-US" sz="1400" dirty="0" smtClean="0">
              <a:latin typeface="+mn-lt"/>
            </a:endParaRPr>
          </a:p>
          <a:p>
            <a:endParaRPr lang="ru-RU" sz="1400" dirty="0">
              <a:latin typeface="+mn-lt"/>
            </a:endParaRPr>
          </a:p>
          <a:p>
            <a:r>
              <a:rPr lang="ru-RU" sz="1400" b="1" dirty="0" smtClean="0">
                <a:latin typeface="+mn-lt"/>
              </a:rPr>
              <a:t>Проблема</a:t>
            </a:r>
            <a:r>
              <a:rPr lang="ru-RU" sz="1400" b="1" dirty="0">
                <a:latin typeface="+mn-lt"/>
              </a:rPr>
              <a:t>:</a:t>
            </a:r>
            <a:r>
              <a:rPr lang="ru-RU" sz="1400" dirty="0">
                <a:latin typeface="+mn-lt"/>
              </a:rPr>
              <a:t> Противоречие между необходимостью горизонтального масштабирования семантических данных и отсутствием эффективных механизмов распределения RDF-графов, сохраняющих локальность связанных данных для минимизации межузлового трафика</a:t>
            </a:r>
            <a:r>
              <a:rPr lang="ru-RU" sz="1400" dirty="0" smtClean="0">
                <a:latin typeface="+mn-lt"/>
              </a:rPr>
              <a:t>.</a:t>
            </a:r>
            <a:endParaRPr lang="ru-RU" sz="1400" dirty="0">
              <a:latin typeface="+mn-lt"/>
            </a:endParaRPr>
          </a:p>
        </p:txBody>
      </p:sp>
      <p:pic>
        <p:nvPicPr>
          <p:cNvPr id="6" name="Google Shape;145;p5">
            <a:extLst>
              <a:ext uri="{FF2B5EF4-FFF2-40B4-BE49-F238E27FC236}">
                <a16:creationId xmlns:a16="http://schemas.microsoft.com/office/drawing/2014/main" xmlns="" id="{B0755F96-EF25-A936-2720-BCA4C3F623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56" y="1212284"/>
            <a:ext cx="1778949" cy="183213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54;p2">
            <a:extLst>
              <a:ext uri="{FF2B5EF4-FFF2-40B4-BE49-F238E27FC236}">
                <a16:creationId xmlns:a16="http://schemas.microsoft.com/office/drawing/2014/main" xmlns="" id="{333DD8A0-350B-A880-E9D2-1C0181D26C13}"/>
              </a:ext>
            </a:extLst>
          </p:cNvPr>
          <p:cNvSpPr txBox="1"/>
          <p:nvPr/>
        </p:nvSpPr>
        <p:spPr>
          <a:xfrm>
            <a:off x="8722700" y="4616250"/>
            <a:ext cx="33281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latin typeface="Golos Text DemiBold" panose="020B0703020202020204"/>
                <a:ea typeface="Golos Text"/>
                <a:cs typeface="Golos Text"/>
                <a:sym typeface="Golos Text"/>
              </a:rPr>
              <a:t>2</a:t>
            </a:r>
            <a:endParaRPr sz="2000" dirty="0">
              <a:latin typeface="Golos Text DemiBold" panose="020B0703020202020204"/>
              <a:ea typeface="Golos Text"/>
              <a:cs typeface="Golos Text"/>
              <a:sym typeface="Golos Text"/>
            </a:endParaRPr>
          </a:p>
        </p:txBody>
      </p:sp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"/>
          <p:cNvSpPr txBox="1">
            <a:spLocks noGrp="1"/>
          </p:cNvSpPr>
          <p:nvPr>
            <p:ph type="body" idx="1"/>
          </p:nvPr>
        </p:nvSpPr>
        <p:spPr>
          <a:xfrm>
            <a:off x="590718" y="1099809"/>
            <a:ext cx="6527837" cy="36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ru-RU" sz="1250" b="1" dirty="0" smtClean="0">
                <a:latin typeface="+mn-lt"/>
              </a:rPr>
              <a:t>Цель:</a:t>
            </a:r>
            <a:r>
              <a:rPr lang="ru-RU" sz="1250" dirty="0" smtClean="0">
                <a:latin typeface="+mn-lt"/>
              </a:rPr>
              <a:t> Разработать </a:t>
            </a:r>
            <a:r>
              <a:rPr lang="ru-RU" sz="1250" dirty="0">
                <a:latin typeface="+mn-lt"/>
              </a:rPr>
              <a:t>и экспериментально подтвердить, что прототип распределенного хранилища обеспечивает линейное масштабирование </a:t>
            </a:r>
            <a:r>
              <a:rPr lang="ru-RU" sz="1250" dirty="0" smtClean="0">
                <a:latin typeface="+mn-lt"/>
              </a:rPr>
              <a:t>производительности (пропускная способность </a:t>
            </a:r>
            <a:r>
              <a:rPr lang="ru-RU" sz="1250" dirty="0">
                <a:latin typeface="+mn-lt"/>
              </a:rPr>
              <a:t>запросов) при добавлении узлов кластера и сохранность данных при отказах узлов</a:t>
            </a:r>
            <a:r>
              <a:rPr lang="ru-RU" sz="1250" dirty="0" smtClean="0">
                <a:latin typeface="+mn-lt"/>
              </a:rPr>
              <a:t>.</a:t>
            </a:r>
            <a:endParaRPr sz="1250" b="1" dirty="0">
              <a:solidFill>
                <a:srgbClr val="2C2D2E"/>
              </a:solidFill>
              <a:latin typeface="+mn-lt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rgbClr val="2C2D2E"/>
              </a:buClr>
              <a:buSzPts val="1400"/>
              <a:buFont typeface="Arial"/>
              <a:buNone/>
            </a:pPr>
            <a:r>
              <a:rPr lang="ru-RU" sz="1250" b="1" dirty="0">
                <a:solidFill>
                  <a:srgbClr val="2C2D2E"/>
                </a:solidFill>
                <a:latin typeface="+mn-lt"/>
              </a:rPr>
              <a:t>Задачи:</a:t>
            </a:r>
            <a:endParaRPr sz="1250" dirty="0">
              <a:latin typeface="+mn-lt"/>
              <a:ea typeface="Arial"/>
              <a:cs typeface="Arial"/>
              <a:sym typeface="Arial"/>
            </a:endParaRPr>
          </a:p>
          <a:p>
            <a:pPr marL="285750" indent="-285750">
              <a:spcBef>
                <a:spcPts val="280"/>
              </a:spcBef>
              <a:buSzPts val="1700"/>
              <a:buFont typeface="Arial" panose="020B0604020202020204" pitchFamily="34" charset="0"/>
              <a:buChar char="•"/>
            </a:pPr>
            <a:r>
              <a:rPr lang="ru-RU" sz="1250" dirty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Проанализировать существующие подходы к распределенному хранению RDF-данных, выявить их архитектурные ограничения</a:t>
            </a:r>
            <a:r>
              <a:rPr lang="ru-RU" sz="1250" dirty="0" smtClean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.</a:t>
            </a:r>
            <a:endParaRPr lang="ru-RU" sz="1250" dirty="0">
              <a:highlight>
                <a:srgbClr val="FFFFFF"/>
              </a:highlight>
              <a:latin typeface="+mn-lt"/>
              <a:ea typeface="Arial"/>
              <a:cs typeface="Arial"/>
              <a:sym typeface="Arial"/>
            </a:endParaRPr>
          </a:p>
          <a:p>
            <a:pPr marL="285750" indent="-285750">
              <a:spcBef>
                <a:spcPts val="280"/>
              </a:spcBef>
              <a:buSzPts val="1700"/>
              <a:buFont typeface="Arial" panose="020B0604020202020204" pitchFamily="34" charset="0"/>
              <a:buChar char="•"/>
            </a:pPr>
            <a:r>
              <a:rPr lang="ru-RU" sz="1250" dirty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Сформулировать требования к хранилищу, обеспечивающие сбалансированное распределение нагрузки</a:t>
            </a:r>
            <a:r>
              <a:rPr lang="ru-RU" sz="1250" dirty="0" smtClean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.</a:t>
            </a:r>
            <a:endParaRPr lang="ru-RU" sz="1250" dirty="0">
              <a:highlight>
                <a:srgbClr val="FFFFFF"/>
              </a:highlight>
              <a:latin typeface="+mn-lt"/>
              <a:ea typeface="Arial"/>
              <a:cs typeface="Arial"/>
              <a:sym typeface="Arial"/>
            </a:endParaRPr>
          </a:p>
          <a:p>
            <a:pPr marL="285750" indent="-285750">
              <a:spcBef>
                <a:spcPts val="280"/>
              </a:spcBef>
              <a:buSzPts val="1700"/>
              <a:buFont typeface="Arial" panose="020B0604020202020204" pitchFamily="34" charset="0"/>
              <a:buChar char="•"/>
            </a:pPr>
            <a:r>
              <a:rPr lang="ru-RU" sz="1250" dirty="0" smtClean="0">
                <a:highlight>
                  <a:srgbClr val="FFFFFF"/>
                </a:highlight>
                <a:latin typeface="+mn-lt"/>
              </a:rPr>
              <a:t>Спроектировать </a:t>
            </a:r>
            <a:r>
              <a:rPr lang="ru-RU" sz="1250" dirty="0">
                <a:highlight>
                  <a:srgbClr val="FFFFFF"/>
                </a:highlight>
                <a:latin typeface="+mn-lt"/>
              </a:rPr>
              <a:t>архитектуру кластера </a:t>
            </a:r>
            <a:r>
              <a:rPr lang="ru-RU" sz="1250" dirty="0" smtClean="0">
                <a:highlight>
                  <a:srgbClr val="FFFFFF"/>
                </a:highlight>
                <a:latin typeface="+mn-lt"/>
              </a:rPr>
              <a:t>(модель хранения, </a:t>
            </a:r>
            <a:r>
              <a:rPr lang="ru-RU" sz="1250" dirty="0">
                <a:highlight>
                  <a:srgbClr val="FFFFFF"/>
                </a:highlight>
                <a:latin typeface="+mn-lt"/>
              </a:rPr>
              <a:t>стратегию </a:t>
            </a:r>
            <a:r>
              <a:rPr lang="ru-RU" sz="1250" dirty="0" err="1">
                <a:highlight>
                  <a:srgbClr val="FFFFFF"/>
                </a:highlight>
                <a:latin typeface="+mn-lt"/>
              </a:rPr>
              <a:t>шардирования</a:t>
            </a:r>
            <a:r>
              <a:rPr lang="ru-RU" sz="1250" dirty="0">
                <a:highlight>
                  <a:srgbClr val="FFFFFF"/>
                </a:highlight>
                <a:latin typeface="+mn-lt"/>
              </a:rPr>
              <a:t>, протокол </a:t>
            </a:r>
            <a:r>
              <a:rPr lang="ru-RU" sz="1250" dirty="0" smtClean="0">
                <a:highlight>
                  <a:srgbClr val="FFFFFF"/>
                </a:highlight>
                <a:latin typeface="+mn-lt"/>
              </a:rPr>
              <a:t>репликации, алгоритм консенсуса узлов).</a:t>
            </a:r>
            <a:endParaRPr lang="ru-RU" sz="1250" dirty="0">
              <a:highlight>
                <a:srgbClr val="FFFFFF"/>
              </a:highlight>
              <a:latin typeface="+mn-lt"/>
            </a:endParaRPr>
          </a:p>
          <a:p>
            <a:pPr marL="285750" lvl="0" indent="-285750">
              <a:spcBef>
                <a:spcPts val="280"/>
              </a:spcBef>
              <a:buSzPts val="1700"/>
              <a:buFont typeface="Arial" panose="020B0604020202020204" pitchFamily="34" charset="0"/>
              <a:buChar char="•"/>
            </a:pPr>
            <a:r>
              <a:rPr lang="ru-RU" sz="1250" dirty="0" smtClean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Реализовать </a:t>
            </a:r>
            <a:r>
              <a:rPr lang="ru-RU" sz="1250" dirty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прототип с модулями хранения, </a:t>
            </a:r>
            <a:r>
              <a:rPr lang="ru-RU" sz="1250" dirty="0" smtClean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кластеризацией </a:t>
            </a:r>
            <a:r>
              <a:rPr lang="ru-RU" sz="1250" dirty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и сетевым API</a:t>
            </a:r>
            <a:r>
              <a:rPr lang="ru-RU" sz="1250" dirty="0" smtClean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.</a:t>
            </a:r>
            <a:endParaRPr lang="ru-RU" sz="1250" dirty="0">
              <a:highlight>
                <a:srgbClr val="FFFFFF"/>
              </a:highlight>
              <a:latin typeface="+mn-lt"/>
              <a:ea typeface="Arial"/>
              <a:cs typeface="Arial"/>
              <a:sym typeface="Arial"/>
            </a:endParaRPr>
          </a:p>
          <a:p>
            <a:pPr marL="285750" lvl="0" indent="-285750">
              <a:spcBef>
                <a:spcPts val="280"/>
              </a:spcBef>
              <a:buSzPts val="1700"/>
              <a:buFont typeface="Arial" panose="020B0604020202020204" pitchFamily="34" charset="0"/>
              <a:buChar char="•"/>
            </a:pPr>
            <a:r>
              <a:rPr lang="ru-RU" sz="1250" dirty="0" smtClean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Обеспечить </a:t>
            </a:r>
            <a:r>
              <a:rPr lang="ru-RU" sz="1250" dirty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покрытие ключевых модулей тестами (целевой уровень — не менее 70</a:t>
            </a:r>
            <a:r>
              <a:rPr lang="ru-RU" sz="1250" dirty="0" smtClean="0"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%).</a:t>
            </a:r>
            <a:endParaRPr lang="ru-RU" sz="1250" dirty="0">
              <a:highlight>
                <a:srgbClr val="FFFFFF"/>
              </a:highlight>
              <a:latin typeface="+mn-lt"/>
              <a:ea typeface="Arial"/>
              <a:cs typeface="Arial"/>
              <a:sym typeface="Arial"/>
            </a:endParaRPr>
          </a:p>
          <a:p>
            <a:pPr marL="285750" indent="-285750">
              <a:spcBef>
                <a:spcPts val="280"/>
              </a:spcBef>
              <a:buSzPts val="1700"/>
              <a:buFont typeface="Arial" panose="020B0604020202020204" pitchFamily="34" charset="0"/>
              <a:buChar char="•"/>
            </a:pPr>
            <a:r>
              <a:rPr lang="ru-RU" sz="1250" dirty="0" smtClean="0">
                <a:highlight>
                  <a:srgbClr val="FFFFFF"/>
                </a:highlight>
                <a:latin typeface="+mn-lt"/>
              </a:rPr>
              <a:t>Провести </a:t>
            </a:r>
            <a:r>
              <a:rPr lang="ru-RU" sz="1250" dirty="0">
                <a:highlight>
                  <a:srgbClr val="FFFFFF"/>
                </a:highlight>
                <a:latin typeface="+mn-lt"/>
              </a:rPr>
              <a:t>нагрузочное тестирование и тестирование отказоустойчивости</a:t>
            </a:r>
            <a:r>
              <a:rPr lang="ru-RU" sz="1250" dirty="0" smtClean="0">
                <a:highlight>
                  <a:srgbClr val="FFFFFF"/>
                </a:highlight>
                <a:latin typeface="+mn-lt"/>
              </a:rPr>
              <a:t>.</a:t>
            </a:r>
            <a:endParaRPr lang="ru-RU" sz="1250" dirty="0">
              <a:highlight>
                <a:srgbClr val="FFFFFF"/>
              </a:highlight>
              <a:latin typeface="+mn-lt"/>
            </a:endParaRPr>
          </a:p>
          <a:p>
            <a:pPr marL="285750" indent="-285750">
              <a:spcBef>
                <a:spcPts val="280"/>
              </a:spcBef>
              <a:buSzPts val="1700"/>
              <a:buFont typeface="Arial" panose="020B0604020202020204" pitchFamily="34" charset="0"/>
              <a:buChar char="•"/>
            </a:pPr>
            <a:r>
              <a:rPr lang="ru-RU" sz="1250" dirty="0">
                <a:latin typeface="+mn-lt"/>
              </a:rPr>
              <a:t>Сравнить полученные характеристики с базовыми подходами (фиксированное и предикатное шардирование</a:t>
            </a:r>
            <a:r>
              <a:rPr lang="ru-RU" sz="1250" dirty="0" smtClean="0">
                <a:latin typeface="+mn-lt"/>
              </a:rPr>
              <a:t>).</a:t>
            </a:r>
            <a:endParaRPr lang="ru-RU" sz="1250" dirty="0">
              <a:latin typeface="+mn-lt"/>
            </a:endParaRPr>
          </a:p>
        </p:txBody>
      </p:sp>
      <p:sp>
        <p:nvSpPr>
          <p:cNvPr id="152" name="Google Shape;152;p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 dirty="0"/>
              <a:t>Цель и задачи</a:t>
            </a:r>
            <a:endParaRPr dirty="0"/>
          </a:p>
        </p:txBody>
      </p:sp>
      <p:pic>
        <p:nvPicPr>
          <p:cNvPr id="153" name="Google Shape;15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1469" y="1781673"/>
            <a:ext cx="2151231" cy="215123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"/>
          <p:cNvSpPr txBox="1"/>
          <p:nvPr/>
        </p:nvSpPr>
        <p:spPr>
          <a:xfrm>
            <a:off x="8722700" y="4583477"/>
            <a:ext cx="34264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lt1"/>
                </a:solidFill>
                <a:latin typeface="Golos Text DemiBold"/>
                <a:ea typeface="Golos Text"/>
                <a:cs typeface="Golos Text"/>
                <a:sym typeface="Golos Text"/>
              </a:rPr>
              <a:t>3</a:t>
            </a:r>
            <a:endParaRPr sz="2000" dirty="0">
              <a:solidFill>
                <a:schemeClr val="lt1"/>
              </a:solidFill>
              <a:latin typeface="Golos Text DemiBold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113" y="1233715"/>
            <a:ext cx="7394472" cy="3410856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ru-RU" b="1" dirty="0"/>
              <a:t>Аналитика и проектирование:</a:t>
            </a:r>
          </a:p>
          <a:p>
            <a:pPr fontAlgn="base"/>
            <a:r>
              <a:rPr lang="ru-RU" dirty="0" smtClean="0"/>
              <a:t>✅ Анализ аналогов, требования</a:t>
            </a:r>
            <a:endParaRPr lang="ru-RU" dirty="0"/>
          </a:p>
          <a:p>
            <a:pPr fontAlgn="base"/>
            <a:r>
              <a:rPr lang="ru-RU" dirty="0"/>
              <a:t>✅ Определение технологий и </a:t>
            </a:r>
            <a:r>
              <a:rPr lang="ru-RU" dirty="0" smtClean="0"/>
              <a:t>целевых алгоритмов</a:t>
            </a:r>
            <a:endParaRPr lang="ru-RU" dirty="0"/>
          </a:p>
          <a:p>
            <a:pPr fontAlgn="base"/>
            <a:r>
              <a:rPr lang="ru-RU" dirty="0"/>
              <a:t>✅ Архитектура и модель хранения</a:t>
            </a:r>
          </a:p>
          <a:p>
            <a:pPr fontAlgn="base"/>
            <a:endParaRPr lang="ru-RU" dirty="0"/>
          </a:p>
          <a:p>
            <a:pPr fontAlgn="base"/>
            <a:r>
              <a:rPr lang="ru-RU" b="1" dirty="0"/>
              <a:t>Реализация:</a:t>
            </a:r>
          </a:p>
          <a:p>
            <a:pPr fontAlgn="base"/>
            <a:r>
              <a:rPr lang="ru-RU" dirty="0" smtClean="0"/>
              <a:t>🔄 Одноузловое ядро </a:t>
            </a:r>
            <a:r>
              <a:rPr lang="ru-RU" dirty="0"/>
              <a:t>(в процессе)</a:t>
            </a:r>
          </a:p>
          <a:p>
            <a:pPr fontAlgn="base"/>
            <a:r>
              <a:rPr lang="ru-RU" dirty="0" smtClean="0"/>
              <a:t>❌ Модуль кластеризации</a:t>
            </a:r>
          </a:p>
          <a:p>
            <a:pPr fontAlgn="base"/>
            <a:r>
              <a:rPr lang="ru-RU" dirty="0" smtClean="0"/>
              <a:t>❌ Репликация и распределенные запросы</a:t>
            </a:r>
          </a:p>
          <a:p>
            <a:pPr fontAlgn="base"/>
            <a:endParaRPr lang="ru-RU" dirty="0"/>
          </a:p>
          <a:p>
            <a:pPr fontAlgn="base"/>
            <a:r>
              <a:rPr lang="ru-RU" b="1" dirty="0"/>
              <a:t>Тестирование и документация:</a:t>
            </a:r>
          </a:p>
          <a:p>
            <a:pPr fontAlgn="base"/>
            <a:r>
              <a:rPr lang="ru-RU" dirty="0"/>
              <a:t>❌ Модульные тесты (план 70%)</a:t>
            </a:r>
          </a:p>
          <a:p>
            <a:pPr fontAlgn="base"/>
            <a:r>
              <a:rPr lang="ru-RU" dirty="0"/>
              <a:t>❌ Нагрузочное тестирование</a:t>
            </a:r>
          </a:p>
          <a:p>
            <a:pPr fontAlgn="base"/>
            <a:r>
              <a:rPr lang="ru-RU" dirty="0"/>
              <a:t>❌ Оформление пояснительной записки, презентации, текста </a:t>
            </a:r>
            <a:r>
              <a:rPr lang="ru-RU" dirty="0" smtClean="0"/>
              <a:t>ВКР.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Текущий прогресс</a:t>
            </a:r>
          </a:p>
        </p:txBody>
      </p:sp>
      <p:sp>
        <p:nvSpPr>
          <p:cNvPr id="2" name="Google Shape;154;p2">
            <a:extLst>
              <a:ext uri="{FF2B5EF4-FFF2-40B4-BE49-F238E27FC236}">
                <a16:creationId xmlns:a16="http://schemas.microsoft.com/office/drawing/2014/main" xmlns="" id="{3290B950-2B07-4D4B-4A6E-A5332A648094}"/>
              </a:ext>
            </a:extLst>
          </p:cNvPr>
          <p:cNvSpPr txBox="1"/>
          <p:nvPr/>
        </p:nvSpPr>
        <p:spPr>
          <a:xfrm>
            <a:off x="8722700" y="4575745"/>
            <a:ext cx="273816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Golos Text DemiBold" panose="020B0703020202020204"/>
                <a:ea typeface="Golos Text"/>
                <a:cs typeface="Golos Text"/>
                <a:sym typeface="Golos Text"/>
              </a:rPr>
              <a:t>4</a:t>
            </a:r>
            <a:endParaRPr sz="2000" dirty="0">
              <a:solidFill>
                <a:schemeClr val="lt1"/>
              </a:solidFill>
              <a:latin typeface="Golos Text DemiBold" panose="020B0703020202020204"/>
              <a:ea typeface="Golos Text"/>
              <a:cs typeface="Golos Text"/>
              <a:sym typeface="Golos Text"/>
            </a:endParaRPr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6399</TotalTime>
  <Words>532</Words>
  <Application>Microsoft Office PowerPoint</Application>
  <PresentationFormat>Экран (16:9)</PresentationFormat>
  <Paragraphs>68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ALS Gorizont Bold Expanded</vt:lpstr>
      <vt:lpstr>Arial</vt:lpstr>
      <vt:lpstr>Calibri</vt:lpstr>
      <vt:lpstr>Golos Text</vt:lpstr>
      <vt:lpstr>Golos Text DemiBold</vt:lpstr>
      <vt:lpstr>Golos Text SemiBold</vt:lpstr>
      <vt:lpstr>Тема1</vt:lpstr>
      <vt:lpstr>Проектирование и разработка распределённого хранилища данных для семантической сети</vt:lpstr>
      <vt:lpstr>Актуальность работы</vt:lpstr>
      <vt:lpstr>Цель и задачи</vt:lpstr>
      <vt:lpstr>Текущий прогресс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Max Barsukov</cp:lastModifiedBy>
  <cp:revision>115</cp:revision>
  <dcterms:created xsi:type="dcterms:W3CDTF">2014-06-27T12:30:22Z</dcterms:created>
  <dcterms:modified xsi:type="dcterms:W3CDTF">2026-03-18T15:49:32Z</dcterms:modified>
</cp:coreProperties>
</file>