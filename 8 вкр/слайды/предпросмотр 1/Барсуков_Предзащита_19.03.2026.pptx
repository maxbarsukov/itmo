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Golos Text"/>
      <p:regular r:id="rId11"/>
      <p:bold r:id="rId12"/>
    </p:embeddedFont>
    <p:embeddedFont>
      <p:font typeface="Golos Text Medium"/>
      <p:regular r:id="rId13"/>
      <p:bold r:id="rId14"/>
    </p:embeddedFont>
    <p:embeddedFont>
      <p:font typeface="Golos Text SemiBold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gRoq21HUPysUJxpRQMhf5T2gs+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11" orient="horz"/>
        <p:guide pos="287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GolosText-regular.fntdata"/><Relationship Id="rId10" Type="http://schemas.openxmlformats.org/officeDocument/2006/relationships/slide" Target="slides/slide5.xml"/><Relationship Id="rId13" Type="http://schemas.openxmlformats.org/officeDocument/2006/relationships/font" Target="fonts/GolosTextMedium-regular.fntdata"/><Relationship Id="rId12" Type="http://schemas.openxmlformats.org/officeDocument/2006/relationships/font" Target="fonts/GolosTex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olosTextSemiBold-regular.fntdata"/><Relationship Id="rId14" Type="http://schemas.openxmlformats.org/officeDocument/2006/relationships/font" Target="fonts/GolosTextMedium-bold.fntdata"/><Relationship Id="rId17" Type="http://customschemas.google.com/relationships/presentationmetadata" Target="metadata"/><Relationship Id="rId16" Type="http://schemas.openxmlformats.org/officeDocument/2006/relationships/font" Target="fonts/GolosText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Актуальность работы обусловлена активным развитием проектов на основе графов знаний и Semantic Web, что требует новых подходов к хранению семантически связанных данных.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Современные информационные системы переходят от хранения изолированных записей к анализу связей между ними. Это требует использования семантических моделей данных.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ru-RU"/>
              <a:t>Существующие распределенные решения имеют архитектурные ограничения. Протокол RDF (</a:t>
            </a:r>
            <a:r>
              <a:rPr b="0" i="0"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Resource Description Framework</a:t>
            </a:r>
            <a:r>
              <a:rPr lang="ru-RU"/>
              <a:t>) изначально не проектировался для распределенной среды, поэтому наивное шардирование приводит к неэффективности: либо к дисбалансу нагрузки из-за "горячих" предикатов, либо к избыточным сетевым взаимодействиям, так как обработка </a:t>
            </a:r>
            <a:r>
              <a:rPr lang="ru-RU" sz="1200">
                <a:latin typeface="Calibri"/>
                <a:ea typeface="Calibri"/>
                <a:cs typeface="Calibri"/>
                <a:sym typeface="Calibri"/>
              </a:rPr>
              <a:t>семантических запросов в распределенной среде принципиально сложнее, чем key-value запросов.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Возникает задача разработка адаптивной стратегии размещения данных в кластере, которая учитывала бы структуру графа и специфику семантических запросов, минимизируя накладные расходы на коммуникацию между узлами, что и определяет актуальность моей работы.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ru-RU"/>
              <a:t>Таким образом, можно сказать, что на данный момент не существует решения, полностью удовлетворяющего необходимым критериям.</a:t>
            </a:r>
            <a:br>
              <a:rPr lang="ru-RU"/>
            </a:br>
            <a:r>
              <a:rPr lang="ru-RU"/>
              <a:t>Задачи перечислены на слайде.</a:t>
            </a:r>
            <a:br>
              <a:rPr lang="ru-RU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ru-RU"/>
              <a:t>Ключевая цель работы — не просто разработать еще одно хранилище, а доказать, что оно работает так, как задумано. А именно: подтвердить на практике, что производительность растет линейно при добавлении узлов, и что данные не теряются при сбоях.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ru-RU"/>
              <a:t>Аналитический: разобраться, почему существующие решения плохо масштабируются, и сформулировать требования к новому.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ru-RU"/>
              <a:t>Проектирование и разработка: спроектировать архитектуру, написать код прототипа и сразу закладывать тестирование — целевой уровень покрытия 70 процентов.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ru-RU"/>
              <a:t>Экспериментальный: проверить прототип под нагрузкой, устроить ему отказы узлов и честно сравнить результаты с тем, что есть у аналогов.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ru-RU"/>
              <a:t>Ожидаемый результат - работающий код и документация, чтобы любой мог развернуть кластер одной командой.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4" name="Google Shape;15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Коротко о текущем прогрессе.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Были проведены анализ аналогов, сформулированы требования, определился с технологиями и целевыми алгоритмами. Архитектура и модель хранения определены.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Сейчас в активной фазе разработка одноузлового ядра. Модуль кластеризации, репликация и распределенные запросы — следующие в очереди.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Тестирование и документация — впереди. Модульные тесты, нагрузка и оформление текста работы запланированы на апрель-май.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/>
              <a:t>Спасибо за внимание!</a:t>
            </a:r>
            <a:endParaRPr/>
          </a:p>
        </p:txBody>
      </p:sp>
      <p:sp>
        <p:nvSpPr>
          <p:cNvPr id="171" name="Google Shape;171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7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7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11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">
  <p:cSld name="Финал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kfql">
  <p:cSld name="Ckfq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1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" type="body"/>
          </p:nvPr>
        </p:nvSpPr>
        <p:spPr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3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784" name="adj"/>
            </a:avLst>
          </a:prstGeom>
          <a:noFill/>
          <a:ln>
            <a:noFill/>
          </a:ln>
        </p:spPr>
      </p:sp>
      <p:sp>
        <p:nvSpPr>
          <p:cNvPr id="41" name="Google Shape;41;p13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Пользовательский макет">
  <p:cSld name="6_Пользовательский макет">
    <p:bg>
      <p:bgPr>
        <a:solidFill>
          <a:srgbClr val="FFFFFF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4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5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Пользовательский макет">
  <p:cSld name="3_Пользовательский макет"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952" name="adj"/>
            </a:avLst>
          </a:prstGeom>
          <a:noFill/>
          <a:ln>
            <a:noFill/>
          </a:ln>
        </p:spPr>
      </p:sp>
      <p:sp>
        <p:nvSpPr>
          <p:cNvPr id="58" name="Google Shape;58;p17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Пользовательский макет">
  <p:cSld name="7_Пользовательский макет"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8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ользовательский макет">
  <p:cSld name="1_Пользовательский макет"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9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9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Пользовательский макет">
  <p:cSld name="4_Пользовательский макет"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8957" name="adj"/>
            </a:avLst>
          </a:prstGeom>
          <a:noFill/>
          <a:ln>
            <a:noFill/>
          </a:ln>
        </p:spPr>
      </p:sp>
      <p:sp>
        <p:nvSpPr>
          <p:cNvPr id="71" name="Google Shape;71;p20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Пользовательский макет">
  <p:cSld name="8_Пользовательский макет"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Пользовательский макет">
  <p:cSld name="2_Пользовательский макет">
    <p:bg>
      <p:bgPr>
        <a:solidFill>
          <a:srgbClr val="FFFFF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Пользовательский макет">
  <p:cSld name="5_Пользовательский макет"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3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617" name="adj"/>
            </a:avLst>
          </a:prstGeom>
          <a:noFill/>
          <a:ln>
            <a:noFill/>
          </a:ln>
        </p:spPr>
      </p:sp>
      <p:sp>
        <p:nvSpPr>
          <p:cNvPr id="83" name="Google Shape;83;p2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3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4"/>
          <p:cNvSpPr txBox="1"/>
          <p:nvPr>
            <p:ph idx="1" type="body"/>
          </p:nvPr>
        </p:nvSpPr>
        <p:spPr>
          <a:xfrm>
            <a:off x="3102428" y="943208"/>
            <a:ext cx="5526315" cy="3875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24"/>
          <p:cNvSpPr/>
          <p:nvPr>
            <p:ph idx="2" type="pic"/>
          </p:nvPr>
        </p:nvSpPr>
        <p:spPr>
          <a:xfrm>
            <a:off x="457200" y="943208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89" name="Google Shape;89;p24"/>
          <p:cNvSpPr/>
          <p:nvPr>
            <p:ph idx="3" type="pic"/>
          </p:nvPr>
        </p:nvSpPr>
        <p:spPr>
          <a:xfrm>
            <a:off x="457200" y="2935720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Пользовательский макет">
  <p:cSld name="9_Пользовательский макет"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5"/>
          <p:cNvSpPr txBox="1"/>
          <p:nvPr>
            <p:ph idx="1" type="body"/>
          </p:nvPr>
        </p:nvSpPr>
        <p:spPr>
          <a:xfrm>
            <a:off x="457201" y="1059322"/>
            <a:ext cx="3897086" cy="17346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25"/>
          <p:cNvSpPr txBox="1"/>
          <p:nvPr>
            <p:ph idx="2" type="body"/>
          </p:nvPr>
        </p:nvSpPr>
        <p:spPr>
          <a:xfrm>
            <a:off x="457202" y="3105836"/>
            <a:ext cx="3897084" cy="1640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25"/>
          <p:cNvSpPr txBox="1"/>
          <p:nvPr>
            <p:ph idx="3" type="body"/>
          </p:nvPr>
        </p:nvSpPr>
        <p:spPr>
          <a:xfrm>
            <a:off x="4789714" y="1059322"/>
            <a:ext cx="3632201" cy="3686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25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6"/>
          <p:cNvSpPr txBox="1"/>
          <p:nvPr>
            <p:ph idx="1" type="body"/>
          </p:nvPr>
        </p:nvSpPr>
        <p:spPr>
          <a:xfrm>
            <a:off x="457201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26"/>
          <p:cNvSpPr txBox="1"/>
          <p:nvPr>
            <p:ph idx="2" type="body"/>
          </p:nvPr>
        </p:nvSpPr>
        <p:spPr>
          <a:xfrm>
            <a:off x="320945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26"/>
          <p:cNvSpPr txBox="1"/>
          <p:nvPr>
            <p:ph idx="3" type="body"/>
          </p:nvPr>
        </p:nvSpPr>
        <p:spPr>
          <a:xfrm>
            <a:off x="596980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26"/>
          <p:cNvSpPr txBox="1"/>
          <p:nvPr>
            <p:ph idx="4" type="body"/>
          </p:nvPr>
        </p:nvSpPr>
        <p:spPr>
          <a:xfrm>
            <a:off x="457200" y="3287828"/>
            <a:ext cx="2588883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302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0" name="Google Shape;100;p26"/>
          <p:cNvSpPr txBox="1"/>
          <p:nvPr>
            <p:ph idx="5" type="body"/>
          </p:nvPr>
        </p:nvSpPr>
        <p:spPr>
          <a:xfrm>
            <a:off x="3207251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1" name="Google Shape;101;p26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6"/>
          <p:cNvSpPr txBox="1"/>
          <p:nvPr>
            <p:ph idx="6" type="body"/>
          </p:nvPr>
        </p:nvSpPr>
        <p:spPr>
          <a:xfrm>
            <a:off x="5967600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3" name="Google Shape;103;p26"/>
          <p:cNvSpPr/>
          <p:nvPr>
            <p:ph idx="7" type="pic"/>
          </p:nvPr>
        </p:nvSpPr>
        <p:spPr>
          <a:xfrm>
            <a:off x="469081" y="944463"/>
            <a:ext cx="2577001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04" name="Google Shape;104;p26"/>
          <p:cNvSpPr/>
          <p:nvPr>
            <p:ph idx="8" type="pic"/>
          </p:nvPr>
        </p:nvSpPr>
        <p:spPr>
          <a:xfrm>
            <a:off x="3221666" y="944462"/>
            <a:ext cx="2577001" cy="1883023"/>
          </a:xfrm>
          <a:prstGeom prst="roundRect">
            <a:avLst>
              <a:gd fmla="val 12905" name="adj"/>
            </a:avLst>
          </a:prstGeom>
          <a:noFill/>
          <a:ln>
            <a:noFill/>
          </a:ln>
        </p:spPr>
      </p:sp>
      <p:sp>
        <p:nvSpPr>
          <p:cNvPr id="105" name="Google Shape;105;p26"/>
          <p:cNvSpPr/>
          <p:nvPr>
            <p:ph idx="9" type="pic"/>
          </p:nvPr>
        </p:nvSpPr>
        <p:spPr>
          <a:xfrm>
            <a:off x="5980690" y="944463"/>
            <a:ext cx="2577001" cy="1883023"/>
          </a:xfrm>
          <a:prstGeom prst="roundRect">
            <a:avLst>
              <a:gd fmla="val 1051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7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7"/>
          <p:cNvSpPr txBox="1"/>
          <p:nvPr>
            <p:ph idx="1" type="body"/>
          </p:nvPr>
        </p:nvSpPr>
        <p:spPr>
          <a:xfrm>
            <a:off x="5733143" y="949330"/>
            <a:ext cx="2895600" cy="3895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27"/>
          <p:cNvSpPr/>
          <p:nvPr>
            <p:ph idx="2" type="pic"/>
          </p:nvPr>
        </p:nvSpPr>
        <p:spPr>
          <a:xfrm>
            <a:off x="457200" y="949329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10" name="Google Shape;110;p27"/>
          <p:cNvSpPr/>
          <p:nvPr>
            <p:ph idx="3" type="pic"/>
          </p:nvPr>
        </p:nvSpPr>
        <p:spPr>
          <a:xfrm>
            <a:off x="3095171" y="949328"/>
            <a:ext cx="2532744" cy="1883023"/>
          </a:xfrm>
          <a:prstGeom prst="roundRect">
            <a:avLst>
              <a:gd fmla="val 11879" name="adj"/>
            </a:avLst>
          </a:prstGeom>
          <a:noFill/>
          <a:ln>
            <a:noFill/>
          </a:ln>
        </p:spPr>
      </p:sp>
      <p:sp>
        <p:nvSpPr>
          <p:cNvPr id="111" name="Google Shape;111;p27"/>
          <p:cNvSpPr/>
          <p:nvPr>
            <p:ph idx="4" type="pic"/>
          </p:nvPr>
        </p:nvSpPr>
        <p:spPr>
          <a:xfrm>
            <a:off x="3095171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12" name="Google Shape;112;p27"/>
          <p:cNvSpPr/>
          <p:nvPr>
            <p:ph idx="5" type="pic"/>
          </p:nvPr>
        </p:nvSpPr>
        <p:spPr>
          <a:xfrm>
            <a:off x="457199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8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8"/>
          <p:cNvSpPr txBox="1"/>
          <p:nvPr>
            <p:ph idx="1" type="body"/>
          </p:nvPr>
        </p:nvSpPr>
        <p:spPr>
          <a:xfrm>
            <a:off x="457201" y="963397"/>
            <a:ext cx="2532744" cy="1883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8"/>
          <p:cNvSpPr/>
          <p:nvPr>
            <p:ph idx="2" type="pic"/>
          </p:nvPr>
        </p:nvSpPr>
        <p:spPr>
          <a:xfrm>
            <a:off x="3095171" y="963397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17" name="Google Shape;117;p28"/>
          <p:cNvSpPr/>
          <p:nvPr>
            <p:ph idx="3" type="pic"/>
          </p:nvPr>
        </p:nvSpPr>
        <p:spPr>
          <a:xfrm>
            <a:off x="5733141" y="966928"/>
            <a:ext cx="2532744" cy="1883023"/>
          </a:xfrm>
          <a:prstGeom prst="roundRect">
            <a:avLst>
              <a:gd fmla="val 11196" name="adj"/>
            </a:avLst>
          </a:prstGeom>
          <a:noFill/>
          <a:ln>
            <a:noFill/>
          </a:ln>
        </p:spPr>
      </p:sp>
      <p:sp>
        <p:nvSpPr>
          <p:cNvPr id="118" name="Google Shape;118;p28"/>
          <p:cNvSpPr/>
          <p:nvPr>
            <p:ph idx="4" type="pic"/>
          </p:nvPr>
        </p:nvSpPr>
        <p:spPr>
          <a:xfrm>
            <a:off x="5733141" y="2954042"/>
            <a:ext cx="2532744" cy="1883023"/>
          </a:xfrm>
          <a:prstGeom prst="roundRect">
            <a:avLst>
              <a:gd fmla="val 8802" name="adj"/>
            </a:avLst>
          </a:prstGeom>
          <a:noFill/>
          <a:ln>
            <a:noFill/>
          </a:ln>
        </p:spPr>
      </p:sp>
      <p:sp>
        <p:nvSpPr>
          <p:cNvPr id="119" name="Google Shape;119;p28"/>
          <p:cNvSpPr/>
          <p:nvPr>
            <p:ph idx="5" type="pic"/>
          </p:nvPr>
        </p:nvSpPr>
        <p:spPr>
          <a:xfrm>
            <a:off x="3095171" y="2960314"/>
            <a:ext cx="2532744" cy="1883023"/>
          </a:xfrm>
          <a:prstGeom prst="roundRect">
            <a:avLst>
              <a:gd fmla="val 8459" name="adj"/>
            </a:avLst>
          </a:prstGeom>
          <a:noFill/>
          <a:ln>
            <a:noFill/>
          </a:ln>
        </p:spPr>
      </p:sp>
      <p:sp>
        <p:nvSpPr>
          <p:cNvPr id="120" name="Google Shape;120;p28"/>
          <p:cNvSpPr/>
          <p:nvPr>
            <p:ph idx="6" type="pic"/>
          </p:nvPr>
        </p:nvSpPr>
        <p:spPr>
          <a:xfrm>
            <a:off x="457200" y="2960314"/>
            <a:ext cx="2532744" cy="1883023"/>
          </a:xfrm>
          <a:prstGeom prst="roundRect">
            <a:avLst>
              <a:gd fmla="val 10169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9"/>
          <p:cNvSpPr txBox="1"/>
          <p:nvPr>
            <p:ph idx="1" type="body"/>
          </p:nvPr>
        </p:nvSpPr>
        <p:spPr>
          <a:xfrm>
            <a:off x="457201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29"/>
          <p:cNvSpPr txBox="1"/>
          <p:nvPr>
            <p:ph idx="2" type="body"/>
          </p:nvPr>
        </p:nvSpPr>
        <p:spPr>
          <a:xfrm>
            <a:off x="3275819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29"/>
          <p:cNvSpPr txBox="1"/>
          <p:nvPr>
            <p:ph idx="3" type="body"/>
          </p:nvPr>
        </p:nvSpPr>
        <p:spPr>
          <a:xfrm>
            <a:off x="6085706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9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9"/>
          <p:cNvSpPr/>
          <p:nvPr>
            <p:ph idx="4" type="pic"/>
          </p:nvPr>
        </p:nvSpPr>
        <p:spPr>
          <a:xfrm>
            <a:off x="454050" y="952607"/>
            <a:ext cx="2589213" cy="1304294"/>
          </a:xfrm>
          <a:prstGeom prst="roundRect">
            <a:avLst>
              <a:gd fmla="val 9261" name="adj"/>
            </a:avLst>
          </a:prstGeom>
          <a:noFill/>
          <a:ln>
            <a:noFill/>
          </a:ln>
        </p:spPr>
      </p:sp>
      <p:sp>
        <p:nvSpPr>
          <p:cNvPr id="127" name="Google Shape;127;p29"/>
          <p:cNvSpPr/>
          <p:nvPr>
            <p:ph idx="5" type="pic"/>
          </p:nvPr>
        </p:nvSpPr>
        <p:spPr>
          <a:xfrm>
            <a:off x="3275818" y="952607"/>
            <a:ext cx="2589213" cy="1304294"/>
          </a:xfrm>
          <a:prstGeom prst="roundRect">
            <a:avLst>
              <a:gd fmla="val 11730" name="adj"/>
            </a:avLst>
          </a:prstGeom>
          <a:noFill/>
          <a:ln>
            <a:noFill/>
          </a:ln>
        </p:spPr>
      </p:sp>
      <p:sp>
        <p:nvSpPr>
          <p:cNvPr id="128" name="Google Shape;128;p29"/>
          <p:cNvSpPr/>
          <p:nvPr>
            <p:ph idx="6" type="pic"/>
          </p:nvPr>
        </p:nvSpPr>
        <p:spPr>
          <a:xfrm>
            <a:off x="6089789" y="952607"/>
            <a:ext cx="2589213" cy="1304294"/>
          </a:xfrm>
          <a:prstGeom prst="roundRect">
            <a:avLst>
              <a:gd fmla="val 10249" name="adj"/>
            </a:avLst>
          </a:prstGeom>
          <a:noFill/>
          <a:ln>
            <a:noFill/>
          </a:ln>
        </p:spPr>
      </p:sp>
      <p:sp>
        <p:nvSpPr>
          <p:cNvPr id="129" name="Google Shape;129;p29"/>
          <p:cNvSpPr txBox="1"/>
          <p:nvPr>
            <p:ph idx="7" type="body"/>
          </p:nvPr>
        </p:nvSpPr>
        <p:spPr>
          <a:xfrm>
            <a:off x="460352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8" type="body"/>
          </p:nvPr>
        </p:nvSpPr>
        <p:spPr>
          <a:xfrm>
            <a:off x="3278970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idx="9" type="body"/>
          </p:nvPr>
        </p:nvSpPr>
        <p:spPr>
          <a:xfrm>
            <a:off x="6088857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29"/>
          <p:cNvSpPr/>
          <p:nvPr>
            <p:ph idx="13" type="pic"/>
          </p:nvPr>
        </p:nvSpPr>
        <p:spPr>
          <a:xfrm>
            <a:off x="457201" y="2866358"/>
            <a:ext cx="2589213" cy="1304294"/>
          </a:xfrm>
          <a:prstGeom prst="roundRect">
            <a:avLst>
              <a:gd fmla="val 12224" name="adj"/>
            </a:avLst>
          </a:prstGeom>
          <a:noFill/>
          <a:ln>
            <a:noFill/>
          </a:ln>
        </p:spPr>
      </p:sp>
      <p:sp>
        <p:nvSpPr>
          <p:cNvPr id="133" name="Google Shape;133;p29"/>
          <p:cNvSpPr/>
          <p:nvPr>
            <p:ph idx="14" type="pic"/>
          </p:nvPr>
        </p:nvSpPr>
        <p:spPr>
          <a:xfrm>
            <a:off x="3278969" y="2866358"/>
            <a:ext cx="2589213" cy="1304294"/>
          </a:xfrm>
          <a:prstGeom prst="roundRect">
            <a:avLst>
              <a:gd fmla="val 11236" name="adj"/>
            </a:avLst>
          </a:prstGeom>
          <a:noFill/>
          <a:ln>
            <a:noFill/>
          </a:ln>
        </p:spPr>
      </p:sp>
      <p:sp>
        <p:nvSpPr>
          <p:cNvPr id="134" name="Google Shape;134;p29"/>
          <p:cNvSpPr/>
          <p:nvPr>
            <p:ph idx="15" type="pic"/>
          </p:nvPr>
        </p:nvSpPr>
        <p:spPr>
          <a:xfrm>
            <a:off x="6092940" y="2866358"/>
            <a:ext cx="2589213" cy="1304294"/>
          </a:xfrm>
          <a:prstGeom prst="roundRect">
            <a:avLst>
              <a:gd fmla="val 9755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3302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6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"/>
          <p:cNvSpPr txBox="1"/>
          <p:nvPr>
            <p:ph type="title"/>
          </p:nvPr>
        </p:nvSpPr>
        <p:spPr>
          <a:xfrm>
            <a:off x="1371600" y="2279400"/>
            <a:ext cx="6400800" cy="8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rPr lang="ru-RU" sz="2500">
                <a:solidFill>
                  <a:schemeClr val="lt1"/>
                </a:solidFill>
              </a:rPr>
              <a:t>Проектирование и разработка распределённого хранилища данных для семантической сети</a:t>
            </a:r>
            <a:endParaRPr sz="2500">
              <a:solidFill>
                <a:schemeClr val="lt1"/>
              </a:solidFill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5624775" y="3695350"/>
            <a:ext cx="33921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ru-RU" sz="1300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Выполнил:</a:t>
            </a:r>
            <a:r>
              <a:rPr lang="ru-RU" sz="1300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 Барсуков М.А. P3415</a:t>
            </a:r>
            <a:endParaRPr sz="1300">
              <a:solidFill>
                <a:srgbClr val="FFFFFF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Научный руководитель</a:t>
            </a:r>
            <a:r>
              <a:rPr b="1" lang="ru-RU" sz="1300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:</a:t>
            </a:r>
            <a:r>
              <a:rPr lang="ru-RU" sz="1300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 Цопа Е.А.</a:t>
            </a:r>
            <a:endParaRPr sz="1300">
              <a:solidFill>
                <a:srgbClr val="FFFFFF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3072000" y="46029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>
                <a:solidFill>
                  <a:srgbClr val="FFFFFF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Университет </a:t>
            </a:r>
            <a:r>
              <a:rPr lang="ru-RU">
                <a:solidFill>
                  <a:srgbClr val="FFFFFF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ИТМО, 2026 г.</a:t>
            </a:r>
            <a:endParaRPr>
              <a:solidFill>
                <a:srgbClr val="FFFFFF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SemiBold"/>
              <a:buNone/>
            </a:pPr>
            <a:r>
              <a:rPr lang="ru-RU" sz="3000"/>
              <a:t>Актуальность работы</a:t>
            </a:r>
            <a:endParaRPr/>
          </a:p>
        </p:txBody>
      </p:sp>
      <p:sp>
        <p:nvSpPr>
          <p:cNvPr id="149" name="Google Shape;149;p2"/>
          <p:cNvSpPr txBox="1"/>
          <p:nvPr>
            <p:ph idx="1" type="body"/>
          </p:nvPr>
        </p:nvSpPr>
        <p:spPr>
          <a:xfrm>
            <a:off x="2646381" y="1028272"/>
            <a:ext cx="5875610" cy="3834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1400">
                <a:latin typeface="Calibri"/>
                <a:ea typeface="Calibri"/>
                <a:cs typeface="Calibri"/>
                <a:sym typeface="Calibri"/>
              </a:rPr>
              <a:t>Активное развитие проектов на основе графов знаний, Semantic Web и Linked Open Data требует новых подходов к хранению.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-RU" sz="1400">
                <a:latin typeface="Calibri"/>
                <a:ea typeface="Calibri"/>
                <a:cs typeface="Calibri"/>
                <a:sym typeface="Calibri"/>
              </a:rPr>
              <a:t>Ограничения существующих решений:</a:t>
            </a:r>
            <a:endParaRPr b="1" sz="1400"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ru-RU" sz="1400">
                <a:latin typeface="Calibri"/>
                <a:ea typeface="Calibri"/>
                <a:cs typeface="Calibri"/>
                <a:sym typeface="Calibri"/>
              </a:rPr>
              <a:t>Neo4j (Community): Не поддерживает шардирование «из коробки», что ограничивает горизонтальное масштабирование.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ru-RU" sz="1400">
                <a:latin typeface="Calibri"/>
                <a:ea typeface="Calibri"/>
                <a:cs typeface="Calibri"/>
                <a:sym typeface="Calibri"/>
              </a:rPr>
              <a:t>Apache Jena (Fuseki): Фиксированное партиционирование → дисбаланс нагрузки при росте данных.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ru-RU" sz="1400">
                <a:latin typeface="Calibri"/>
                <a:ea typeface="Calibri"/>
                <a:cs typeface="Calibri"/>
                <a:sym typeface="Calibri"/>
              </a:rPr>
              <a:t>Virtuoso Cluster: Предикатное шардирование → перегрузка узлов с «горячими» предикатами.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rtl="0" algn="l">
              <a:spcBef>
                <a:spcPts val="280"/>
              </a:spcBef>
              <a:spcAft>
                <a:spcPts val="0"/>
              </a:spcAft>
              <a:buSzPts val="1400"/>
              <a:buFont typeface="Calibri"/>
              <a:buChar char="•"/>
            </a:pPr>
            <a:r>
              <a:rPr lang="ru-RU" sz="1400">
                <a:latin typeface="Calibri"/>
                <a:ea typeface="Calibri"/>
                <a:cs typeface="Calibri"/>
                <a:sym typeface="Calibri"/>
              </a:rPr>
              <a:t>SurrealDB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-RU" sz="1400">
                <a:latin typeface="Calibri"/>
                <a:ea typeface="Calibri"/>
                <a:cs typeface="Calibri"/>
                <a:sym typeface="Calibri"/>
              </a:rPr>
              <a:t>Проблема:</a:t>
            </a:r>
            <a:r>
              <a:rPr lang="ru-RU" sz="1400">
                <a:latin typeface="Calibri"/>
                <a:ea typeface="Calibri"/>
                <a:cs typeface="Calibri"/>
                <a:sym typeface="Calibri"/>
              </a:rPr>
              <a:t> Противоречие между необходимостью горизонтального масштабирования семантических данных и отсутствием эффективных механизмов распределения RDF-графов, сохраняющих локальность связанных данных для минимизации межузлового трафика.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456" y="1212284"/>
            <a:ext cx="1778949" cy="183213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"/>
          <p:cNvSpPr txBox="1"/>
          <p:nvPr/>
        </p:nvSpPr>
        <p:spPr>
          <a:xfrm>
            <a:off x="8722700" y="4616250"/>
            <a:ext cx="332810" cy="4924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 SemiBold"/>
              <a:buNone/>
            </a:pPr>
            <a:r>
              <a:rPr lang="ru-RU" sz="2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2</a:t>
            </a:r>
            <a:endParaRPr sz="2000">
              <a:solidFill>
                <a:schemeClr val="dk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Golos Text SemiBold"/>
              <a:buNone/>
            </a:pPr>
            <a:r>
              <a:rPr lang="ru-RU"/>
              <a:t>Цель и задачи</a:t>
            </a:r>
            <a:endParaRPr/>
          </a:p>
        </p:txBody>
      </p:sp>
      <p:sp>
        <p:nvSpPr>
          <p:cNvPr id="157" name="Google Shape;157;p3"/>
          <p:cNvSpPr txBox="1"/>
          <p:nvPr>
            <p:ph idx="1" type="body"/>
          </p:nvPr>
        </p:nvSpPr>
        <p:spPr>
          <a:xfrm>
            <a:off x="457200" y="1156475"/>
            <a:ext cx="6860700" cy="3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ru-RU" sz="1200"/>
              <a:t>Цель:</a:t>
            </a:r>
            <a:r>
              <a:rPr lang="ru-RU" sz="1200"/>
              <a:t> Экспериментально подтвердить, что прототип распределенного хранилища обеспечивает возможности горизонтального масштабирования при добавлении узлов кластера и сохранность данных при отказах узлов.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rgbClr val="2C2D2E"/>
              </a:buClr>
              <a:buSzPts val="1400"/>
              <a:buFont typeface="Arial"/>
              <a:buNone/>
            </a:pPr>
            <a:r>
              <a:rPr b="1" lang="ru-RU" sz="1200">
                <a:solidFill>
                  <a:srgbClr val="2C2D2E"/>
                </a:solidFill>
              </a:rPr>
              <a:t>Задачи:</a:t>
            </a:r>
            <a:endParaRPr b="1" sz="1200"/>
          </a:p>
          <a:p>
            <a:pPr indent="-254000" lvl="0" marL="285750" rtl="0" algn="l"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ru-RU" sz="1200">
                <a:highlight>
                  <a:srgbClr val="FFFFFF"/>
                </a:highlight>
              </a:rPr>
              <a:t>Проанализировать существующие подходы к распределенному хранению RDF-данных, выявить их архитектурные ограничения.</a:t>
            </a:r>
            <a:endParaRPr sz="1200">
              <a:highlight>
                <a:srgbClr val="FFFFFF"/>
              </a:highlight>
            </a:endParaRPr>
          </a:p>
          <a:p>
            <a:pPr indent="-254000" lvl="0" marL="285750" rtl="0" algn="l"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ru-RU" sz="1200">
                <a:highlight>
                  <a:srgbClr val="FFFFFF"/>
                </a:highlight>
              </a:rPr>
              <a:t>Сформулировать требования к хранилищу, обеспечивающие сбалансированное распределение нагрузки.</a:t>
            </a:r>
            <a:endParaRPr sz="1200">
              <a:highlight>
                <a:srgbClr val="FFFFFF"/>
              </a:highlight>
            </a:endParaRPr>
          </a:p>
          <a:p>
            <a:pPr indent="-254000" lvl="0" marL="285750" rtl="0" algn="l"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ru-RU" sz="1200">
                <a:highlight>
                  <a:srgbClr val="FFFFFF"/>
                </a:highlight>
              </a:rPr>
              <a:t>Спроектировать архитектуру кластера (модель хранения, стратегию шардирования, протокол репликации, алгоритм консенсуса узлов).</a:t>
            </a:r>
            <a:endParaRPr sz="1200">
              <a:highlight>
                <a:srgbClr val="FFFFFF"/>
              </a:highlight>
            </a:endParaRPr>
          </a:p>
          <a:p>
            <a:pPr indent="-254000" lvl="0" marL="285750" rtl="0" algn="l"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ru-RU" sz="1200">
                <a:highlight>
                  <a:srgbClr val="FFFFFF"/>
                </a:highlight>
              </a:rPr>
              <a:t>Реализовать прототип с модулями хранения, кластеризацией и сетевым API.</a:t>
            </a:r>
            <a:endParaRPr sz="1200">
              <a:highlight>
                <a:srgbClr val="FFFFFF"/>
              </a:highlight>
            </a:endParaRPr>
          </a:p>
          <a:p>
            <a:pPr indent="-254000" lvl="0" marL="285750" rtl="0" algn="l"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ru-RU" sz="1200">
                <a:highlight>
                  <a:srgbClr val="FFFFFF"/>
                </a:highlight>
              </a:rPr>
              <a:t>Обеспечить покрытие ключевых модулей тестами (целевой уровень — не менее 70%).</a:t>
            </a:r>
            <a:endParaRPr sz="1200">
              <a:highlight>
                <a:srgbClr val="FFFFFF"/>
              </a:highlight>
            </a:endParaRPr>
          </a:p>
          <a:p>
            <a:pPr indent="-254000" lvl="0" marL="285750" rtl="0" algn="l"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ru-RU" sz="1200">
                <a:highlight>
                  <a:srgbClr val="FFFFFF"/>
                </a:highlight>
              </a:rPr>
              <a:t>Провести нагрузочное тестирование и тестирование отказоустойчивости.</a:t>
            </a:r>
            <a:endParaRPr sz="1200">
              <a:highlight>
                <a:srgbClr val="FFFFFF"/>
              </a:highlight>
            </a:endParaRPr>
          </a:p>
          <a:p>
            <a:pPr indent="-254000" lvl="0" marL="285750" rtl="0" algn="l"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ru-RU" sz="1200"/>
              <a:t>Сравнить полученные характеристики с базовыми подходами (фиксированное и предикатное шардирование).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200"/>
          </a:p>
        </p:txBody>
      </p:sp>
      <p:pic>
        <p:nvPicPr>
          <p:cNvPr id="158" name="Google Shape;15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8600" y="1782677"/>
            <a:ext cx="2189950" cy="218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3"/>
          <p:cNvSpPr txBox="1"/>
          <p:nvPr/>
        </p:nvSpPr>
        <p:spPr>
          <a:xfrm>
            <a:off x="8722700" y="4583477"/>
            <a:ext cx="342642" cy="4924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olos Text SemiBold"/>
              <a:buNone/>
            </a:pPr>
            <a:r>
              <a:rPr lang="ru-RU" sz="20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3</a:t>
            </a:r>
            <a:endParaRPr sz="2000">
              <a:solidFill>
                <a:schemeClr val="lt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 txBox="1"/>
          <p:nvPr>
            <p:ph idx="1" type="body"/>
          </p:nvPr>
        </p:nvSpPr>
        <p:spPr>
          <a:xfrm>
            <a:off x="624113" y="1233715"/>
            <a:ext cx="7394472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ru-RU"/>
              <a:t>Аналитика и проектирование:</a:t>
            </a:r>
            <a:endParaRPr/>
          </a:p>
          <a:p>
            <a:pPr indent="0" lvl="0" marL="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✅ Анализ аналогов, требования</a:t>
            </a:r>
            <a:endParaRPr/>
          </a:p>
          <a:p>
            <a:pPr indent="0" lvl="0" marL="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✅ Определение технологий и целевых алгоритмов</a:t>
            </a:r>
            <a:endParaRPr/>
          </a:p>
          <a:p>
            <a:pPr indent="0" lvl="0" marL="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✅ Архитектура и модель хранения</a:t>
            </a:r>
            <a:endParaRPr/>
          </a:p>
          <a:p>
            <a:pPr indent="0" lvl="0" marL="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ru-RU"/>
              <a:t>Реализация:</a:t>
            </a:r>
            <a:endParaRPr/>
          </a:p>
          <a:p>
            <a:pPr indent="0" lvl="0" marL="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🔄 Одноузловое ядро (в процессе)</a:t>
            </a:r>
            <a:endParaRPr/>
          </a:p>
          <a:p>
            <a:pPr indent="0" lvl="0" marL="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❌ Модуль кластеризации</a:t>
            </a:r>
            <a:endParaRPr/>
          </a:p>
          <a:p>
            <a:pPr indent="0" lvl="0" marL="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❌ Репликация и распределенные запросы</a:t>
            </a:r>
            <a:endParaRPr/>
          </a:p>
          <a:p>
            <a:pPr indent="0" lvl="0" marL="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ru-RU"/>
              <a:t>Тестирование и документация:</a:t>
            </a:r>
            <a:endParaRPr/>
          </a:p>
          <a:p>
            <a:pPr indent="0" lvl="0" marL="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❌ Модульные тесты (план 70%)</a:t>
            </a:r>
            <a:endParaRPr/>
          </a:p>
          <a:p>
            <a:pPr indent="0" lvl="0" marL="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❌ Нагрузочное тестирование</a:t>
            </a:r>
            <a:endParaRPr/>
          </a:p>
          <a:p>
            <a:pPr indent="0" lvl="0" marL="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❌ Оформление пояснительной записки, презентации, текста ВКР.</a:t>
            </a:r>
            <a:endParaRPr/>
          </a:p>
        </p:txBody>
      </p:sp>
      <p:sp>
        <p:nvSpPr>
          <p:cNvPr id="166" name="Google Shape;166;p4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Golos Text SemiBold"/>
              <a:buNone/>
            </a:pPr>
            <a:r>
              <a:rPr lang="ru-RU"/>
              <a:t>Текущий прогресс</a:t>
            </a:r>
            <a:endParaRPr/>
          </a:p>
        </p:txBody>
      </p:sp>
      <p:sp>
        <p:nvSpPr>
          <p:cNvPr id="167" name="Google Shape;167;p4"/>
          <p:cNvSpPr txBox="1"/>
          <p:nvPr/>
        </p:nvSpPr>
        <p:spPr>
          <a:xfrm>
            <a:off x="8722700" y="4575745"/>
            <a:ext cx="273816" cy="4924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olos Text SemiBold"/>
              <a:buNone/>
            </a:pPr>
            <a:r>
              <a:rPr lang="ru-RU" sz="20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4</a:t>
            </a:r>
            <a:endParaRPr sz="2000">
              <a:solidFill>
                <a:schemeClr val="lt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"/>
          <p:cNvSpPr txBox="1"/>
          <p:nvPr>
            <p:ph type="title"/>
          </p:nvPr>
        </p:nvSpPr>
        <p:spPr>
          <a:xfrm>
            <a:off x="457200" y="1801813"/>
            <a:ext cx="8229600" cy="62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rPr lang="ru-RU" sz="4400"/>
              <a:t>Спасибо</a:t>
            </a:r>
            <a:br>
              <a:rPr lang="ru-RU" sz="4400"/>
            </a:br>
            <a:r>
              <a:rPr lang="ru-RU" sz="4400"/>
              <a:t>за внимание!</a:t>
            </a:r>
            <a:endParaRPr sz="4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2014-06-27T12:30:22Z</dcterms:created>
  <dc:creator>Al</dc:creator>
</cp:coreProperties>
</file>