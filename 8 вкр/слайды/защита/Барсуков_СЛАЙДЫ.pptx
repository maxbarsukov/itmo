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4" r:id="rId5"/>
    <p:sldMasterId id="214748369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Golos Text"/>
      <p:regular r:id="rId24"/>
      <p:bold r:id="rId25"/>
    </p:embeddedFont>
    <p:embeddedFont>
      <p:font typeface="Golos Text Medium"/>
      <p:regular r:id="rId26"/>
      <p:bold r:id="rId27"/>
    </p:embeddedFont>
    <p:embeddedFont>
      <p:font typeface="Golos Text SemiBo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277D23-54D9-4293-A6A2-CA084C68128D}">
  <a:tblStyle styleId="{E8277D23-54D9-4293-A6A2-CA084C68128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1" orient="horz"/>
        <p:guide pos="287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GolosText-regular.fntdata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GolosTextMedium-regular.fntdata"/><Relationship Id="rId25" Type="http://schemas.openxmlformats.org/officeDocument/2006/relationships/font" Target="fonts/GolosText-bold.fntdata"/><Relationship Id="rId28" Type="http://schemas.openxmlformats.org/officeDocument/2006/relationships/font" Target="fonts/GolosTextSemiBold-regular.fntdata"/><Relationship Id="rId27" Type="http://schemas.openxmlformats.org/officeDocument/2006/relationships/font" Target="fonts/GolosTextMedium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GolosTextSemiBold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Здравствуйте. Тема моей работы — это проектирование и разработка распределённого хранилища данных для семантической сети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16e0494e5_0_5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e16e0494e5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Начну я с того, что г</a:t>
            </a:r>
            <a:r>
              <a:rPr lang="ru-RU"/>
              <a:t>рафы знаний за последние десять лет выросли на порядок. Wikidata содержит около 15 миллиардов RDF-триплетов и продолжает расти на величину порядка миллиарда триплетов в год.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Среди существующих </a:t>
            </a:r>
            <a:r>
              <a:rPr lang="ru-RU"/>
              <a:t>промышленных </a:t>
            </a:r>
            <a:r>
              <a:rPr lang="ru-RU"/>
              <a:t>решений одни жертвуют графовой моделью ради масштабирования и складывают данные как обычные таблицы; а другие сохраняют графовую семантику, но работают в пределах одной машины.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Другой путь — наивно разрезать граф по хэшу — превращает любой обход в десятки сетевых переходов. Поэтому здесь нужно не просто шардирование, а размещение, учитывающее структуру связей.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2" name="Google Shape;272;g3e16e0494e5_0_5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Таким образом, ц</a:t>
            </a:r>
            <a:r>
              <a:rPr lang="ru-RU"/>
              <a:t>ель — это обеспечить горизонтальное масштабирование без потери графовой семантики и без отказа от строгих транзакционных гарантий. Задачи, представленные на слайде, ведут от анализа существующих систем и проектирование архитектуры и реализации прототипа и его экспериментальной проверке.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99" name="Google Shape;399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Был проанализирован ряд существующих систем — как графовых на основе троек «субъект–предикат–объект» и модели графа с типизированными свойствами, так и реляционных систем с сильными гарантиями согласованности.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Анализ показал, что ни одна из рассмотренных систем не закрывает одновременно четыре свойства: распределённость, графовую модель, сериализуемость и внешнюю согласованность.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Эта незаполненная ниша и определяет направление дальнейшей работы.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08" name="Google Shape;408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e16e0494e5_0_11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g3e16e0494e5_0_1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Требования были сформированы по двум источникам. Первый — это типОвые сценарии работы с семантической сетью, среди которых обходы графа знаний на несколько уровней, запросы по сходству эмбеддингов и массовая загрузка дампов.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Второй — это то, чего не хватало в проанализированных системах: то есть межшардовой атомарности и внешней согласованности.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17" name="Google Shape;417;g3e16e0494e5_0_11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Перед реализацией стояло несколько ключевых архитектурных решений, представленных на слайде.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Каждая из четырёх подзадач проектирования решена с некоторым обоснованием.</a:t>
            </a:r>
            <a:r>
              <a:rPr lang="ru-RU"/>
              <a:t> Один из выборов — это встроить хранилище метаданных прямо в data plane вместо использования внешнего, что убирает узкое место общего консенсуса.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В качестве алгоритма консенсуса был выбран Raft, а не Paxos за счёт явного выделения лидера, и зрелых промышленных реализаций.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74" name="Google Shape;474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e16e0494e5_0_14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g3e16e0494e5_0_1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Из принятых архитектурных решений собирается следующая схема кластера.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Система имеет три уровня: на входе — GraphQL-шлюз, через которую клиент работает по защищённому каналу. За шлюзами — узлы хранения, каждый из которых одновременно держит свои шарды, участвует в репликации и в хранилище метаданных.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Отдельно стоит оркестратор, отвечающий за размещение данных и схему. Ключевая особенность в том у каждого шарда свой независимый кворум репликации, благодаря чему в системе нет единой точки общего консенсуса.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82" name="Google Shape;482;g3e16e0494e5_0_149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e16e0494e5_0_22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g3e16e0494e5_0_2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Идея размещать связанные сущности на одном шарде кажется очевидной, но в реализации есть подводные камни.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Первый — найти эти «связанные сущности» в графе на большом число вершин нужно быстро. Для этого выбран алгоритм Лейдена, потому что он (в отличие, например, от Лувена), гарантирует связность сообществ — и это критично, иначе планировщик начинает резать кластеры по активным связям.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Вторая часть — куда именно распределить найденные сообщества, и здесь работает алгоритм многоцелевой оптимизации с сортировкой по не доминированию: с его помощью мы минимизируем число межшардовых рёбер, выравниваем нагрузку и учитывает стоимость самой миграции по объему изменяющихся вершин.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И наконец, когда мигрировать – если переразмещать на каждое изменение графа, то накладные расходы съедают всю выгоду, и поэтому миграция запускается тогда, когда ожидаемое улучшение превышает заданный порог.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31" name="Google Shape;531;g3e16e0494e5_0_22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Для межшардовых транзакций нужны две гарантии: </a:t>
            </a:r>
            <a:r>
              <a:rPr lang="ru-RU"/>
              <a:t>это </a:t>
            </a:r>
            <a:r>
              <a:rPr lang="ru-RU"/>
              <a:t>сериализуемость и внешняя согласованность.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При параллельных межшардовых транзакциях возможны аномалии записи, фантомы, неконсистентные чтения; и чтобы их исключить, и нужна сериализуемость</a:t>
            </a:r>
            <a:r>
              <a:rPr lang="ru-RU"/>
              <a:t> — то есть гарантия того, что параллельные транзакции ведут себя так, как если бы выполнялись по очереди</a:t>
            </a:r>
            <a:r>
              <a:rPr lang="ru-RU"/>
              <a:t>. Обеспечивает её сериализуемая изоляция снимков — при этом проверка конфликтов выполняется до фиксации, что позволяет обойтись без тяжёлых блокировок на чтении.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Внешняя согласованность, чтобы транзакция ждала момента, когда часы гарантированно перешли за её отметку фиксации, что обеспечивает корректный порядок видимости — через двухфазный коммит в стиле Google Percolator.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На диаграмме виден путь транзакции — от предзаписи и до подтверждения клиенту.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635" name="Google Shape;635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e16e0494e5_0_36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5" name="Google Shape;665;g3e16e0494e5_0_3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Глобальные блокировки в распределённых транзакциях обычно ловят тайм-аутом. И это плохой компромисс: короткий таймаут дает ложные откаты, а с длинным система подвисает на реальных дедлоках.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Я отказался от тайм-аутов в пользу двух контуров обнаружения, работающих параллельно.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Быстрый контур через алгоритм Чанди — Мизры — Хааса, и его ключевая деталь в том, что зонд несёт полезную нагрузку с вектором стоимостей транзакций, собираемых по пути. Когда зонд возвращается, инициатор уже знает, кого откатывать, здесь один проход — одно решение.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Медленный контур — это алгоритм Тарьяна по снимкам графа, и это классический поиск компоненты сильной связности, он работает по расписанию и ловит то, что мог пропустить быстрый.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Связывает два контура общая детерминированная формула выбора жертвы. Если оба контура срабатывают на одном цикле — они выбирают одну и ту же транзакцию, а повторная отмена безопасна за счёт идемпотентности.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66" name="Google Shape;666;g3e16e0494e5_0_36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e16e0494e5_0_26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5" name="Google Shape;705;g3e16e0494e5_0_2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Качество реализации было для меня отдельной задачей, а не побочным эффектом разработки, и тестирование шло на трёх уровнях: модульные тесты алгоритмических примитивов, end-to-end поверх стенда из нескольких узлов и автоматизированное тестирование отказов с инъекцией сбоев.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06" name="Google Shape;706;g3e16e0494e5_0_26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e16e0494e5_0_29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2" name="Google Shape;752;g3e16e0494e5_0_2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Новизна работы — двух типов, дополняющих друг друга.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Во-первых, вышеописанный гибридный детектор блокировок; в открытых системах его аналогов я не нашёл.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Во-вторых, набор свойств, реализованных совместно. По результатам анализа, открытых решений с такой полнотой на сегодняшний день не существует. Подчеркну, что по отдельности каждое свойство достижимо — новизна именно в том, что они собраны в одной системе.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53" name="Google Shape;753;g3e16e0494e5_0_29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e16e0494e5_0_33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5" name="Google Shape;785;g3e16e0494e5_0_3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А теперь н</a:t>
            </a:r>
            <a:r>
              <a:rPr lang="ru-RU"/>
              <a:t>екоторые экспериментальные данные.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Первый результат: </a:t>
            </a:r>
            <a:r>
              <a:rPr lang="ru-RU"/>
              <a:t>Стенд — три физических узл</a:t>
            </a:r>
            <a:r>
              <a:rPr lang="ru-RU"/>
              <a:t>а, граф со средней степенью вершины шестнадцать — это типичная плотность для социальных и биологических графов</a:t>
            </a:r>
            <a:r>
              <a:rPr lang="ru-RU"/>
              <a:t>. На обходе в ширину семантическое размещение даёт значительное снижение задержки, и эффект растёт с глубиной, потому что каждый дополнительный уровень обхода — это потенциально новый межшардовый переход.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На YCSB-нагрузке я проверял, что транзакционная цена приемлемая: девяносто девятый перцентиль укладывается в десятки миллисекунд при сотнях запросов в секунду, и этот порядок задержки сопоставим с CockroachDB на аналогичной конфигурации.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А массовая загрузка важна для первичной заливки графов знаний и работает на скорости близкой к пропускной способности диска, а отказоустойчивость я измерял в худшем случае — убивая узел в момент пиковой нагрузки.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86" name="Google Shape;786;g3e16e0494e5_0_33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9" name="Google Shape;86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Итак, п</a:t>
            </a:r>
            <a:r>
              <a:rPr lang="ru-RU"/>
              <a:t>одводя итог: цель работы достигнута — возможность горизонтального масштабирования хранения данных семантической сети обеспечена, прототип реализован и протестирован.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Экспериментально подтверждена гипотеза работы: о том, что распределённость, графовая модель, сериализуемость и внешняя согласованность могут сосуществовать в одной систем</a:t>
            </a:r>
            <a:r>
              <a:rPr lang="ru-RU"/>
              <a:t>е</a:t>
            </a:r>
            <a:r>
              <a:rPr lang="ru-RU"/>
              <a:t>; задачи выполнены.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Полученные результаты открывают возможности для дальнейшего развития в нескольких направлениях: переход от эвристического планировщика размещения к предсказательному с федеративным обучением моделей поверх графа, а также расширение модели данных, в том числе темпоральные рёбра с интервалами валидности и гиперрёбра для связей между тремя и более вершинами. Этими направлениями я планирую заниматься в ходе дальнейшего обучения на факультете.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70" name="Google Shape;870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0" name="Google Shape;93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1200"/>
              <a:t>Спасибо за внимание!</a:t>
            </a:r>
            <a:endParaRPr/>
          </a:p>
        </p:txBody>
      </p:sp>
      <p:sp>
        <p:nvSpPr>
          <p:cNvPr id="931" name="Google Shape;931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6" name="Google Shape;93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Исходный код и документация на GitHub.</a:t>
            </a:r>
            <a:endParaRPr/>
          </a:p>
        </p:txBody>
      </p:sp>
      <p:sp>
        <p:nvSpPr>
          <p:cNvPr id="937" name="Google Shape;937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1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784" name="adj"/>
            </a:avLst>
          </a:prstGeom>
          <a:noFill/>
          <a:ln>
            <a:noFill/>
          </a:ln>
        </p:spPr>
      </p:sp>
      <p:sp>
        <p:nvSpPr>
          <p:cNvPr id="41" name="Google Shape;41;p8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952" name="adj"/>
            </a:avLst>
          </a:prstGeom>
          <a:noFill/>
          <a:ln>
            <a:noFill/>
          </a:ln>
        </p:spPr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ользовательский макет">
  <p:cSld name="7_Пользовательский макет"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8957" name="adj"/>
            </a:avLst>
          </a:prstGeom>
          <a:noFill/>
          <a:ln>
            <a:noFill/>
          </a:ln>
        </p:spPr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ользовательский макет">
  <p:cSld name="8_Пользовательский макет"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83" name="Google Shape;83;p1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9"/>
          <p:cNvSpPr/>
          <p:nvPr>
            <p:ph idx="2" type="pic"/>
          </p:nvPr>
        </p:nvSpPr>
        <p:spPr>
          <a:xfrm>
            <a:off x="457200" y="943208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89" name="Google Shape;89;p19"/>
          <p:cNvSpPr/>
          <p:nvPr>
            <p:ph idx="3" type="pic"/>
          </p:nvPr>
        </p:nvSpPr>
        <p:spPr>
          <a:xfrm>
            <a:off x="457200" y="2935720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">
  <p:cSld name="9_Пользовательский макет"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>
            <p:ph idx="1" type="body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2" type="body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3" type="body"/>
          </p:nvPr>
        </p:nvSpPr>
        <p:spPr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/>
          <p:nvPr>
            <p:ph idx="1" type="body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2" type="body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3" type="body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4" type="body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0" name="Google Shape;100;p21"/>
          <p:cNvSpPr txBox="1"/>
          <p:nvPr>
            <p:ph idx="5" type="body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1" name="Google Shape;101;p21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6" type="body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3" name="Google Shape;103;p21"/>
          <p:cNvSpPr/>
          <p:nvPr>
            <p:ph idx="7" type="pic"/>
          </p:nvPr>
        </p:nvSpPr>
        <p:spPr>
          <a:xfrm>
            <a:off x="469081" y="944463"/>
            <a:ext cx="2577001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04" name="Google Shape;104;p21"/>
          <p:cNvSpPr/>
          <p:nvPr>
            <p:ph idx="8" type="pic"/>
          </p:nvPr>
        </p:nvSpPr>
        <p:spPr>
          <a:xfrm>
            <a:off x="3221666" y="944462"/>
            <a:ext cx="2577001" cy="1883023"/>
          </a:xfrm>
          <a:prstGeom prst="roundRect">
            <a:avLst>
              <a:gd fmla="val 12905" name="adj"/>
            </a:avLst>
          </a:prstGeom>
          <a:noFill/>
          <a:ln>
            <a:noFill/>
          </a:ln>
        </p:spPr>
      </p:sp>
      <p:sp>
        <p:nvSpPr>
          <p:cNvPr id="105" name="Google Shape;105;p21"/>
          <p:cNvSpPr/>
          <p:nvPr>
            <p:ph idx="9" type="pic"/>
          </p:nvPr>
        </p:nvSpPr>
        <p:spPr>
          <a:xfrm>
            <a:off x="5980690" y="944463"/>
            <a:ext cx="2577001" cy="1883023"/>
          </a:xfrm>
          <a:prstGeom prst="roundRect">
            <a:avLst>
              <a:gd fmla="val 1051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22"/>
          <p:cNvSpPr/>
          <p:nvPr>
            <p:ph idx="2" type="pic"/>
          </p:nvPr>
        </p:nvSpPr>
        <p:spPr>
          <a:xfrm>
            <a:off x="457200" y="949329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0" name="Google Shape;110;p22"/>
          <p:cNvSpPr/>
          <p:nvPr>
            <p:ph idx="3" type="pic"/>
          </p:nvPr>
        </p:nvSpPr>
        <p:spPr>
          <a:xfrm>
            <a:off x="3095171" y="949328"/>
            <a:ext cx="2532744" cy="1883023"/>
          </a:xfrm>
          <a:prstGeom prst="roundRect">
            <a:avLst>
              <a:gd fmla="val 11879" name="adj"/>
            </a:avLst>
          </a:prstGeom>
          <a:noFill/>
          <a:ln>
            <a:noFill/>
          </a:ln>
        </p:spPr>
      </p:sp>
      <p:sp>
        <p:nvSpPr>
          <p:cNvPr id="111" name="Google Shape;111;p22"/>
          <p:cNvSpPr/>
          <p:nvPr>
            <p:ph idx="4" type="pic"/>
          </p:nvPr>
        </p:nvSpPr>
        <p:spPr>
          <a:xfrm>
            <a:off x="3095171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2" name="Google Shape;112;p22"/>
          <p:cNvSpPr/>
          <p:nvPr>
            <p:ph idx="5" type="pic"/>
          </p:nvPr>
        </p:nvSpPr>
        <p:spPr>
          <a:xfrm>
            <a:off x="457199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/>
          <p:nvPr>
            <p:ph idx="2" type="pic"/>
          </p:nvPr>
        </p:nvSpPr>
        <p:spPr>
          <a:xfrm>
            <a:off x="3095171" y="963397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7" name="Google Shape;117;p23"/>
          <p:cNvSpPr/>
          <p:nvPr>
            <p:ph idx="3" type="pic"/>
          </p:nvPr>
        </p:nvSpPr>
        <p:spPr>
          <a:xfrm>
            <a:off x="5733141" y="966928"/>
            <a:ext cx="2532744" cy="1883023"/>
          </a:xfrm>
          <a:prstGeom prst="roundRect">
            <a:avLst>
              <a:gd fmla="val 11196" name="adj"/>
            </a:avLst>
          </a:prstGeom>
          <a:noFill/>
          <a:ln>
            <a:noFill/>
          </a:ln>
        </p:spPr>
      </p:sp>
      <p:sp>
        <p:nvSpPr>
          <p:cNvPr id="118" name="Google Shape;118;p23"/>
          <p:cNvSpPr/>
          <p:nvPr>
            <p:ph idx="4" type="pic"/>
          </p:nvPr>
        </p:nvSpPr>
        <p:spPr>
          <a:xfrm>
            <a:off x="5733141" y="2954042"/>
            <a:ext cx="2532744" cy="1883023"/>
          </a:xfrm>
          <a:prstGeom prst="roundRect">
            <a:avLst>
              <a:gd fmla="val 8802" name="adj"/>
            </a:avLst>
          </a:prstGeom>
          <a:noFill/>
          <a:ln>
            <a:noFill/>
          </a:ln>
        </p:spPr>
      </p:sp>
      <p:sp>
        <p:nvSpPr>
          <p:cNvPr id="119" name="Google Shape;119;p23"/>
          <p:cNvSpPr/>
          <p:nvPr>
            <p:ph idx="5" type="pic"/>
          </p:nvPr>
        </p:nvSpPr>
        <p:spPr>
          <a:xfrm>
            <a:off x="3095171" y="2960314"/>
            <a:ext cx="2532744" cy="1883023"/>
          </a:xfrm>
          <a:prstGeom prst="roundRect">
            <a:avLst>
              <a:gd fmla="val 8459" name="adj"/>
            </a:avLst>
          </a:prstGeom>
          <a:noFill/>
          <a:ln>
            <a:noFill/>
          </a:ln>
        </p:spPr>
      </p:sp>
      <p:sp>
        <p:nvSpPr>
          <p:cNvPr id="120" name="Google Shape;120;p23"/>
          <p:cNvSpPr/>
          <p:nvPr>
            <p:ph idx="6" type="pic"/>
          </p:nvPr>
        </p:nvSpPr>
        <p:spPr>
          <a:xfrm>
            <a:off x="457200" y="2960314"/>
            <a:ext cx="2532744" cy="1883023"/>
          </a:xfrm>
          <a:prstGeom prst="roundRect">
            <a:avLst>
              <a:gd fmla="val 1016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2" type="body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3" type="body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4"/>
          <p:cNvSpPr/>
          <p:nvPr>
            <p:ph idx="4" type="pic"/>
          </p:nvPr>
        </p:nvSpPr>
        <p:spPr>
          <a:xfrm>
            <a:off x="454050" y="952607"/>
            <a:ext cx="2589213" cy="1304294"/>
          </a:xfrm>
          <a:prstGeom prst="roundRect">
            <a:avLst>
              <a:gd fmla="val 9261" name="adj"/>
            </a:avLst>
          </a:prstGeom>
          <a:noFill/>
          <a:ln>
            <a:noFill/>
          </a:ln>
        </p:spPr>
      </p:sp>
      <p:sp>
        <p:nvSpPr>
          <p:cNvPr id="127" name="Google Shape;127;p24"/>
          <p:cNvSpPr/>
          <p:nvPr>
            <p:ph idx="5" type="pic"/>
          </p:nvPr>
        </p:nvSpPr>
        <p:spPr>
          <a:xfrm>
            <a:off x="3275818" y="952607"/>
            <a:ext cx="2589213" cy="1304294"/>
          </a:xfrm>
          <a:prstGeom prst="roundRect">
            <a:avLst>
              <a:gd fmla="val 11730" name="adj"/>
            </a:avLst>
          </a:prstGeom>
          <a:noFill/>
          <a:ln>
            <a:noFill/>
          </a:ln>
        </p:spPr>
      </p:sp>
      <p:sp>
        <p:nvSpPr>
          <p:cNvPr id="128" name="Google Shape;128;p24"/>
          <p:cNvSpPr/>
          <p:nvPr>
            <p:ph idx="6" type="pic"/>
          </p:nvPr>
        </p:nvSpPr>
        <p:spPr>
          <a:xfrm>
            <a:off x="6089789" y="952607"/>
            <a:ext cx="2589213" cy="1304294"/>
          </a:xfrm>
          <a:prstGeom prst="roundRect">
            <a:avLst>
              <a:gd fmla="val 10249" name="adj"/>
            </a:avLst>
          </a:prstGeom>
          <a:noFill/>
          <a:ln>
            <a:noFill/>
          </a:ln>
        </p:spPr>
      </p:sp>
      <p:sp>
        <p:nvSpPr>
          <p:cNvPr id="129" name="Google Shape;129;p24"/>
          <p:cNvSpPr txBox="1"/>
          <p:nvPr>
            <p:ph idx="7" type="body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24"/>
          <p:cNvSpPr txBox="1"/>
          <p:nvPr>
            <p:ph idx="8" type="body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24"/>
          <p:cNvSpPr txBox="1"/>
          <p:nvPr>
            <p:ph idx="9" type="body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24"/>
          <p:cNvSpPr/>
          <p:nvPr>
            <p:ph idx="13" type="pic"/>
          </p:nvPr>
        </p:nvSpPr>
        <p:spPr>
          <a:xfrm>
            <a:off x="457201" y="2866358"/>
            <a:ext cx="2589213" cy="1304294"/>
          </a:xfrm>
          <a:prstGeom prst="roundRect">
            <a:avLst>
              <a:gd fmla="val 12224" name="adj"/>
            </a:avLst>
          </a:prstGeom>
          <a:noFill/>
          <a:ln>
            <a:noFill/>
          </a:ln>
        </p:spPr>
      </p:sp>
      <p:sp>
        <p:nvSpPr>
          <p:cNvPr id="133" name="Google Shape;133;p24"/>
          <p:cNvSpPr/>
          <p:nvPr>
            <p:ph idx="14" type="pic"/>
          </p:nvPr>
        </p:nvSpPr>
        <p:spPr>
          <a:xfrm>
            <a:off x="3278969" y="2866358"/>
            <a:ext cx="2589213" cy="1304294"/>
          </a:xfrm>
          <a:prstGeom prst="roundRect">
            <a:avLst>
              <a:gd fmla="val 11236" name="adj"/>
            </a:avLst>
          </a:prstGeom>
          <a:noFill/>
          <a:ln>
            <a:noFill/>
          </a:ln>
        </p:spPr>
      </p:sp>
      <p:sp>
        <p:nvSpPr>
          <p:cNvPr id="134" name="Google Shape;134;p24"/>
          <p:cNvSpPr/>
          <p:nvPr>
            <p:ph idx="15" type="pic"/>
          </p:nvPr>
        </p:nvSpPr>
        <p:spPr>
          <a:xfrm>
            <a:off x="6092940" y="2866358"/>
            <a:ext cx="2589213" cy="1304294"/>
          </a:xfrm>
          <a:prstGeom prst="roundRect">
            <a:avLst>
              <a:gd fmla="val 975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/>
        </p:nvSpPr>
        <p:spPr>
          <a:xfrm>
            <a:off x="5098416" y="490274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5910801" y="427239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5098416" y="490274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5910801" y="427239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6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1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624113" y="1233715"/>
            <a:ext cx="7170000" cy="3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27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idx="1" type="body"/>
          </p:nvPr>
        </p:nvSpPr>
        <p:spPr>
          <a:xfrm>
            <a:off x="624113" y="1233715"/>
            <a:ext cx="7170000" cy="3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28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624113" y="1233715"/>
            <a:ext cx="7170000" cy="3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29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idx="1" type="body"/>
          </p:nvPr>
        </p:nvSpPr>
        <p:spPr>
          <a:xfrm>
            <a:off x="457200" y="1211943"/>
            <a:ext cx="74676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/>
          <p:nvPr>
            <p:ph idx="1" type="body"/>
          </p:nvPr>
        </p:nvSpPr>
        <p:spPr>
          <a:xfrm>
            <a:off x="507999" y="17922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p31"/>
          <p:cNvSpPr txBox="1"/>
          <p:nvPr>
            <p:ph idx="2" type="body"/>
          </p:nvPr>
        </p:nvSpPr>
        <p:spPr>
          <a:xfrm>
            <a:off x="507999" y="11824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31"/>
          <p:cNvSpPr txBox="1"/>
          <p:nvPr>
            <p:ph idx="3" type="body"/>
          </p:nvPr>
        </p:nvSpPr>
        <p:spPr>
          <a:xfrm>
            <a:off x="5000171" y="30114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p31"/>
          <p:cNvSpPr txBox="1"/>
          <p:nvPr>
            <p:ph idx="4" type="body"/>
          </p:nvPr>
        </p:nvSpPr>
        <p:spPr>
          <a:xfrm>
            <a:off x="5000171" y="24016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31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2"/>
          <p:cNvSpPr/>
          <p:nvPr>
            <p:ph idx="2" type="pic"/>
          </p:nvPr>
        </p:nvSpPr>
        <p:spPr>
          <a:xfrm>
            <a:off x="457200" y="936852"/>
            <a:ext cx="4608600" cy="3842100"/>
          </a:xfrm>
          <a:prstGeom prst="roundRect">
            <a:avLst>
              <a:gd fmla="val 7784" name="adj"/>
            </a:avLst>
          </a:prstGeom>
          <a:noFill/>
          <a:ln>
            <a:noFill/>
          </a:ln>
        </p:spPr>
      </p:sp>
      <p:sp>
        <p:nvSpPr>
          <p:cNvPr id="167" name="Google Shape;167;p32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2"/>
          <p:cNvSpPr txBox="1"/>
          <p:nvPr>
            <p:ph idx="1" type="body"/>
          </p:nvPr>
        </p:nvSpPr>
        <p:spPr>
          <a:xfrm>
            <a:off x="5508171" y="1153886"/>
            <a:ext cx="2532600" cy="3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3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3"/>
          <p:cNvSpPr txBox="1"/>
          <p:nvPr>
            <p:ph idx="1" type="body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/>
          <p:nvPr>
            <p:ph idx="1" type="body"/>
          </p:nvPr>
        </p:nvSpPr>
        <p:spPr>
          <a:xfrm>
            <a:off x="624113" y="1233715"/>
            <a:ext cx="7170000" cy="3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p34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5"/>
          <p:cNvSpPr txBox="1"/>
          <p:nvPr>
            <p:ph idx="1" type="body"/>
          </p:nvPr>
        </p:nvSpPr>
        <p:spPr>
          <a:xfrm>
            <a:off x="507999" y="17922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35"/>
          <p:cNvSpPr txBox="1"/>
          <p:nvPr>
            <p:ph idx="2" type="body"/>
          </p:nvPr>
        </p:nvSpPr>
        <p:spPr>
          <a:xfrm>
            <a:off x="507999" y="11824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35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5"/>
          <p:cNvSpPr txBox="1"/>
          <p:nvPr>
            <p:ph idx="3" type="body"/>
          </p:nvPr>
        </p:nvSpPr>
        <p:spPr>
          <a:xfrm>
            <a:off x="5000171" y="30114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35"/>
          <p:cNvSpPr txBox="1"/>
          <p:nvPr>
            <p:ph idx="4" type="body"/>
          </p:nvPr>
        </p:nvSpPr>
        <p:spPr>
          <a:xfrm>
            <a:off x="5000171" y="24016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6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6"/>
          <p:cNvSpPr/>
          <p:nvPr>
            <p:ph idx="2" type="pic"/>
          </p:nvPr>
        </p:nvSpPr>
        <p:spPr>
          <a:xfrm>
            <a:off x="457200" y="936852"/>
            <a:ext cx="4608600" cy="3842100"/>
          </a:xfrm>
          <a:prstGeom prst="roundRect">
            <a:avLst>
              <a:gd fmla="val 7952" name="adj"/>
            </a:avLst>
          </a:prstGeom>
          <a:noFill/>
          <a:ln>
            <a:noFill/>
          </a:ln>
        </p:spPr>
      </p:sp>
      <p:sp>
        <p:nvSpPr>
          <p:cNvPr id="184" name="Google Shape;184;p36"/>
          <p:cNvSpPr txBox="1"/>
          <p:nvPr>
            <p:ph idx="1" type="body"/>
          </p:nvPr>
        </p:nvSpPr>
        <p:spPr>
          <a:xfrm>
            <a:off x="5508171" y="1153886"/>
            <a:ext cx="2532600" cy="3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ользовательский макет">
  <p:cSld name="7_Пользовательский макет"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7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7"/>
          <p:cNvSpPr txBox="1"/>
          <p:nvPr>
            <p:ph idx="1" type="body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8"/>
          <p:cNvSpPr txBox="1"/>
          <p:nvPr>
            <p:ph idx="1" type="body"/>
          </p:nvPr>
        </p:nvSpPr>
        <p:spPr>
          <a:xfrm>
            <a:off x="507999" y="17922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0" name="Google Shape;190;p38"/>
          <p:cNvSpPr txBox="1"/>
          <p:nvPr>
            <p:ph idx="2" type="body"/>
          </p:nvPr>
        </p:nvSpPr>
        <p:spPr>
          <a:xfrm>
            <a:off x="507999" y="11824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p38"/>
          <p:cNvSpPr txBox="1"/>
          <p:nvPr>
            <p:ph idx="3" type="body"/>
          </p:nvPr>
        </p:nvSpPr>
        <p:spPr>
          <a:xfrm>
            <a:off x="5000171" y="30114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p38"/>
          <p:cNvSpPr txBox="1"/>
          <p:nvPr>
            <p:ph idx="4" type="body"/>
          </p:nvPr>
        </p:nvSpPr>
        <p:spPr>
          <a:xfrm>
            <a:off x="5000171" y="24016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3" name="Google Shape;193;p38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9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39"/>
          <p:cNvSpPr/>
          <p:nvPr>
            <p:ph idx="2" type="pic"/>
          </p:nvPr>
        </p:nvSpPr>
        <p:spPr>
          <a:xfrm>
            <a:off x="457200" y="936852"/>
            <a:ext cx="4608600" cy="3842100"/>
          </a:xfrm>
          <a:prstGeom prst="roundRect">
            <a:avLst>
              <a:gd fmla="val 8957" name="adj"/>
            </a:avLst>
          </a:prstGeom>
          <a:noFill/>
          <a:ln>
            <a:noFill/>
          </a:ln>
        </p:spPr>
      </p:sp>
      <p:sp>
        <p:nvSpPr>
          <p:cNvPr id="197" name="Google Shape;197;p39"/>
          <p:cNvSpPr txBox="1"/>
          <p:nvPr>
            <p:ph idx="1" type="body"/>
          </p:nvPr>
        </p:nvSpPr>
        <p:spPr>
          <a:xfrm>
            <a:off x="5508171" y="1153886"/>
            <a:ext cx="2532600" cy="3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ользовательский макет">
  <p:cSld name="8_Пользовательский макет"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40"/>
          <p:cNvSpPr txBox="1"/>
          <p:nvPr>
            <p:ph idx="1" type="body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1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41"/>
          <p:cNvSpPr txBox="1"/>
          <p:nvPr>
            <p:ph idx="1" type="body"/>
          </p:nvPr>
        </p:nvSpPr>
        <p:spPr>
          <a:xfrm>
            <a:off x="507999" y="17922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41"/>
          <p:cNvSpPr txBox="1"/>
          <p:nvPr>
            <p:ph idx="2" type="body"/>
          </p:nvPr>
        </p:nvSpPr>
        <p:spPr>
          <a:xfrm>
            <a:off x="507999" y="11824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41"/>
          <p:cNvSpPr txBox="1"/>
          <p:nvPr>
            <p:ph idx="3" type="body"/>
          </p:nvPr>
        </p:nvSpPr>
        <p:spPr>
          <a:xfrm>
            <a:off x="5000171" y="30114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6" name="Google Shape;206;p41"/>
          <p:cNvSpPr txBox="1"/>
          <p:nvPr>
            <p:ph idx="4" type="body"/>
          </p:nvPr>
        </p:nvSpPr>
        <p:spPr>
          <a:xfrm>
            <a:off x="5000171" y="24016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2"/>
          <p:cNvSpPr/>
          <p:nvPr>
            <p:ph idx="2" type="pic"/>
          </p:nvPr>
        </p:nvSpPr>
        <p:spPr>
          <a:xfrm>
            <a:off x="457200" y="936852"/>
            <a:ext cx="4608600" cy="3842100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209" name="Google Shape;209;p42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42"/>
          <p:cNvSpPr txBox="1"/>
          <p:nvPr>
            <p:ph idx="1" type="body"/>
          </p:nvPr>
        </p:nvSpPr>
        <p:spPr>
          <a:xfrm>
            <a:off x="5508171" y="1153886"/>
            <a:ext cx="2532600" cy="3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3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43"/>
          <p:cNvSpPr txBox="1"/>
          <p:nvPr>
            <p:ph idx="1" type="body"/>
          </p:nvPr>
        </p:nvSpPr>
        <p:spPr>
          <a:xfrm>
            <a:off x="3102428" y="943208"/>
            <a:ext cx="5526300" cy="3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43"/>
          <p:cNvSpPr/>
          <p:nvPr>
            <p:ph idx="2" type="pic"/>
          </p:nvPr>
        </p:nvSpPr>
        <p:spPr>
          <a:xfrm>
            <a:off x="457200" y="943208"/>
            <a:ext cx="2532600" cy="1883100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215" name="Google Shape;215;p43"/>
          <p:cNvSpPr/>
          <p:nvPr>
            <p:ph idx="3" type="pic"/>
          </p:nvPr>
        </p:nvSpPr>
        <p:spPr>
          <a:xfrm>
            <a:off x="457200" y="2935720"/>
            <a:ext cx="2532600" cy="1883100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">
  <p:cSld name="9_Пользовательский макет"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4"/>
          <p:cNvSpPr txBox="1"/>
          <p:nvPr>
            <p:ph idx="1" type="body"/>
          </p:nvPr>
        </p:nvSpPr>
        <p:spPr>
          <a:xfrm>
            <a:off x="457201" y="1059322"/>
            <a:ext cx="3897000" cy="17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8" name="Google Shape;218;p44"/>
          <p:cNvSpPr txBox="1"/>
          <p:nvPr>
            <p:ph idx="2" type="body"/>
          </p:nvPr>
        </p:nvSpPr>
        <p:spPr>
          <a:xfrm>
            <a:off x="457202" y="3105836"/>
            <a:ext cx="3897000" cy="16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9" name="Google Shape;219;p44"/>
          <p:cNvSpPr txBox="1"/>
          <p:nvPr>
            <p:ph idx="3" type="body"/>
          </p:nvPr>
        </p:nvSpPr>
        <p:spPr>
          <a:xfrm>
            <a:off x="4789714" y="1059322"/>
            <a:ext cx="3632100" cy="3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0" name="Google Shape;220;p44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5"/>
          <p:cNvSpPr txBox="1"/>
          <p:nvPr>
            <p:ph idx="1" type="body"/>
          </p:nvPr>
        </p:nvSpPr>
        <p:spPr>
          <a:xfrm>
            <a:off x="457201" y="2933902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p45"/>
          <p:cNvSpPr txBox="1"/>
          <p:nvPr>
            <p:ph idx="2" type="body"/>
          </p:nvPr>
        </p:nvSpPr>
        <p:spPr>
          <a:xfrm>
            <a:off x="3209454" y="2933902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4" name="Google Shape;224;p45"/>
          <p:cNvSpPr txBox="1"/>
          <p:nvPr>
            <p:ph idx="3" type="body"/>
          </p:nvPr>
        </p:nvSpPr>
        <p:spPr>
          <a:xfrm>
            <a:off x="5969804" y="2933902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5" name="Google Shape;225;p45"/>
          <p:cNvSpPr txBox="1"/>
          <p:nvPr>
            <p:ph idx="4" type="body"/>
          </p:nvPr>
        </p:nvSpPr>
        <p:spPr>
          <a:xfrm>
            <a:off x="457200" y="3287828"/>
            <a:ext cx="2589000" cy="13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26" name="Google Shape;226;p45"/>
          <p:cNvSpPr txBox="1"/>
          <p:nvPr>
            <p:ph idx="5" type="body"/>
          </p:nvPr>
        </p:nvSpPr>
        <p:spPr>
          <a:xfrm>
            <a:off x="3207251" y="3299578"/>
            <a:ext cx="2591400" cy="13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27" name="Google Shape;227;p45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45"/>
          <p:cNvSpPr txBox="1"/>
          <p:nvPr>
            <p:ph idx="6" type="body"/>
          </p:nvPr>
        </p:nvSpPr>
        <p:spPr>
          <a:xfrm>
            <a:off x="5967600" y="3299578"/>
            <a:ext cx="2591400" cy="13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29" name="Google Shape;229;p45"/>
          <p:cNvSpPr/>
          <p:nvPr>
            <p:ph idx="7" type="pic"/>
          </p:nvPr>
        </p:nvSpPr>
        <p:spPr>
          <a:xfrm>
            <a:off x="469081" y="944463"/>
            <a:ext cx="2577000" cy="1883100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230" name="Google Shape;230;p45"/>
          <p:cNvSpPr/>
          <p:nvPr>
            <p:ph idx="8" type="pic"/>
          </p:nvPr>
        </p:nvSpPr>
        <p:spPr>
          <a:xfrm>
            <a:off x="3221666" y="944462"/>
            <a:ext cx="2577000" cy="1883100"/>
          </a:xfrm>
          <a:prstGeom prst="roundRect">
            <a:avLst>
              <a:gd fmla="val 12905" name="adj"/>
            </a:avLst>
          </a:prstGeom>
          <a:noFill/>
          <a:ln>
            <a:noFill/>
          </a:ln>
        </p:spPr>
      </p:sp>
      <p:sp>
        <p:nvSpPr>
          <p:cNvPr id="231" name="Google Shape;231;p45"/>
          <p:cNvSpPr/>
          <p:nvPr>
            <p:ph idx="9" type="pic"/>
          </p:nvPr>
        </p:nvSpPr>
        <p:spPr>
          <a:xfrm>
            <a:off x="5980690" y="944463"/>
            <a:ext cx="2577000" cy="1883100"/>
          </a:xfrm>
          <a:prstGeom prst="roundRect">
            <a:avLst>
              <a:gd fmla="val 1051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46"/>
          <p:cNvSpPr txBox="1"/>
          <p:nvPr>
            <p:ph idx="1" type="body"/>
          </p:nvPr>
        </p:nvSpPr>
        <p:spPr>
          <a:xfrm>
            <a:off x="5733143" y="949330"/>
            <a:ext cx="2895600" cy="3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5" name="Google Shape;235;p46"/>
          <p:cNvSpPr/>
          <p:nvPr>
            <p:ph idx="2" type="pic"/>
          </p:nvPr>
        </p:nvSpPr>
        <p:spPr>
          <a:xfrm>
            <a:off x="457200" y="949329"/>
            <a:ext cx="2532600" cy="1883100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236" name="Google Shape;236;p46"/>
          <p:cNvSpPr/>
          <p:nvPr>
            <p:ph idx="3" type="pic"/>
          </p:nvPr>
        </p:nvSpPr>
        <p:spPr>
          <a:xfrm>
            <a:off x="3095171" y="949328"/>
            <a:ext cx="2532600" cy="1883100"/>
          </a:xfrm>
          <a:prstGeom prst="roundRect">
            <a:avLst>
              <a:gd fmla="val 11879" name="adj"/>
            </a:avLst>
          </a:prstGeom>
          <a:noFill/>
          <a:ln>
            <a:noFill/>
          </a:ln>
        </p:spPr>
      </p:sp>
      <p:sp>
        <p:nvSpPr>
          <p:cNvPr id="237" name="Google Shape;237;p46"/>
          <p:cNvSpPr/>
          <p:nvPr>
            <p:ph idx="4" type="pic"/>
          </p:nvPr>
        </p:nvSpPr>
        <p:spPr>
          <a:xfrm>
            <a:off x="3095171" y="2962031"/>
            <a:ext cx="2532600" cy="1883100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238" name="Google Shape;238;p46"/>
          <p:cNvSpPr/>
          <p:nvPr>
            <p:ph idx="5" type="pic"/>
          </p:nvPr>
        </p:nvSpPr>
        <p:spPr>
          <a:xfrm>
            <a:off x="457199" y="2962031"/>
            <a:ext cx="2532600" cy="1883100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7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47"/>
          <p:cNvSpPr txBox="1"/>
          <p:nvPr>
            <p:ph idx="1" type="body"/>
          </p:nvPr>
        </p:nvSpPr>
        <p:spPr>
          <a:xfrm>
            <a:off x="457201" y="963397"/>
            <a:ext cx="25326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2" name="Google Shape;242;p47"/>
          <p:cNvSpPr/>
          <p:nvPr>
            <p:ph idx="2" type="pic"/>
          </p:nvPr>
        </p:nvSpPr>
        <p:spPr>
          <a:xfrm>
            <a:off x="3095171" y="963397"/>
            <a:ext cx="2532600" cy="1883100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243" name="Google Shape;243;p47"/>
          <p:cNvSpPr/>
          <p:nvPr>
            <p:ph idx="3" type="pic"/>
          </p:nvPr>
        </p:nvSpPr>
        <p:spPr>
          <a:xfrm>
            <a:off x="5733141" y="966928"/>
            <a:ext cx="2532600" cy="1883100"/>
          </a:xfrm>
          <a:prstGeom prst="roundRect">
            <a:avLst>
              <a:gd fmla="val 11196" name="adj"/>
            </a:avLst>
          </a:prstGeom>
          <a:noFill/>
          <a:ln>
            <a:noFill/>
          </a:ln>
        </p:spPr>
      </p:sp>
      <p:sp>
        <p:nvSpPr>
          <p:cNvPr id="244" name="Google Shape;244;p47"/>
          <p:cNvSpPr/>
          <p:nvPr>
            <p:ph idx="4" type="pic"/>
          </p:nvPr>
        </p:nvSpPr>
        <p:spPr>
          <a:xfrm>
            <a:off x="5733141" y="2954042"/>
            <a:ext cx="2532600" cy="1883100"/>
          </a:xfrm>
          <a:prstGeom prst="roundRect">
            <a:avLst>
              <a:gd fmla="val 8802" name="adj"/>
            </a:avLst>
          </a:prstGeom>
          <a:noFill/>
          <a:ln>
            <a:noFill/>
          </a:ln>
        </p:spPr>
      </p:sp>
      <p:sp>
        <p:nvSpPr>
          <p:cNvPr id="245" name="Google Shape;245;p47"/>
          <p:cNvSpPr/>
          <p:nvPr>
            <p:ph idx="5" type="pic"/>
          </p:nvPr>
        </p:nvSpPr>
        <p:spPr>
          <a:xfrm>
            <a:off x="3095171" y="2960314"/>
            <a:ext cx="2532600" cy="1883100"/>
          </a:xfrm>
          <a:prstGeom prst="roundRect">
            <a:avLst>
              <a:gd fmla="val 8459" name="adj"/>
            </a:avLst>
          </a:prstGeom>
          <a:noFill/>
          <a:ln>
            <a:noFill/>
          </a:ln>
        </p:spPr>
      </p:sp>
      <p:sp>
        <p:nvSpPr>
          <p:cNvPr id="246" name="Google Shape;246;p47"/>
          <p:cNvSpPr/>
          <p:nvPr>
            <p:ph idx="6" type="pic"/>
          </p:nvPr>
        </p:nvSpPr>
        <p:spPr>
          <a:xfrm>
            <a:off x="457200" y="2960314"/>
            <a:ext cx="2532600" cy="1883100"/>
          </a:xfrm>
          <a:prstGeom prst="roundRect">
            <a:avLst>
              <a:gd fmla="val 1016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8"/>
          <p:cNvSpPr txBox="1"/>
          <p:nvPr>
            <p:ph idx="1" type="body"/>
          </p:nvPr>
        </p:nvSpPr>
        <p:spPr>
          <a:xfrm>
            <a:off x="457201" y="2367645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p48"/>
          <p:cNvSpPr txBox="1"/>
          <p:nvPr>
            <p:ph idx="2" type="body"/>
          </p:nvPr>
        </p:nvSpPr>
        <p:spPr>
          <a:xfrm>
            <a:off x="3275819" y="2367645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0" name="Google Shape;250;p48"/>
          <p:cNvSpPr txBox="1"/>
          <p:nvPr>
            <p:ph idx="3" type="body"/>
          </p:nvPr>
        </p:nvSpPr>
        <p:spPr>
          <a:xfrm>
            <a:off x="6085706" y="2367645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1" name="Google Shape;251;p48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48"/>
          <p:cNvSpPr/>
          <p:nvPr>
            <p:ph idx="4" type="pic"/>
          </p:nvPr>
        </p:nvSpPr>
        <p:spPr>
          <a:xfrm>
            <a:off x="454050" y="952607"/>
            <a:ext cx="2589300" cy="1304400"/>
          </a:xfrm>
          <a:prstGeom prst="roundRect">
            <a:avLst>
              <a:gd fmla="val 9261" name="adj"/>
            </a:avLst>
          </a:prstGeom>
          <a:noFill/>
          <a:ln>
            <a:noFill/>
          </a:ln>
        </p:spPr>
      </p:sp>
      <p:sp>
        <p:nvSpPr>
          <p:cNvPr id="253" name="Google Shape;253;p48"/>
          <p:cNvSpPr/>
          <p:nvPr>
            <p:ph idx="5" type="pic"/>
          </p:nvPr>
        </p:nvSpPr>
        <p:spPr>
          <a:xfrm>
            <a:off x="3275818" y="952607"/>
            <a:ext cx="2589300" cy="1304400"/>
          </a:xfrm>
          <a:prstGeom prst="roundRect">
            <a:avLst>
              <a:gd fmla="val 11730" name="adj"/>
            </a:avLst>
          </a:prstGeom>
          <a:noFill/>
          <a:ln>
            <a:noFill/>
          </a:ln>
        </p:spPr>
      </p:sp>
      <p:sp>
        <p:nvSpPr>
          <p:cNvPr id="254" name="Google Shape;254;p48"/>
          <p:cNvSpPr/>
          <p:nvPr>
            <p:ph idx="6" type="pic"/>
          </p:nvPr>
        </p:nvSpPr>
        <p:spPr>
          <a:xfrm>
            <a:off x="6089789" y="952607"/>
            <a:ext cx="2589300" cy="1304400"/>
          </a:xfrm>
          <a:prstGeom prst="roundRect">
            <a:avLst>
              <a:gd fmla="val 10249" name="adj"/>
            </a:avLst>
          </a:prstGeom>
          <a:noFill/>
          <a:ln>
            <a:noFill/>
          </a:ln>
        </p:spPr>
      </p:sp>
      <p:sp>
        <p:nvSpPr>
          <p:cNvPr id="255" name="Google Shape;255;p48"/>
          <p:cNvSpPr txBox="1"/>
          <p:nvPr>
            <p:ph idx="7" type="body"/>
          </p:nvPr>
        </p:nvSpPr>
        <p:spPr>
          <a:xfrm>
            <a:off x="460352" y="4281396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6" name="Google Shape;256;p48"/>
          <p:cNvSpPr txBox="1"/>
          <p:nvPr>
            <p:ph idx="8" type="body"/>
          </p:nvPr>
        </p:nvSpPr>
        <p:spPr>
          <a:xfrm>
            <a:off x="3278970" y="4281396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7" name="Google Shape;257;p48"/>
          <p:cNvSpPr txBox="1"/>
          <p:nvPr>
            <p:ph idx="9" type="body"/>
          </p:nvPr>
        </p:nvSpPr>
        <p:spPr>
          <a:xfrm>
            <a:off x="6088857" y="4281396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8" name="Google Shape;258;p48"/>
          <p:cNvSpPr/>
          <p:nvPr>
            <p:ph idx="13" type="pic"/>
          </p:nvPr>
        </p:nvSpPr>
        <p:spPr>
          <a:xfrm>
            <a:off x="457201" y="2866358"/>
            <a:ext cx="2589300" cy="1304400"/>
          </a:xfrm>
          <a:prstGeom prst="roundRect">
            <a:avLst>
              <a:gd fmla="val 12224" name="adj"/>
            </a:avLst>
          </a:prstGeom>
          <a:noFill/>
          <a:ln>
            <a:noFill/>
          </a:ln>
        </p:spPr>
      </p:sp>
      <p:sp>
        <p:nvSpPr>
          <p:cNvPr id="259" name="Google Shape;259;p48"/>
          <p:cNvSpPr/>
          <p:nvPr>
            <p:ph idx="14" type="pic"/>
          </p:nvPr>
        </p:nvSpPr>
        <p:spPr>
          <a:xfrm>
            <a:off x="3278969" y="2866358"/>
            <a:ext cx="2589300" cy="1304400"/>
          </a:xfrm>
          <a:prstGeom prst="roundRect">
            <a:avLst>
              <a:gd fmla="val 11236" name="adj"/>
            </a:avLst>
          </a:prstGeom>
          <a:noFill/>
          <a:ln>
            <a:noFill/>
          </a:ln>
        </p:spPr>
      </p:sp>
      <p:sp>
        <p:nvSpPr>
          <p:cNvPr id="260" name="Google Shape;260;p48"/>
          <p:cNvSpPr/>
          <p:nvPr>
            <p:ph idx="15" type="pic"/>
          </p:nvPr>
        </p:nvSpPr>
        <p:spPr>
          <a:xfrm>
            <a:off x="6092940" y="2866358"/>
            <a:ext cx="2589300" cy="1304400"/>
          </a:xfrm>
          <a:prstGeom prst="roundRect">
            <a:avLst>
              <a:gd fmla="val 975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36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46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42.xml"/><Relationship Id="rId6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457200" y="306434"/>
            <a:ext cx="82296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457200" y="1121912"/>
            <a:ext cx="8229600" cy="28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" name="Google Shape;138;p25"/>
          <p:cNvSpPr txBox="1"/>
          <p:nvPr/>
        </p:nvSpPr>
        <p:spPr>
          <a:xfrm>
            <a:off x="-865051" y="4134125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-865051" y="4134125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3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9"/>
          <p:cNvSpPr txBox="1"/>
          <p:nvPr>
            <p:ph type="title"/>
          </p:nvPr>
        </p:nvSpPr>
        <p:spPr>
          <a:xfrm>
            <a:off x="1371600" y="2279400"/>
            <a:ext cx="6400800" cy="8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2500">
                <a:solidFill>
                  <a:schemeClr val="lt1"/>
                </a:solidFill>
              </a:rPr>
              <a:t>Проектирование и разработка распределённого хранилища данных для семантической сети</a:t>
            </a:r>
            <a:endParaRPr sz="2500">
              <a:solidFill>
                <a:schemeClr val="lt1"/>
              </a:solidFill>
            </a:endParaRPr>
          </a:p>
        </p:txBody>
      </p:sp>
      <p:sp>
        <p:nvSpPr>
          <p:cNvPr id="267" name="Google Shape;267;p49"/>
          <p:cNvSpPr txBox="1"/>
          <p:nvPr/>
        </p:nvSpPr>
        <p:spPr>
          <a:xfrm>
            <a:off x="5000000" y="3695350"/>
            <a:ext cx="40440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ru-RU" sz="13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Выполнил:</a:t>
            </a:r>
            <a:r>
              <a:rPr b="0" i="0" lang="ru-RU" sz="13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 Барсуков М.А. P3415</a:t>
            </a:r>
            <a:endParaRPr b="0" i="0" sz="1300" u="none" cap="none" strike="noStrike">
              <a:solidFill>
                <a:srgbClr val="FFFFFF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Научный руководитель</a:t>
            </a:r>
            <a:r>
              <a:rPr b="1" i="0" lang="ru-RU" sz="13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:</a:t>
            </a:r>
            <a:r>
              <a:rPr b="0" i="0" lang="ru-RU" sz="13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 Цопа Е.А.</a:t>
            </a:r>
            <a:endParaRPr b="0" i="0" sz="1300" u="none" cap="none" strike="noStrike">
              <a:solidFill>
                <a:srgbClr val="FFFFFF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68" name="Google Shape;268;p49"/>
          <p:cNvSpPr txBox="1"/>
          <p:nvPr/>
        </p:nvSpPr>
        <p:spPr>
          <a:xfrm>
            <a:off x="3072000" y="46029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Университет ИТМО, 2026 г.</a:t>
            </a:r>
            <a:endParaRPr b="0" i="0" sz="1400" u="none" cap="none" strike="noStrike">
              <a:solidFill>
                <a:srgbClr val="FFFFFF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Актуальность</a:t>
            </a:r>
            <a:endParaRPr/>
          </a:p>
        </p:txBody>
      </p:sp>
      <p:sp>
        <p:nvSpPr>
          <p:cNvPr id="275" name="Google Shape;275;p50"/>
          <p:cNvSpPr txBox="1"/>
          <p:nvPr/>
        </p:nvSpPr>
        <p:spPr>
          <a:xfrm>
            <a:off x="460000" y="950000"/>
            <a:ext cx="41001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-RU" sz="15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Графы знаний — </a:t>
            </a:r>
            <a:r>
              <a:rPr b="1" i="0" lang="ru-RU" sz="15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миллиарды рёбер</a:t>
            </a:r>
            <a:endParaRPr/>
          </a:p>
        </p:txBody>
      </p:sp>
      <p:sp>
        <p:nvSpPr>
          <p:cNvPr id="276" name="Google Shape;276;p50"/>
          <p:cNvSpPr txBox="1"/>
          <p:nvPr/>
        </p:nvSpPr>
        <p:spPr>
          <a:xfrm>
            <a:off x="460000" y="1330000"/>
            <a:ext cx="410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ru-RU" sz="1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Wikidata</a:t>
            </a:r>
            <a:r>
              <a:rPr i="1" lang="ru-RU" sz="100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,</a:t>
            </a:r>
            <a:r>
              <a:rPr b="0" i="1" lang="ru-RU" sz="1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 DBpedia</a:t>
            </a:r>
            <a:r>
              <a:rPr i="1" lang="ru-RU" sz="100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,</a:t>
            </a:r>
            <a:r>
              <a:rPr b="0" i="1" lang="ru-RU" sz="1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 корпоративные базы знаний</a:t>
            </a:r>
            <a:endParaRPr/>
          </a:p>
        </p:txBody>
      </p:sp>
      <p:sp>
        <p:nvSpPr>
          <p:cNvPr id="277" name="Google Shape;277;p50"/>
          <p:cNvSpPr/>
          <p:nvPr/>
        </p:nvSpPr>
        <p:spPr>
          <a:xfrm>
            <a:off x="460000" y="1700000"/>
            <a:ext cx="4100100" cy="759900"/>
          </a:xfrm>
          <a:prstGeom prst="roundRect">
            <a:avLst>
              <a:gd fmla="val 10000" name="adj"/>
            </a:avLst>
          </a:prstGeom>
          <a:solidFill>
            <a:srgbClr val="FFE0E0"/>
          </a:solidFill>
          <a:ln cap="flat" cmpd="sng" w="9525">
            <a:solidFill>
              <a:srgbClr val="C9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0"/>
          <p:cNvSpPr/>
          <p:nvPr/>
        </p:nvSpPr>
        <p:spPr>
          <a:xfrm>
            <a:off x="460000" y="1700000"/>
            <a:ext cx="80100" cy="759900"/>
          </a:xfrm>
          <a:prstGeom prst="rect">
            <a:avLst/>
          </a:prstGeom>
          <a:solidFill>
            <a:srgbClr val="C9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50"/>
          <p:cNvSpPr txBox="1"/>
          <p:nvPr/>
        </p:nvSpPr>
        <p:spPr>
          <a:xfrm>
            <a:off x="590000" y="1790000"/>
            <a:ext cx="393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Один узел не справляется</a:t>
            </a:r>
            <a:endParaRPr/>
          </a:p>
        </p:txBody>
      </p:sp>
      <p:sp>
        <p:nvSpPr>
          <p:cNvPr id="280" name="Google Shape;280;p50"/>
          <p:cNvSpPr txBox="1"/>
          <p:nvPr/>
        </p:nvSpPr>
        <p:spPr>
          <a:xfrm>
            <a:off x="590000" y="2110000"/>
            <a:ext cx="393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ru-RU" sz="1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миллиарды рёбер не помещаются в одну машину</a:t>
            </a:r>
            <a:endParaRPr/>
          </a:p>
        </p:txBody>
      </p:sp>
      <p:sp>
        <p:nvSpPr>
          <p:cNvPr id="281" name="Google Shape;281;p50"/>
          <p:cNvSpPr/>
          <p:nvPr/>
        </p:nvSpPr>
        <p:spPr>
          <a:xfrm>
            <a:off x="460000" y="2520000"/>
            <a:ext cx="4100100" cy="759900"/>
          </a:xfrm>
          <a:prstGeom prst="roundRect">
            <a:avLst>
              <a:gd fmla="val 10000" name="adj"/>
            </a:avLst>
          </a:prstGeom>
          <a:solidFill>
            <a:srgbClr val="FFF3D6"/>
          </a:solidFill>
          <a:ln cap="flat" cmpd="sng" w="952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50"/>
          <p:cNvSpPr/>
          <p:nvPr/>
        </p:nvSpPr>
        <p:spPr>
          <a:xfrm>
            <a:off x="460000" y="2520000"/>
            <a:ext cx="80100" cy="759900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50"/>
          <p:cNvSpPr txBox="1"/>
          <p:nvPr/>
        </p:nvSpPr>
        <p:spPr>
          <a:xfrm>
            <a:off x="590000" y="2610000"/>
            <a:ext cx="393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Хэш-шардирование рвёт связи</a:t>
            </a:r>
            <a:endParaRPr/>
          </a:p>
        </p:txBody>
      </p:sp>
      <p:sp>
        <p:nvSpPr>
          <p:cNvPr id="284" name="Google Shape;284;p50"/>
          <p:cNvSpPr txBox="1"/>
          <p:nvPr/>
        </p:nvSpPr>
        <p:spPr>
          <a:xfrm>
            <a:off x="573300" y="2827727"/>
            <a:ext cx="39399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ru-RU" sz="1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обходы — переходы между шардами</a:t>
            </a:r>
            <a:r>
              <a:rPr i="1" lang="ru-RU" sz="100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,</a:t>
            </a:r>
            <a:r>
              <a:rPr b="0" i="1" lang="ru-RU" sz="1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 задержка растёт с глубиной</a:t>
            </a:r>
            <a:endParaRPr/>
          </a:p>
        </p:txBody>
      </p:sp>
      <p:sp>
        <p:nvSpPr>
          <p:cNvPr id="285" name="Google Shape;285;p50"/>
          <p:cNvSpPr/>
          <p:nvPr/>
        </p:nvSpPr>
        <p:spPr>
          <a:xfrm>
            <a:off x="460000" y="3340000"/>
            <a:ext cx="4100100" cy="759900"/>
          </a:xfrm>
          <a:prstGeom prst="roundRect">
            <a:avLst>
              <a:gd fmla="val 10000" name="adj"/>
            </a:avLst>
          </a:prstGeom>
          <a:solidFill>
            <a:srgbClr val="F2EBFD"/>
          </a:solidFill>
          <a:ln cap="flat" cmpd="sng" w="952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50"/>
          <p:cNvSpPr/>
          <p:nvPr/>
        </p:nvSpPr>
        <p:spPr>
          <a:xfrm>
            <a:off x="460000" y="3340000"/>
            <a:ext cx="80100" cy="759900"/>
          </a:xfrm>
          <a:prstGeom prst="rect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50"/>
          <p:cNvSpPr txBox="1"/>
          <p:nvPr/>
        </p:nvSpPr>
        <p:spPr>
          <a:xfrm>
            <a:off x="590000" y="3430000"/>
            <a:ext cx="393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Открытые решения — компромисс</a:t>
            </a:r>
            <a:endParaRPr/>
          </a:p>
        </p:txBody>
      </p:sp>
      <p:sp>
        <p:nvSpPr>
          <p:cNvPr id="288" name="Google Shape;288;p50"/>
          <p:cNvSpPr txBox="1"/>
          <p:nvPr/>
        </p:nvSpPr>
        <p:spPr>
          <a:xfrm>
            <a:off x="590000" y="3689863"/>
            <a:ext cx="393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ru-RU" sz="1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не да</a:t>
            </a:r>
            <a:r>
              <a:rPr i="1" lang="ru-RU" sz="100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ют</a:t>
            </a:r>
            <a:r>
              <a:rPr b="0" i="1" lang="ru-RU" sz="1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 одновременно </a:t>
            </a:r>
            <a:r>
              <a:rPr i="1" lang="ru-RU" sz="100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распределенность</a:t>
            </a:r>
            <a:r>
              <a:rPr b="0" i="1" lang="ru-RU" sz="1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, графовую модель и сериализуемость</a:t>
            </a:r>
            <a:endParaRPr/>
          </a:p>
        </p:txBody>
      </p:sp>
      <p:sp>
        <p:nvSpPr>
          <p:cNvPr id="289" name="Google Shape;289;p50"/>
          <p:cNvSpPr/>
          <p:nvPr/>
        </p:nvSpPr>
        <p:spPr>
          <a:xfrm>
            <a:off x="4760000" y="950000"/>
            <a:ext cx="4200000" cy="3150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50"/>
          <p:cNvSpPr txBox="1"/>
          <p:nvPr/>
        </p:nvSpPr>
        <p:spPr>
          <a:xfrm>
            <a:off x="4860000" y="1010000"/>
            <a:ext cx="3999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10000" spcFirstLastPara="1" rIns="10000" wrap="square" tIns="5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1 узел: переполнение</a:t>
            </a:r>
            <a:endParaRPr/>
          </a:p>
        </p:txBody>
      </p:sp>
      <p:sp>
        <p:nvSpPr>
          <p:cNvPr id="291" name="Google Shape;291;p50"/>
          <p:cNvSpPr/>
          <p:nvPr/>
        </p:nvSpPr>
        <p:spPr>
          <a:xfrm>
            <a:off x="6080000" y="1240000"/>
            <a:ext cx="1560000" cy="759900"/>
          </a:xfrm>
          <a:prstGeom prst="roundRect">
            <a:avLst>
              <a:gd fmla="val 6000" name="adj"/>
            </a:avLst>
          </a:prstGeom>
          <a:solidFill>
            <a:srgbClr val="F5F5F7"/>
          </a:solidFill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50"/>
          <p:cNvSpPr/>
          <p:nvPr/>
        </p:nvSpPr>
        <p:spPr>
          <a:xfrm>
            <a:off x="7500975" y="1436739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50"/>
          <p:cNvSpPr/>
          <p:nvPr/>
        </p:nvSpPr>
        <p:spPr>
          <a:xfrm>
            <a:off x="6212451" y="1608389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50"/>
          <p:cNvSpPr/>
          <p:nvPr/>
        </p:nvSpPr>
        <p:spPr>
          <a:xfrm>
            <a:off x="6673575" y="1554053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0"/>
          <p:cNvSpPr/>
          <p:nvPr/>
        </p:nvSpPr>
        <p:spPr>
          <a:xfrm>
            <a:off x="6642582" y="1386273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50"/>
          <p:cNvSpPr/>
          <p:nvPr/>
        </p:nvSpPr>
        <p:spPr>
          <a:xfrm>
            <a:off x="7229691" y="1375186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50"/>
          <p:cNvSpPr/>
          <p:nvPr/>
        </p:nvSpPr>
        <p:spPr>
          <a:xfrm>
            <a:off x="7398352" y="1762417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50"/>
          <p:cNvSpPr/>
          <p:nvPr/>
        </p:nvSpPr>
        <p:spPr>
          <a:xfrm>
            <a:off x="6226653" y="1351244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50"/>
          <p:cNvSpPr/>
          <p:nvPr/>
        </p:nvSpPr>
        <p:spPr>
          <a:xfrm>
            <a:off x="6356493" y="1549258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50"/>
          <p:cNvSpPr/>
          <p:nvPr/>
        </p:nvSpPr>
        <p:spPr>
          <a:xfrm>
            <a:off x="6647925" y="1849903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50"/>
          <p:cNvSpPr/>
          <p:nvPr/>
        </p:nvSpPr>
        <p:spPr>
          <a:xfrm>
            <a:off x="7422524" y="1347824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50"/>
          <p:cNvSpPr/>
          <p:nvPr/>
        </p:nvSpPr>
        <p:spPr>
          <a:xfrm>
            <a:off x="7337016" y="1528496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50"/>
          <p:cNvSpPr/>
          <p:nvPr/>
        </p:nvSpPr>
        <p:spPr>
          <a:xfrm>
            <a:off x="7522906" y="1891412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50"/>
          <p:cNvSpPr/>
          <p:nvPr/>
        </p:nvSpPr>
        <p:spPr>
          <a:xfrm>
            <a:off x="7039796" y="1551148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50"/>
          <p:cNvSpPr/>
          <p:nvPr/>
        </p:nvSpPr>
        <p:spPr>
          <a:xfrm>
            <a:off x="7102059" y="1611704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50"/>
          <p:cNvSpPr/>
          <p:nvPr/>
        </p:nvSpPr>
        <p:spPr>
          <a:xfrm>
            <a:off x="6173628" y="1487414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50"/>
          <p:cNvSpPr/>
          <p:nvPr/>
        </p:nvSpPr>
        <p:spPr>
          <a:xfrm>
            <a:off x="7046286" y="1676778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50"/>
          <p:cNvSpPr/>
          <p:nvPr/>
        </p:nvSpPr>
        <p:spPr>
          <a:xfrm>
            <a:off x="6778126" y="1602420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50"/>
          <p:cNvSpPr/>
          <p:nvPr/>
        </p:nvSpPr>
        <p:spPr>
          <a:xfrm>
            <a:off x="6611545" y="1672944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50"/>
          <p:cNvSpPr/>
          <p:nvPr/>
        </p:nvSpPr>
        <p:spPr>
          <a:xfrm>
            <a:off x="6374350" y="1417251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50"/>
          <p:cNvSpPr/>
          <p:nvPr/>
        </p:nvSpPr>
        <p:spPr>
          <a:xfrm>
            <a:off x="6956765" y="1421414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50"/>
          <p:cNvSpPr/>
          <p:nvPr/>
        </p:nvSpPr>
        <p:spPr>
          <a:xfrm>
            <a:off x="6912834" y="1680663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50"/>
          <p:cNvSpPr/>
          <p:nvPr/>
        </p:nvSpPr>
        <p:spPr>
          <a:xfrm>
            <a:off x="7426105" y="1597370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50"/>
          <p:cNvSpPr/>
          <p:nvPr/>
        </p:nvSpPr>
        <p:spPr>
          <a:xfrm>
            <a:off x="6251122" y="1801741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50"/>
          <p:cNvSpPr/>
          <p:nvPr/>
        </p:nvSpPr>
        <p:spPr>
          <a:xfrm>
            <a:off x="7284551" y="1450889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50"/>
          <p:cNvSpPr/>
          <p:nvPr/>
        </p:nvSpPr>
        <p:spPr>
          <a:xfrm>
            <a:off x="7317713" y="1627419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50"/>
          <p:cNvSpPr/>
          <p:nvPr/>
        </p:nvSpPr>
        <p:spPr>
          <a:xfrm>
            <a:off x="7478353" y="1699201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50"/>
          <p:cNvSpPr/>
          <p:nvPr/>
        </p:nvSpPr>
        <p:spPr>
          <a:xfrm>
            <a:off x="6814045" y="1328917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9" name="Google Shape;319;p50"/>
          <p:cNvCxnSpPr/>
          <p:nvPr/>
        </p:nvCxnSpPr>
        <p:spPr>
          <a:xfrm flipH="1">
            <a:off x="7065875" y="1462739"/>
            <a:ext cx="461100" cy="1143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" name="Google Shape;320;p50"/>
          <p:cNvCxnSpPr>
            <a:stCxn id="295" idx="6"/>
          </p:cNvCxnSpPr>
          <p:nvPr/>
        </p:nvCxnSpPr>
        <p:spPr>
          <a:xfrm>
            <a:off x="6694482" y="1412223"/>
            <a:ext cx="288300" cy="354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50"/>
          <p:cNvCxnSpPr/>
          <p:nvPr/>
        </p:nvCxnSpPr>
        <p:spPr>
          <a:xfrm flipH="1">
            <a:off x="6277152" y="1788417"/>
            <a:ext cx="1147200" cy="393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" name="Google Shape;322;p50"/>
          <p:cNvCxnSpPr/>
          <p:nvPr/>
        </p:nvCxnSpPr>
        <p:spPr>
          <a:xfrm rot="10800000">
            <a:off x="6199493" y="1513458"/>
            <a:ext cx="183000" cy="618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50"/>
          <p:cNvCxnSpPr/>
          <p:nvPr/>
        </p:nvCxnSpPr>
        <p:spPr>
          <a:xfrm flipH="1">
            <a:off x="7343816" y="1554496"/>
            <a:ext cx="19200" cy="990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50"/>
          <p:cNvCxnSpPr/>
          <p:nvPr/>
        </p:nvCxnSpPr>
        <p:spPr>
          <a:xfrm flipH="1">
            <a:off x="6637475" y="1580053"/>
            <a:ext cx="62100" cy="1188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5" name="Google Shape;325;p50"/>
          <p:cNvCxnSpPr/>
          <p:nvPr/>
        </p:nvCxnSpPr>
        <p:spPr>
          <a:xfrm>
            <a:off x="6252653" y="1377244"/>
            <a:ext cx="1199400" cy="2460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6" name="Google Shape;326;p50"/>
          <p:cNvCxnSpPr/>
          <p:nvPr/>
        </p:nvCxnSpPr>
        <p:spPr>
          <a:xfrm>
            <a:off x="6673925" y="1875903"/>
            <a:ext cx="875100" cy="414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7" name="Google Shape;327;p50"/>
          <p:cNvCxnSpPr>
            <a:stCxn id="296" idx="3"/>
          </p:cNvCxnSpPr>
          <p:nvPr/>
        </p:nvCxnSpPr>
        <p:spPr>
          <a:xfrm flipH="1">
            <a:off x="6938792" y="1419485"/>
            <a:ext cx="298500" cy="2871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50"/>
          <p:cNvSpPr txBox="1"/>
          <p:nvPr/>
        </p:nvSpPr>
        <p:spPr>
          <a:xfrm>
            <a:off x="4860000" y="2030000"/>
            <a:ext cx="3999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ru-RU" sz="900" u="none" cap="none" strike="noStrike">
                <a:solidFill>
                  <a:srgbClr val="C92A2A"/>
                </a:solidFill>
                <a:latin typeface="Golos Text"/>
                <a:ea typeface="Golos Text"/>
                <a:cs typeface="Golos Text"/>
                <a:sym typeface="Golos Text"/>
              </a:rPr>
              <a:t>миллиарды рёбер → не помещается</a:t>
            </a:r>
            <a:endParaRPr/>
          </a:p>
        </p:txBody>
      </p:sp>
      <p:cxnSp>
        <p:nvCxnSpPr>
          <p:cNvPr id="329" name="Google Shape;329;p50"/>
          <p:cNvCxnSpPr/>
          <p:nvPr/>
        </p:nvCxnSpPr>
        <p:spPr>
          <a:xfrm>
            <a:off x="6840000" y="2240000"/>
            <a:ext cx="0" cy="200100"/>
          </a:xfrm>
          <a:prstGeom prst="straightConnector1">
            <a:avLst/>
          </a:prstGeom>
          <a:noFill/>
          <a:ln cap="flat" cmpd="sng" w="15875">
            <a:solidFill>
              <a:srgbClr val="343A4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0" name="Google Shape;330;p50"/>
          <p:cNvSpPr txBox="1"/>
          <p:nvPr/>
        </p:nvSpPr>
        <p:spPr>
          <a:xfrm>
            <a:off x="5080000" y="2265000"/>
            <a:ext cx="16371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000" spcFirstLastPara="1" rIns="500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наивн</a:t>
            </a:r>
            <a:r>
              <a:rPr i="1" lang="ru-RU" sz="90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ое</a:t>
            </a:r>
            <a:r>
              <a:rPr b="0" i="1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шарди</a:t>
            </a:r>
            <a:r>
              <a:rPr i="1" lang="ru-RU" sz="90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рование</a:t>
            </a:r>
            <a:endParaRPr/>
          </a:p>
        </p:txBody>
      </p:sp>
      <p:sp>
        <p:nvSpPr>
          <p:cNvPr id="331" name="Google Shape;331;p50"/>
          <p:cNvSpPr txBox="1"/>
          <p:nvPr/>
        </p:nvSpPr>
        <p:spPr>
          <a:xfrm>
            <a:off x="4860000" y="2500000"/>
            <a:ext cx="3999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10000" spcFirstLastPara="1" rIns="10000" wrap="square" tIns="5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3 узла: связи разорваны</a:t>
            </a:r>
            <a:endParaRPr/>
          </a:p>
        </p:txBody>
      </p:sp>
      <p:sp>
        <p:nvSpPr>
          <p:cNvPr id="332" name="Google Shape;332;p50"/>
          <p:cNvSpPr/>
          <p:nvPr/>
        </p:nvSpPr>
        <p:spPr>
          <a:xfrm>
            <a:off x="5080000" y="2730000"/>
            <a:ext cx="1100100" cy="720000"/>
          </a:xfrm>
          <a:prstGeom prst="roundRect">
            <a:avLst>
              <a:gd fmla="val 8000" name="adj"/>
            </a:avLst>
          </a:prstGeom>
          <a:solidFill>
            <a:srgbClr val="F5F5F7"/>
          </a:solidFill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50"/>
          <p:cNvSpPr txBox="1"/>
          <p:nvPr/>
        </p:nvSpPr>
        <p:spPr>
          <a:xfrm>
            <a:off x="5080000" y="3460000"/>
            <a:ext cx="11001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000" spcFirstLastPara="1" rIns="5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узел 1</a:t>
            </a:r>
            <a:endParaRPr/>
          </a:p>
        </p:txBody>
      </p:sp>
      <p:sp>
        <p:nvSpPr>
          <p:cNvPr id="334" name="Google Shape;334;p50"/>
          <p:cNvSpPr/>
          <p:nvPr/>
        </p:nvSpPr>
        <p:spPr>
          <a:xfrm>
            <a:off x="5479563" y="2948176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50"/>
          <p:cNvSpPr/>
          <p:nvPr/>
        </p:nvSpPr>
        <p:spPr>
          <a:xfrm>
            <a:off x="5554002" y="2840631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50"/>
          <p:cNvSpPr/>
          <p:nvPr/>
        </p:nvSpPr>
        <p:spPr>
          <a:xfrm>
            <a:off x="5215954" y="3351913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50"/>
          <p:cNvSpPr/>
          <p:nvPr/>
        </p:nvSpPr>
        <p:spPr>
          <a:xfrm>
            <a:off x="5238702" y="3173452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50"/>
          <p:cNvSpPr/>
          <p:nvPr/>
        </p:nvSpPr>
        <p:spPr>
          <a:xfrm>
            <a:off x="5751097" y="2850816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50"/>
          <p:cNvSpPr/>
          <p:nvPr/>
        </p:nvSpPr>
        <p:spPr>
          <a:xfrm>
            <a:off x="6093893" y="3322084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50"/>
          <p:cNvSpPr/>
          <p:nvPr/>
        </p:nvSpPr>
        <p:spPr>
          <a:xfrm>
            <a:off x="5365127" y="2829317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50"/>
          <p:cNvSpPr/>
          <p:nvPr/>
        </p:nvSpPr>
        <p:spPr>
          <a:xfrm>
            <a:off x="5230122" y="3244710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50"/>
          <p:cNvCxnSpPr/>
          <p:nvPr/>
        </p:nvCxnSpPr>
        <p:spPr>
          <a:xfrm flipH="1">
            <a:off x="5264663" y="2974176"/>
            <a:ext cx="240900" cy="2253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" name="Google Shape;343;p50"/>
          <p:cNvCxnSpPr/>
          <p:nvPr/>
        </p:nvCxnSpPr>
        <p:spPr>
          <a:xfrm>
            <a:off x="5580002" y="2866631"/>
            <a:ext cx="540000" cy="4815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4" name="Google Shape;344;p50"/>
          <p:cNvCxnSpPr/>
          <p:nvPr/>
        </p:nvCxnSpPr>
        <p:spPr>
          <a:xfrm flipH="1" rot="10800000">
            <a:off x="5241954" y="2855313"/>
            <a:ext cx="149100" cy="5226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5" name="Google Shape;345;p50"/>
          <p:cNvCxnSpPr/>
          <p:nvPr/>
        </p:nvCxnSpPr>
        <p:spPr>
          <a:xfrm flipH="1">
            <a:off x="5255997" y="2876816"/>
            <a:ext cx="521100" cy="3939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6" name="Google Shape;346;p50"/>
          <p:cNvSpPr/>
          <p:nvPr/>
        </p:nvSpPr>
        <p:spPr>
          <a:xfrm>
            <a:off x="6310000" y="2730000"/>
            <a:ext cx="1100100" cy="720000"/>
          </a:xfrm>
          <a:prstGeom prst="roundRect">
            <a:avLst>
              <a:gd fmla="val 8000" name="adj"/>
            </a:avLst>
          </a:prstGeom>
          <a:solidFill>
            <a:srgbClr val="F5F5F7"/>
          </a:solidFill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50"/>
          <p:cNvSpPr txBox="1"/>
          <p:nvPr/>
        </p:nvSpPr>
        <p:spPr>
          <a:xfrm>
            <a:off x="6310000" y="3460000"/>
            <a:ext cx="11001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000" spcFirstLastPara="1" rIns="5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узел 2</a:t>
            </a:r>
            <a:endParaRPr/>
          </a:p>
        </p:txBody>
      </p:sp>
      <p:sp>
        <p:nvSpPr>
          <p:cNvPr id="348" name="Google Shape;348;p50"/>
          <p:cNvSpPr/>
          <p:nvPr/>
        </p:nvSpPr>
        <p:spPr>
          <a:xfrm>
            <a:off x="6808485" y="2863248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50"/>
          <p:cNvSpPr/>
          <p:nvPr/>
        </p:nvSpPr>
        <p:spPr>
          <a:xfrm>
            <a:off x="6622353" y="2885119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50"/>
          <p:cNvSpPr/>
          <p:nvPr/>
        </p:nvSpPr>
        <p:spPr>
          <a:xfrm>
            <a:off x="6947814" y="3235140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50"/>
          <p:cNvSpPr/>
          <p:nvPr/>
        </p:nvSpPr>
        <p:spPr>
          <a:xfrm>
            <a:off x="6431981" y="3382921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50"/>
          <p:cNvSpPr/>
          <p:nvPr/>
        </p:nvSpPr>
        <p:spPr>
          <a:xfrm>
            <a:off x="6499815" y="3024083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50"/>
          <p:cNvSpPr/>
          <p:nvPr/>
        </p:nvSpPr>
        <p:spPr>
          <a:xfrm>
            <a:off x="7031259" y="2854867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50"/>
          <p:cNvSpPr/>
          <p:nvPr/>
        </p:nvSpPr>
        <p:spPr>
          <a:xfrm>
            <a:off x="6975136" y="3205949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50"/>
          <p:cNvSpPr/>
          <p:nvPr/>
        </p:nvSpPr>
        <p:spPr>
          <a:xfrm>
            <a:off x="6421998" y="3021821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6" name="Google Shape;356;p50"/>
          <p:cNvCxnSpPr/>
          <p:nvPr/>
        </p:nvCxnSpPr>
        <p:spPr>
          <a:xfrm flipH="1">
            <a:off x="6457985" y="2889248"/>
            <a:ext cx="376500" cy="5196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50"/>
          <p:cNvCxnSpPr/>
          <p:nvPr/>
        </p:nvCxnSpPr>
        <p:spPr>
          <a:xfrm flipH="1" rot="10800000">
            <a:off x="6648353" y="2880819"/>
            <a:ext cx="408900" cy="303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50"/>
          <p:cNvCxnSpPr/>
          <p:nvPr/>
        </p:nvCxnSpPr>
        <p:spPr>
          <a:xfrm flipH="1" rot="10800000">
            <a:off x="6973814" y="3232040"/>
            <a:ext cx="27300" cy="291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" name="Google Shape;359;p50"/>
          <p:cNvCxnSpPr/>
          <p:nvPr/>
        </p:nvCxnSpPr>
        <p:spPr>
          <a:xfrm rot="10800000">
            <a:off x="6448115" y="3047683"/>
            <a:ext cx="77700" cy="24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" name="Google Shape;360;p50"/>
          <p:cNvSpPr/>
          <p:nvPr/>
        </p:nvSpPr>
        <p:spPr>
          <a:xfrm>
            <a:off x="7540000" y="2730000"/>
            <a:ext cx="1100100" cy="720000"/>
          </a:xfrm>
          <a:prstGeom prst="roundRect">
            <a:avLst>
              <a:gd fmla="val 8000" name="adj"/>
            </a:avLst>
          </a:prstGeom>
          <a:solidFill>
            <a:srgbClr val="F5F5F7"/>
          </a:solidFill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50"/>
          <p:cNvSpPr txBox="1"/>
          <p:nvPr/>
        </p:nvSpPr>
        <p:spPr>
          <a:xfrm>
            <a:off x="7540000" y="3460000"/>
            <a:ext cx="11001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000" spcFirstLastPara="1" rIns="5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узел 3</a:t>
            </a:r>
            <a:endParaRPr/>
          </a:p>
        </p:txBody>
      </p:sp>
      <p:sp>
        <p:nvSpPr>
          <p:cNvPr id="362" name="Google Shape;362;p50"/>
          <p:cNvSpPr/>
          <p:nvPr/>
        </p:nvSpPr>
        <p:spPr>
          <a:xfrm>
            <a:off x="7648845" y="3373705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50"/>
          <p:cNvSpPr/>
          <p:nvPr/>
        </p:nvSpPr>
        <p:spPr>
          <a:xfrm>
            <a:off x="8500169" y="2929643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50"/>
          <p:cNvSpPr/>
          <p:nvPr/>
        </p:nvSpPr>
        <p:spPr>
          <a:xfrm>
            <a:off x="7903677" y="3229499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50"/>
          <p:cNvSpPr/>
          <p:nvPr/>
        </p:nvSpPr>
        <p:spPr>
          <a:xfrm>
            <a:off x="7751262" y="3356950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50"/>
          <p:cNvSpPr/>
          <p:nvPr/>
        </p:nvSpPr>
        <p:spPr>
          <a:xfrm>
            <a:off x="7723514" y="3388646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50"/>
          <p:cNvSpPr/>
          <p:nvPr/>
        </p:nvSpPr>
        <p:spPr>
          <a:xfrm>
            <a:off x="7923466" y="3377472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50"/>
          <p:cNvSpPr/>
          <p:nvPr/>
        </p:nvSpPr>
        <p:spPr>
          <a:xfrm>
            <a:off x="8445070" y="3090680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50"/>
          <p:cNvSpPr/>
          <p:nvPr/>
        </p:nvSpPr>
        <p:spPr>
          <a:xfrm>
            <a:off x="7708061" y="3388951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" name="Google Shape;370;p50"/>
          <p:cNvCxnSpPr/>
          <p:nvPr/>
        </p:nvCxnSpPr>
        <p:spPr>
          <a:xfrm flipH="1" rot="10800000">
            <a:off x="7674845" y="3382905"/>
            <a:ext cx="102300" cy="168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1" name="Google Shape;371;p50"/>
          <p:cNvCxnSpPr/>
          <p:nvPr/>
        </p:nvCxnSpPr>
        <p:spPr>
          <a:xfrm flipH="1">
            <a:off x="7949569" y="2955643"/>
            <a:ext cx="576600" cy="4479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2" name="Google Shape;372;p50"/>
          <p:cNvCxnSpPr/>
          <p:nvPr/>
        </p:nvCxnSpPr>
        <p:spPr>
          <a:xfrm flipH="1" rot="10800000">
            <a:off x="7929677" y="3125599"/>
            <a:ext cx="515400" cy="1299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3" name="Google Shape;373;p50"/>
          <p:cNvCxnSpPr/>
          <p:nvPr/>
        </p:nvCxnSpPr>
        <p:spPr>
          <a:xfrm flipH="1">
            <a:off x="7733914" y="3414646"/>
            <a:ext cx="15600" cy="3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p50"/>
          <p:cNvCxnSpPr/>
          <p:nvPr/>
        </p:nvCxnSpPr>
        <p:spPr>
          <a:xfrm flipH="1" rot="10800000">
            <a:off x="5241954" y="3050013"/>
            <a:ext cx="1284000" cy="327900"/>
          </a:xfrm>
          <a:prstGeom prst="straightConnector1">
            <a:avLst/>
          </a:prstGeom>
          <a:noFill/>
          <a:ln cap="flat" cmpd="sng" w="9525">
            <a:solidFill>
              <a:srgbClr val="C92A2A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5" name="Google Shape;375;p50"/>
          <p:cNvCxnSpPr/>
          <p:nvPr/>
        </p:nvCxnSpPr>
        <p:spPr>
          <a:xfrm>
            <a:off x="5391127" y="2855317"/>
            <a:ext cx="3135000" cy="100200"/>
          </a:xfrm>
          <a:prstGeom prst="straightConnector1">
            <a:avLst/>
          </a:prstGeom>
          <a:noFill/>
          <a:ln cap="flat" cmpd="sng" w="9525">
            <a:solidFill>
              <a:srgbClr val="C92A2A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6" name="Google Shape;376;p50"/>
          <p:cNvCxnSpPr/>
          <p:nvPr/>
        </p:nvCxnSpPr>
        <p:spPr>
          <a:xfrm>
            <a:off x="6834485" y="2889248"/>
            <a:ext cx="1115100" cy="514200"/>
          </a:xfrm>
          <a:prstGeom prst="straightConnector1">
            <a:avLst/>
          </a:prstGeom>
          <a:noFill/>
          <a:ln cap="flat" cmpd="sng" w="9525">
            <a:solidFill>
              <a:srgbClr val="C92A2A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7" name="Google Shape;377;p50"/>
          <p:cNvCxnSpPr/>
          <p:nvPr/>
        </p:nvCxnSpPr>
        <p:spPr>
          <a:xfrm flipH="1">
            <a:off x="6119798" y="3047821"/>
            <a:ext cx="328200" cy="300300"/>
          </a:xfrm>
          <a:prstGeom prst="straightConnector1">
            <a:avLst/>
          </a:prstGeom>
          <a:noFill/>
          <a:ln cap="flat" cmpd="sng" w="9525">
            <a:solidFill>
              <a:srgbClr val="C92A2A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8" name="Google Shape;378;p50"/>
          <p:cNvCxnSpPr/>
          <p:nvPr/>
        </p:nvCxnSpPr>
        <p:spPr>
          <a:xfrm rot="10800000">
            <a:off x="5777162" y="2876850"/>
            <a:ext cx="2000100" cy="506100"/>
          </a:xfrm>
          <a:prstGeom prst="straightConnector1">
            <a:avLst/>
          </a:prstGeom>
          <a:noFill/>
          <a:ln cap="flat" cmpd="sng" w="9525">
            <a:solidFill>
              <a:srgbClr val="C92A2A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9" name="Google Shape;379;p50"/>
          <p:cNvCxnSpPr/>
          <p:nvPr/>
        </p:nvCxnSpPr>
        <p:spPr>
          <a:xfrm>
            <a:off x="6973814" y="3261140"/>
            <a:ext cx="760200" cy="153900"/>
          </a:xfrm>
          <a:prstGeom prst="straightConnector1">
            <a:avLst/>
          </a:prstGeom>
          <a:noFill/>
          <a:ln cap="flat" cmpd="sng" w="9525">
            <a:solidFill>
              <a:srgbClr val="C92A2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80" name="Google Shape;380;p50"/>
          <p:cNvSpPr txBox="1"/>
          <p:nvPr/>
        </p:nvSpPr>
        <p:spPr>
          <a:xfrm>
            <a:off x="4860100" y="3657950"/>
            <a:ext cx="3999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ru-RU" sz="900" u="none" cap="none" strike="noStrike">
                <a:solidFill>
                  <a:srgbClr val="C92A2A"/>
                </a:solidFill>
                <a:latin typeface="Golos Text"/>
                <a:ea typeface="Golos Text"/>
                <a:cs typeface="Golos Text"/>
                <a:sym typeface="Golos Text"/>
              </a:rPr>
              <a:t>переходы между шардами → медленные обходы</a:t>
            </a:r>
            <a:endParaRPr/>
          </a:p>
        </p:txBody>
      </p:sp>
      <p:sp>
        <p:nvSpPr>
          <p:cNvPr id="381" name="Google Shape;381;p50"/>
          <p:cNvSpPr/>
          <p:nvPr/>
        </p:nvSpPr>
        <p:spPr>
          <a:xfrm>
            <a:off x="1159800" y="4419925"/>
            <a:ext cx="6824400" cy="300000"/>
          </a:xfrm>
          <a:prstGeom prst="roundRect">
            <a:avLst>
              <a:gd fmla="val 30000" name="adj"/>
            </a:avLst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50"/>
          <p:cNvSpPr txBox="1"/>
          <p:nvPr/>
        </p:nvSpPr>
        <p:spPr>
          <a:xfrm>
            <a:off x="1159800" y="4419925"/>
            <a:ext cx="6824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Решение: </a:t>
            </a:r>
            <a:r>
              <a:rPr b="0" i="0" lang="ru-RU" sz="11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семантически-осознанное размещение шардов</a:t>
            </a:r>
            <a:endParaRPr/>
          </a:p>
        </p:txBody>
      </p:sp>
      <p:sp>
        <p:nvSpPr>
          <p:cNvPr id="383" name="Google Shape;383;p50"/>
          <p:cNvSpPr txBox="1"/>
          <p:nvPr/>
        </p:nvSpPr>
        <p:spPr>
          <a:xfrm>
            <a:off x="8699500" y="4568550"/>
            <a:ext cx="35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 SemiBold"/>
              <a:buNone/>
            </a:pPr>
            <a:r>
              <a:rPr lang="ru-RU" sz="2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cxnSp>
        <p:nvCxnSpPr>
          <p:cNvPr id="384" name="Google Shape;384;p50"/>
          <p:cNvCxnSpPr>
            <a:stCxn id="293" idx="7"/>
            <a:endCxn id="310" idx="3"/>
          </p:cNvCxnSpPr>
          <p:nvPr/>
        </p:nvCxnSpPr>
        <p:spPr>
          <a:xfrm flipH="1" rot="10800000">
            <a:off x="6256750" y="1461490"/>
            <a:ext cx="125100" cy="1545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5" name="Google Shape;385;p50"/>
          <p:cNvCxnSpPr>
            <a:endCxn id="307" idx="3"/>
          </p:cNvCxnSpPr>
          <p:nvPr/>
        </p:nvCxnSpPr>
        <p:spPr>
          <a:xfrm flipH="1">
            <a:off x="7053887" y="1636477"/>
            <a:ext cx="81000" cy="846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6" name="Google Shape;386;p50"/>
          <p:cNvCxnSpPr>
            <a:stCxn id="317" idx="0"/>
            <a:endCxn id="303" idx="0"/>
          </p:cNvCxnSpPr>
          <p:nvPr/>
        </p:nvCxnSpPr>
        <p:spPr>
          <a:xfrm>
            <a:off x="7504303" y="1699201"/>
            <a:ext cx="44700" cy="1923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" name="Google Shape;387;p50"/>
          <p:cNvCxnSpPr>
            <a:stCxn id="318" idx="5"/>
            <a:endCxn id="311" idx="1"/>
          </p:cNvCxnSpPr>
          <p:nvPr/>
        </p:nvCxnSpPr>
        <p:spPr>
          <a:xfrm>
            <a:off x="6858344" y="1373216"/>
            <a:ext cx="105900" cy="558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8" name="Google Shape;388;p50"/>
          <p:cNvCxnSpPr>
            <a:stCxn id="311" idx="5"/>
            <a:endCxn id="294" idx="6"/>
          </p:cNvCxnSpPr>
          <p:nvPr/>
        </p:nvCxnSpPr>
        <p:spPr>
          <a:xfrm flipH="1">
            <a:off x="6725364" y="1465713"/>
            <a:ext cx="275700" cy="1143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9" name="Google Shape;389;p50"/>
          <p:cNvCxnSpPr>
            <a:stCxn id="308" idx="5"/>
            <a:endCxn id="312" idx="2"/>
          </p:cNvCxnSpPr>
          <p:nvPr/>
        </p:nvCxnSpPr>
        <p:spPr>
          <a:xfrm>
            <a:off x="6822425" y="1646719"/>
            <a:ext cx="90300" cy="600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0" name="Google Shape;390;p50"/>
          <p:cNvCxnSpPr>
            <a:stCxn id="308" idx="3"/>
            <a:endCxn id="309" idx="6"/>
          </p:cNvCxnSpPr>
          <p:nvPr/>
        </p:nvCxnSpPr>
        <p:spPr>
          <a:xfrm flipH="1">
            <a:off x="6663326" y="1646719"/>
            <a:ext cx="122400" cy="522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1" name="Google Shape;391;p50"/>
          <p:cNvCxnSpPr>
            <a:stCxn id="309" idx="5"/>
            <a:endCxn id="300" idx="0"/>
          </p:cNvCxnSpPr>
          <p:nvPr/>
        </p:nvCxnSpPr>
        <p:spPr>
          <a:xfrm>
            <a:off x="6655844" y="1717243"/>
            <a:ext cx="18000" cy="1326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2" name="Google Shape;392;p50"/>
          <p:cNvCxnSpPr>
            <a:stCxn id="301" idx="5"/>
            <a:endCxn id="292" idx="1"/>
          </p:cNvCxnSpPr>
          <p:nvPr/>
        </p:nvCxnSpPr>
        <p:spPr>
          <a:xfrm>
            <a:off x="7466823" y="1392123"/>
            <a:ext cx="41700" cy="522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3" name="Google Shape;393;p50"/>
          <p:cNvCxnSpPr>
            <a:stCxn id="315" idx="6"/>
            <a:endCxn id="292" idx="2"/>
          </p:cNvCxnSpPr>
          <p:nvPr/>
        </p:nvCxnSpPr>
        <p:spPr>
          <a:xfrm flipH="1" rot="10800000">
            <a:off x="7336451" y="1462739"/>
            <a:ext cx="164400" cy="141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4" name="Google Shape;394;p50"/>
          <p:cNvCxnSpPr>
            <a:stCxn id="316" idx="2"/>
            <a:endCxn id="305" idx="6"/>
          </p:cNvCxnSpPr>
          <p:nvPr/>
        </p:nvCxnSpPr>
        <p:spPr>
          <a:xfrm rot="10800000">
            <a:off x="7153913" y="1637769"/>
            <a:ext cx="163800" cy="156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5" name="Google Shape;395;p50"/>
          <p:cNvCxnSpPr>
            <a:stCxn id="364" idx="3"/>
            <a:endCxn id="365" idx="7"/>
          </p:cNvCxnSpPr>
          <p:nvPr/>
        </p:nvCxnSpPr>
        <p:spPr>
          <a:xfrm flipH="1">
            <a:off x="7795478" y="3273798"/>
            <a:ext cx="115800" cy="909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1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olos Text SemiBold"/>
              <a:buNone/>
            </a:pPr>
            <a:r>
              <a:rPr lang="ru-RU"/>
              <a:t>Цель и задачи</a:t>
            </a:r>
            <a:endParaRPr/>
          </a:p>
        </p:txBody>
      </p:sp>
      <p:sp>
        <p:nvSpPr>
          <p:cNvPr id="402" name="Google Shape;402;p51"/>
          <p:cNvSpPr txBox="1"/>
          <p:nvPr>
            <p:ph idx="1" type="body"/>
          </p:nvPr>
        </p:nvSpPr>
        <p:spPr>
          <a:xfrm>
            <a:off x="457200" y="1228200"/>
            <a:ext cx="6860700" cy="36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ru-RU" sz="1400"/>
              <a:t>Цель:</a:t>
            </a:r>
            <a:r>
              <a:rPr lang="ru-RU" sz="1400"/>
              <a:t> </a:t>
            </a:r>
            <a:r>
              <a:rPr lang="ru-RU" sz="1400"/>
              <a:t>Обеспечение возможности горизонтального масштабирования хранения данных семантической сети.</a:t>
            </a:r>
            <a:endParaRPr sz="1400"/>
          </a:p>
          <a:p>
            <a:pPr indent="-228600" lvl="0" marL="457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b="1" lang="ru-RU" sz="1400"/>
              <a:t>Задачи:</a:t>
            </a:r>
            <a:endParaRPr b="1" sz="1400"/>
          </a:p>
          <a:p>
            <a:pPr indent="-317500" lvl="0" marL="457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00"/>
              <a:buAutoNum type="arabicPeriod"/>
            </a:pPr>
            <a:r>
              <a:rPr lang="ru-RU" sz="1400"/>
              <a:t>Проанализировать существующие подходы к распределенному хранению RDF-данных, выявить их архитектурные ограничения.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-RU" sz="1400"/>
              <a:t>Сформулировать требования к хранилищу и обосновать архитектуру.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-RU" sz="1400"/>
              <a:t>Спроектировать архитектуру кластера.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-RU" sz="1400"/>
              <a:t>Реализовать прототип с модулями хранения, кластеризацией и сетевым API.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-RU" sz="1400"/>
              <a:t>Обеспечить покрытие ключевых модулей тестами (не менее 70%).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-RU" sz="1400"/>
              <a:t>Нагрузочное тестирование и тестирование отказоустойчивости.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-RU" sz="1400"/>
              <a:t>Сравнить полученные целевые характеристики с существующими подходами, оценить характеристики системы.</a:t>
            </a:r>
            <a:endParaRPr sz="1400"/>
          </a:p>
          <a:p>
            <a:pPr indent="0" lvl="0" marL="2286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 sz="1400"/>
          </a:p>
        </p:txBody>
      </p:sp>
      <p:sp>
        <p:nvSpPr>
          <p:cNvPr id="403" name="Google Shape;403;p51"/>
          <p:cNvSpPr txBox="1"/>
          <p:nvPr/>
        </p:nvSpPr>
        <p:spPr>
          <a:xfrm>
            <a:off x="8729425" y="4590950"/>
            <a:ext cx="35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olos Text SemiBold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3</a:t>
            </a:r>
            <a:endParaRPr b="0" i="0" sz="2000" u="none" cap="none" strike="noStrike">
              <a:solidFill>
                <a:schemeClr val="lt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404" name="Google Shape;404;p51"/>
          <p:cNvSpPr/>
          <p:nvPr/>
        </p:nvSpPr>
        <p:spPr>
          <a:xfrm>
            <a:off x="8017750" y="1135025"/>
            <a:ext cx="5862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2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olos Text SemiBold"/>
              <a:buNone/>
            </a:pPr>
            <a:r>
              <a:rPr lang="ru-RU"/>
              <a:t>Анализ существующих решений</a:t>
            </a:r>
            <a:endParaRPr/>
          </a:p>
        </p:txBody>
      </p:sp>
      <p:sp>
        <p:nvSpPr>
          <p:cNvPr id="411" name="Google Shape;411;p52"/>
          <p:cNvSpPr txBox="1"/>
          <p:nvPr/>
        </p:nvSpPr>
        <p:spPr>
          <a:xfrm>
            <a:off x="8714475" y="4605950"/>
            <a:ext cx="37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olos Text SemiBold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4</a:t>
            </a:r>
            <a:endParaRPr b="0" i="0" sz="2000" u="none" cap="none" strike="noStrike">
              <a:solidFill>
                <a:schemeClr val="lt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412" name="Google Shape;412;p52"/>
          <p:cNvSpPr txBox="1"/>
          <p:nvPr/>
        </p:nvSpPr>
        <p:spPr>
          <a:xfrm>
            <a:off x="548600" y="4232925"/>
            <a:ext cx="765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Незаполненная ниша: </a:t>
            </a:r>
            <a:r>
              <a:rPr lang="ru-RU"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распределенное</a:t>
            </a:r>
            <a:r>
              <a:rPr lang="ru-RU"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 графовое хранилище с</a:t>
            </a:r>
            <a:endParaRPr sz="12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сериализуемостью и внешней согласованностью</a:t>
            </a:r>
            <a:endParaRPr sz="12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graphicFrame>
        <p:nvGraphicFramePr>
          <p:cNvPr id="413" name="Google Shape;413;p52"/>
          <p:cNvGraphicFramePr/>
          <p:nvPr/>
        </p:nvGraphicFramePr>
        <p:xfrm>
          <a:off x="548610" y="1162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{E8277D23-54D9-4293-A6A2-CA084C68128D}</a:tableStyleId>
              </a:tblPr>
              <a:tblGrid>
                <a:gridCol w="1229350"/>
                <a:gridCol w="1057175"/>
                <a:gridCol w="1551275"/>
                <a:gridCol w="1476375"/>
                <a:gridCol w="1656150"/>
                <a:gridCol w="1259275"/>
              </a:tblGrid>
              <a:tr h="29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000000"/>
                          </a:solidFill>
                        </a:rPr>
                        <a:t>Система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000000"/>
                          </a:solidFill>
                        </a:rPr>
                        <a:t>Модель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000000"/>
                          </a:solidFill>
                        </a:rPr>
                        <a:t>Распред</a:t>
                      </a:r>
                      <a:r>
                        <a:rPr b="1" lang="ru-RU" sz="1100"/>
                        <a:t>еленность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000000"/>
                          </a:solidFill>
                        </a:rPr>
                        <a:t>Сериализ</a:t>
                      </a:r>
                      <a:r>
                        <a:rPr b="1" lang="ru-RU" sz="1100"/>
                        <a:t>уемость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000000"/>
                          </a:solidFill>
                        </a:rPr>
                        <a:t>Внеш</a:t>
                      </a:r>
                      <a:r>
                        <a:rPr b="1" lang="ru-RU" sz="1100"/>
                        <a:t>няя</a:t>
                      </a:r>
                      <a:r>
                        <a:rPr b="1" lang="ru-RU" sz="1100" u="none" cap="none" strike="noStrike">
                          <a:solidFill>
                            <a:srgbClr val="000000"/>
                          </a:solidFill>
                        </a:rPr>
                        <a:t> согл</a:t>
                      </a:r>
                      <a:r>
                        <a:rPr b="1" lang="ru-RU" sz="1100"/>
                        <a:t>асованность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000000"/>
                          </a:solidFill>
                        </a:rPr>
                        <a:t>Граф</a:t>
                      </a:r>
                      <a:r>
                        <a:rPr b="1" lang="ru-RU" sz="1100"/>
                        <a:t>овые</a:t>
                      </a:r>
                      <a:r>
                        <a:rPr b="1" lang="ru-RU" sz="1100" u="none" cap="none" strike="noStrike">
                          <a:solidFill>
                            <a:srgbClr val="000000"/>
                          </a:solidFill>
                        </a:rPr>
                        <a:t> оп</a:t>
                      </a:r>
                      <a:r>
                        <a:rPr b="1" lang="ru-RU" sz="1100"/>
                        <a:t>ерации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9ECEF"/>
                    </a:solidFill>
                  </a:tcPr>
                </a:tc>
              </a:tr>
              <a:tr h="29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</a:rPr>
                        <a:t>Virtuoso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/>
                        <a:t>RDF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◐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◐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○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9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</a:rPr>
                        <a:t>Stardog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ru-RU" sz="1100">
                          <a:solidFill>
                            <a:schemeClr val="dk1"/>
                          </a:solidFill>
                        </a:rPr>
                        <a:t>RDF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◐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○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9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</a:rPr>
                        <a:t>Blazegraph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ru-RU" sz="1100">
                          <a:solidFill>
                            <a:schemeClr val="dk1"/>
                          </a:solidFill>
                        </a:rPr>
                        <a:t>RDF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◐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◐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○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9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</a:rPr>
                        <a:t>Neo4j Enterprise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</a:rPr>
                        <a:t>LPG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◐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○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9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</a:rPr>
                        <a:t>JanusGraph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</a:rPr>
                        <a:t>LPG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○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○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9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</a:rPr>
                        <a:t>Dgraph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</a:rPr>
                        <a:t>LPG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○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9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</a:rPr>
                        <a:t>Spanner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/>
                        <a:t>реляционная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○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9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</a:rPr>
                        <a:t>CockroachDB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chemeClr val="dk1"/>
                          </a:solidFill>
                        </a:rPr>
                        <a:t>реляционная</a:t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◐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○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9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000000"/>
                          </a:solidFill>
                        </a:rPr>
                        <a:t>rhizome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000000"/>
                          </a:solidFill>
                        </a:rPr>
                        <a:t>LPG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3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Требования к системе</a:t>
            </a:r>
            <a:endParaRPr/>
          </a:p>
        </p:txBody>
      </p:sp>
      <p:sp>
        <p:nvSpPr>
          <p:cNvPr id="420" name="Google Shape;420;p53"/>
          <p:cNvSpPr txBox="1"/>
          <p:nvPr/>
        </p:nvSpPr>
        <p:spPr>
          <a:xfrm>
            <a:off x="8400000" y="4583477"/>
            <a:ext cx="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5</a:t>
            </a:r>
            <a:endParaRPr/>
          </a:p>
        </p:txBody>
      </p:sp>
      <p:sp>
        <p:nvSpPr>
          <p:cNvPr id="421" name="Google Shape;421;p53"/>
          <p:cNvSpPr/>
          <p:nvPr/>
        </p:nvSpPr>
        <p:spPr>
          <a:xfrm>
            <a:off x="380000" y="950000"/>
            <a:ext cx="2727900" cy="35499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53"/>
          <p:cNvSpPr/>
          <p:nvPr/>
        </p:nvSpPr>
        <p:spPr>
          <a:xfrm>
            <a:off x="380000" y="950000"/>
            <a:ext cx="2727900" cy="459900"/>
          </a:xfrm>
          <a:prstGeom prst="roundRect">
            <a:avLst>
              <a:gd fmla="val 8000" name="adj"/>
            </a:avLst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53"/>
          <p:cNvSpPr/>
          <p:nvPr/>
        </p:nvSpPr>
        <p:spPr>
          <a:xfrm>
            <a:off x="380000" y="1310000"/>
            <a:ext cx="2727900" cy="99900"/>
          </a:xfrm>
          <a:prstGeom prst="rect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53"/>
          <p:cNvSpPr txBox="1"/>
          <p:nvPr/>
        </p:nvSpPr>
        <p:spPr>
          <a:xfrm>
            <a:off x="410000" y="1010000"/>
            <a:ext cx="26679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Функциональность</a:t>
            </a:r>
            <a:endParaRPr/>
          </a:p>
        </p:txBody>
      </p:sp>
      <p:sp>
        <p:nvSpPr>
          <p:cNvPr id="425" name="Google Shape;425;p53"/>
          <p:cNvSpPr/>
          <p:nvPr/>
        </p:nvSpPr>
        <p:spPr>
          <a:xfrm>
            <a:off x="450000" y="1580000"/>
            <a:ext cx="140100" cy="1401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53"/>
          <p:cNvSpPr txBox="1"/>
          <p:nvPr/>
        </p:nvSpPr>
        <p:spPr>
          <a:xfrm>
            <a:off x="620000" y="1520000"/>
            <a:ext cx="2448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ru-RU" sz="10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Графовая модель</a:t>
            </a:r>
            <a:endParaRPr/>
          </a:p>
        </p:txBody>
      </p:sp>
      <p:sp>
        <p:nvSpPr>
          <p:cNvPr id="427" name="Google Shape;427;p53"/>
          <p:cNvSpPr txBox="1"/>
          <p:nvPr/>
        </p:nvSpPr>
        <p:spPr>
          <a:xfrm>
            <a:off x="620000" y="1750000"/>
            <a:ext cx="2448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LPG</a:t>
            </a:r>
            <a:r>
              <a:rPr i="1" lang="ru-RU" sz="9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, </a:t>
            </a: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типизированные рёбра</a:t>
            </a:r>
            <a:endParaRPr/>
          </a:p>
        </p:txBody>
      </p:sp>
      <p:sp>
        <p:nvSpPr>
          <p:cNvPr id="428" name="Google Shape;428;p53"/>
          <p:cNvSpPr/>
          <p:nvPr/>
        </p:nvSpPr>
        <p:spPr>
          <a:xfrm>
            <a:off x="450000" y="2160000"/>
            <a:ext cx="140100" cy="1401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53"/>
          <p:cNvSpPr txBox="1"/>
          <p:nvPr/>
        </p:nvSpPr>
        <p:spPr>
          <a:xfrm>
            <a:off x="620000" y="2100000"/>
            <a:ext cx="2448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ru-RU" sz="10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MVCC и retention</a:t>
            </a:r>
            <a:endParaRPr/>
          </a:p>
        </p:txBody>
      </p:sp>
      <p:sp>
        <p:nvSpPr>
          <p:cNvPr id="430" name="Google Shape;430;p53"/>
          <p:cNvSpPr txBox="1"/>
          <p:nvPr/>
        </p:nvSpPr>
        <p:spPr>
          <a:xfrm>
            <a:off x="620000" y="2330000"/>
            <a:ext cx="2448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история 7 суток</a:t>
            </a:r>
            <a:endParaRPr/>
          </a:p>
        </p:txBody>
      </p:sp>
      <p:sp>
        <p:nvSpPr>
          <p:cNvPr id="431" name="Google Shape;431;p53"/>
          <p:cNvSpPr/>
          <p:nvPr/>
        </p:nvSpPr>
        <p:spPr>
          <a:xfrm>
            <a:off x="450000" y="2740000"/>
            <a:ext cx="140100" cy="1401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53"/>
          <p:cNvSpPr txBox="1"/>
          <p:nvPr/>
        </p:nvSpPr>
        <p:spPr>
          <a:xfrm>
            <a:off x="620000" y="2680000"/>
            <a:ext cx="2448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ru-RU" sz="10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Совместные запросы</a:t>
            </a:r>
            <a:endParaRPr/>
          </a:p>
        </p:txBody>
      </p:sp>
      <p:sp>
        <p:nvSpPr>
          <p:cNvPr id="433" name="Google Shape;433;p53"/>
          <p:cNvSpPr txBox="1"/>
          <p:nvPr/>
        </p:nvSpPr>
        <p:spPr>
          <a:xfrm>
            <a:off x="620000" y="2910000"/>
            <a:ext cx="2448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по графу и </a:t>
            </a:r>
            <a:r>
              <a:rPr i="1" lang="ru-RU" sz="9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эмбеддингами</a:t>
            </a:r>
            <a:endParaRPr/>
          </a:p>
        </p:txBody>
      </p:sp>
      <p:sp>
        <p:nvSpPr>
          <p:cNvPr id="434" name="Google Shape;434;p53"/>
          <p:cNvSpPr/>
          <p:nvPr/>
        </p:nvSpPr>
        <p:spPr>
          <a:xfrm>
            <a:off x="450000" y="3320000"/>
            <a:ext cx="140100" cy="1401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53"/>
          <p:cNvSpPr txBox="1"/>
          <p:nvPr/>
        </p:nvSpPr>
        <p:spPr>
          <a:xfrm>
            <a:off x="620000" y="3260000"/>
            <a:ext cx="2448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ru-RU" sz="10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API</a:t>
            </a:r>
            <a:endParaRPr/>
          </a:p>
        </p:txBody>
      </p:sp>
      <p:sp>
        <p:nvSpPr>
          <p:cNvPr id="436" name="Google Shape;436;p53"/>
          <p:cNvSpPr txBox="1"/>
          <p:nvPr/>
        </p:nvSpPr>
        <p:spPr>
          <a:xfrm>
            <a:off x="620000" y="3490000"/>
            <a:ext cx="2448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GraphQL</a:t>
            </a:r>
            <a:endParaRPr/>
          </a:p>
        </p:txBody>
      </p:sp>
      <p:sp>
        <p:nvSpPr>
          <p:cNvPr id="437" name="Google Shape;437;p53"/>
          <p:cNvSpPr/>
          <p:nvPr/>
        </p:nvSpPr>
        <p:spPr>
          <a:xfrm>
            <a:off x="3208000" y="950000"/>
            <a:ext cx="2727900" cy="35499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53"/>
          <p:cNvSpPr/>
          <p:nvPr/>
        </p:nvSpPr>
        <p:spPr>
          <a:xfrm>
            <a:off x="3208000" y="950000"/>
            <a:ext cx="2727900" cy="459900"/>
          </a:xfrm>
          <a:prstGeom prst="roundRect">
            <a:avLst>
              <a:gd fmla="val 8000" name="adj"/>
            </a:avLst>
          </a:prstGeom>
          <a:solidFill>
            <a:srgbClr val="1565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53"/>
          <p:cNvSpPr/>
          <p:nvPr/>
        </p:nvSpPr>
        <p:spPr>
          <a:xfrm>
            <a:off x="3208000" y="1310000"/>
            <a:ext cx="2727900" cy="999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53"/>
          <p:cNvSpPr txBox="1"/>
          <p:nvPr/>
        </p:nvSpPr>
        <p:spPr>
          <a:xfrm>
            <a:off x="3238000" y="1010000"/>
            <a:ext cx="26679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Гарантии корректности</a:t>
            </a:r>
            <a:endParaRPr/>
          </a:p>
        </p:txBody>
      </p:sp>
      <p:sp>
        <p:nvSpPr>
          <p:cNvPr id="441" name="Google Shape;441;p53"/>
          <p:cNvSpPr/>
          <p:nvPr/>
        </p:nvSpPr>
        <p:spPr>
          <a:xfrm>
            <a:off x="3278000" y="1580000"/>
            <a:ext cx="140100" cy="1401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53"/>
          <p:cNvSpPr txBox="1"/>
          <p:nvPr/>
        </p:nvSpPr>
        <p:spPr>
          <a:xfrm>
            <a:off x="3448000" y="1520000"/>
            <a:ext cx="2448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ru-RU" sz="10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Изоляция</a:t>
            </a:r>
            <a:endParaRPr/>
          </a:p>
        </p:txBody>
      </p:sp>
      <p:sp>
        <p:nvSpPr>
          <p:cNvPr id="443" name="Google Shape;443;p53"/>
          <p:cNvSpPr txBox="1"/>
          <p:nvPr/>
        </p:nvSpPr>
        <p:spPr>
          <a:xfrm>
            <a:off x="3448000" y="1750000"/>
            <a:ext cx="2448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READ_COMMITTED</a:t>
            </a:r>
            <a:r>
              <a:rPr i="1" lang="ru-RU" sz="9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, </a:t>
            </a: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SNAPSHOT</a:t>
            </a:r>
            <a:r>
              <a:rPr i="1" lang="ru-RU" sz="9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,</a:t>
            </a: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 SERIALIZABLE</a:t>
            </a:r>
            <a:endParaRPr/>
          </a:p>
        </p:txBody>
      </p:sp>
      <p:sp>
        <p:nvSpPr>
          <p:cNvPr id="444" name="Google Shape;444;p53"/>
          <p:cNvSpPr/>
          <p:nvPr/>
        </p:nvSpPr>
        <p:spPr>
          <a:xfrm>
            <a:off x="3278000" y="2160000"/>
            <a:ext cx="140100" cy="1401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53"/>
          <p:cNvSpPr txBox="1"/>
          <p:nvPr/>
        </p:nvSpPr>
        <p:spPr>
          <a:xfrm>
            <a:off x="3448000" y="2100000"/>
            <a:ext cx="2448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ru-RU" sz="10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Внешняя согласованность</a:t>
            </a:r>
            <a:endParaRPr/>
          </a:p>
        </p:txBody>
      </p:sp>
      <p:sp>
        <p:nvSpPr>
          <p:cNvPr id="446" name="Google Shape;446;p53"/>
          <p:cNvSpPr txBox="1"/>
          <p:nvPr/>
        </p:nvSpPr>
        <p:spPr>
          <a:xfrm>
            <a:off x="3448000" y="2330000"/>
            <a:ext cx="2448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i="1" lang="ru-RU" sz="9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аналогичная подходу Spanner</a:t>
            </a:r>
            <a:endParaRPr/>
          </a:p>
        </p:txBody>
      </p:sp>
      <p:sp>
        <p:nvSpPr>
          <p:cNvPr id="447" name="Google Shape;447;p53"/>
          <p:cNvSpPr/>
          <p:nvPr/>
        </p:nvSpPr>
        <p:spPr>
          <a:xfrm>
            <a:off x="3278000" y="2740000"/>
            <a:ext cx="140100" cy="1401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53"/>
          <p:cNvSpPr txBox="1"/>
          <p:nvPr/>
        </p:nvSpPr>
        <p:spPr>
          <a:xfrm>
            <a:off x="3448000" y="2680000"/>
            <a:ext cx="2448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ru-RU" sz="10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Атомарность</a:t>
            </a:r>
            <a:endParaRPr/>
          </a:p>
        </p:txBody>
      </p:sp>
      <p:sp>
        <p:nvSpPr>
          <p:cNvPr id="449" name="Google Shape;449;p53"/>
          <p:cNvSpPr txBox="1"/>
          <p:nvPr/>
        </p:nvSpPr>
        <p:spPr>
          <a:xfrm>
            <a:off x="3448000" y="2910000"/>
            <a:ext cx="2448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межшардовые транзакции</a:t>
            </a:r>
            <a:endParaRPr/>
          </a:p>
        </p:txBody>
      </p:sp>
      <p:sp>
        <p:nvSpPr>
          <p:cNvPr id="450" name="Google Shape;450;p53"/>
          <p:cNvSpPr/>
          <p:nvPr/>
        </p:nvSpPr>
        <p:spPr>
          <a:xfrm>
            <a:off x="3278000" y="3320000"/>
            <a:ext cx="140100" cy="1401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53"/>
          <p:cNvSpPr txBox="1"/>
          <p:nvPr/>
        </p:nvSpPr>
        <p:spPr>
          <a:xfrm>
            <a:off x="3448000" y="3260000"/>
            <a:ext cx="2448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ru-RU" sz="10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Долговечность</a:t>
            </a:r>
            <a:endParaRPr/>
          </a:p>
        </p:txBody>
      </p:sp>
      <p:sp>
        <p:nvSpPr>
          <p:cNvPr id="452" name="Google Shape;452;p53"/>
          <p:cNvSpPr txBox="1"/>
          <p:nvPr/>
        </p:nvSpPr>
        <p:spPr>
          <a:xfrm>
            <a:off x="3448000" y="3490000"/>
            <a:ext cx="2448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i="1" lang="ru-RU" sz="9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Р</a:t>
            </a: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епликация на </a:t>
            </a:r>
            <a:r>
              <a:rPr i="1" lang="ru-RU" sz="9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3/5/N</a:t>
            </a: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 уз</a:t>
            </a:r>
            <a:r>
              <a:rPr i="1" lang="ru-RU" sz="9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лов</a:t>
            </a:r>
            <a:endParaRPr/>
          </a:p>
        </p:txBody>
      </p:sp>
      <p:sp>
        <p:nvSpPr>
          <p:cNvPr id="453" name="Google Shape;453;p53"/>
          <p:cNvSpPr/>
          <p:nvPr/>
        </p:nvSpPr>
        <p:spPr>
          <a:xfrm>
            <a:off x="6036000" y="950000"/>
            <a:ext cx="2727900" cy="35499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53"/>
          <p:cNvSpPr/>
          <p:nvPr/>
        </p:nvSpPr>
        <p:spPr>
          <a:xfrm>
            <a:off x="6036000" y="950000"/>
            <a:ext cx="2727900" cy="459900"/>
          </a:xfrm>
          <a:prstGeom prst="roundRect">
            <a:avLst>
              <a:gd fmla="val 8000" name="adj"/>
            </a:avLst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53"/>
          <p:cNvSpPr/>
          <p:nvPr/>
        </p:nvSpPr>
        <p:spPr>
          <a:xfrm>
            <a:off x="6036000" y="1310000"/>
            <a:ext cx="2727900" cy="99900"/>
          </a:xfrm>
          <a:prstGeom prst="rect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53"/>
          <p:cNvSpPr txBox="1"/>
          <p:nvPr/>
        </p:nvSpPr>
        <p:spPr>
          <a:xfrm>
            <a:off x="6066000" y="1010000"/>
            <a:ext cx="26679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Эксплуатация</a:t>
            </a:r>
            <a:endParaRPr/>
          </a:p>
        </p:txBody>
      </p:sp>
      <p:sp>
        <p:nvSpPr>
          <p:cNvPr id="457" name="Google Shape;457;p53"/>
          <p:cNvSpPr/>
          <p:nvPr/>
        </p:nvSpPr>
        <p:spPr>
          <a:xfrm>
            <a:off x="6106000" y="1580000"/>
            <a:ext cx="140100" cy="1401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53"/>
          <p:cNvSpPr txBox="1"/>
          <p:nvPr/>
        </p:nvSpPr>
        <p:spPr>
          <a:xfrm>
            <a:off x="6276000" y="1520000"/>
            <a:ext cx="2448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ru-RU" sz="10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Масштабирование</a:t>
            </a:r>
            <a:endParaRPr/>
          </a:p>
        </p:txBody>
      </p:sp>
      <p:sp>
        <p:nvSpPr>
          <p:cNvPr id="459" name="Google Shape;459;p53"/>
          <p:cNvSpPr txBox="1"/>
          <p:nvPr/>
        </p:nvSpPr>
        <p:spPr>
          <a:xfrm>
            <a:off x="6276000" y="1750000"/>
            <a:ext cx="2448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горизонтально на N узлов</a:t>
            </a:r>
            <a:endParaRPr/>
          </a:p>
        </p:txBody>
      </p:sp>
      <p:sp>
        <p:nvSpPr>
          <p:cNvPr id="460" name="Google Shape;460;p53"/>
          <p:cNvSpPr/>
          <p:nvPr/>
        </p:nvSpPr>
        <p:spPr>
          <a:xfrm>
            <a:off x="6106000" y="2160000"/>
            <a:ext cx="140100" cy="1401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53"/>
          <p:cNvSpPr txBox="1"/>
          <p:nvPr/>
        </p:nvSpPr>
        <p:spPr>
          <a:xfrm>
            <a:off x="6276000" y="2100000"/>
            <a:ext cx="2448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ru-RU" sz="10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Восстановление</a:t>
            </a:r>
            <a:endParaRPr/>
          </a:p>
        </p:txBody>
      </p:sp>
      <p:sp>
        <p:nvSpPr>
          <p:cNvPr id="462" name="Google Shape;462;p53"/>
          <p:cNvSpPr txBox="1"/>
          <p:nvPr/>
        </p:nvSpPr>
        <p:spPr>
          <a:xfrm>
            <a:off x="6276000" y="2330000"/>
            <a:ext cx="2448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&lt; 5 с после отказа</a:t>
            </a:r>
            <a:endParaRPr/>
          </a:p>
        </p:txBody>
      </p:sp>
      <p:sp>
        <p:nvSpPr>
          <p:cNvPr id="463" name="Google Shape;463;p53"/>
          <p:cNvSpPr/>
          <p:nvPr/>
        </p:nvSpPr>
        <p:spPr>
          <a:xfrm>
            <a:off x="6106000" y="2740000"/>
            <a:ext cx="140100" cy="1401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53"/>
          <p:cNvSpPr txBox="1"/>
          <p:nvPr/>
        </p:nvSpPr>
        <p:spPr>
          <a:xfrm>
            <a:off x="6276000" y="2680000"/>
            <a:ext cx="2448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ru-RU" sz="10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Безопасность</a:t>
            </a:r>
            <a:endParaRPr/>
          </a:p>
        </p:txBody>
      </p:sp>
      <p:sp>
        <p:nvSpPr>
          <p:cNvPr id="465" name="Google Shape;465;p53"/>
          <p:cNvSpPr txBox="1"/>
          <p:nvPr/>
        </p:nvSpPr>
        <p:spPr>
          <a:xfrm>
            <a:off x="6276000" y="2910000"/>
            <a:ext cx="2448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взаимный TLS</a:t>
            </a:r>
            <a:endParaRPr/>
          </a:p>
        </p:txBody>
      </p:sp>
      <p:sp>
        <p:nvSpPr>
          <p:cNvPr id="466" name="Google Shape;466;p53"/>
          <p:cNvSpPr/>
          <p:nvPr/>
        </p:nvSpPr>
        <p:spPr>
          <a:xfrm>
            <a:off x="6106000" y="3320000"/>
            <a:ext cx="140100" cy="1401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53"/>
          <p:cNvSpPr txBox="1"/>
          <p:nvPr/>
        </p:nvSpPr>
        <p:spPr>
          <a:xfrm>
            <a:off x="6276000" y="3260000"/>
            <a:ext cx="2448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ru-RU" sz="10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Развёртывание</a:t>
            </a:r>
            <a:endParaRPr/>
          </a:p>
        </p:txBody>
      </p:sp>
      <p:sp>
        <p:nvSpPr>
          <p:cNvPr id="468" name="Google Shape;468;p53"/>
          <p:cNvSpPr txBox="1"/>
          <p:nvPr/>
        </p:nvSpPr>
        <p:spPr>
          <a:xfrm>
            <a:off x="6276000" y="3490000"/>
            <a:ext cx="2448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i="1" lang="ru-RU" sz="9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commodity-серверы</a:t>
            </a: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, без облачных API</a:t>
            </a:r>
            <a:endParaRPr/>
          </a:p>
        </p:txBody>
      </p:sp>
      <p:sp>
        <p:nvSpPr>
          <p:cNvPr id="469" name="Google Shape;469;p53"/>
          <p:cNvSpPr txBox="1"/>
          <p:nvPr/>
        </p:nvSpPr>
        <p:spPr>
          <a:xfrm>
            <a:off x="380000" y="4670000"/>
            <a:ext cx="83841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1" lang="ru-RU" sz="90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Составлены </a:t>
            </a:r>
            <a:r>
              <a:rPr b="0" i="1" lang="ru-RU" sz="9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из анализа существующих решений и сценариев семантической сети.</a:t>
            </a:r>
            <a:endParaRPr/>
          </a:p>
        </p:txBody>
      </p:sp>
      <p:sp>
        <p:nvSpPr>
          <p:cNvPr id="470" name="Google Shape;470;p53"/>
          <p:cNvSpPr txBox="1"/>
          <p:nvPr/>
        </p:nvSpPr>
        <p:spPr>
          <a:xfrm>
            <a:off x="8699500" y="4568550"/>
            <a:ext cx="35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 SemiBold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4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olos Text SemiBold"/>
              <a:buNone/>
            </a:pPr>
            <a:r>
              <a:rPr lang="ru-RU"/>
              <a:t>Архитектурные решения</a:t>
            </a:r>
            <a:endParaRPr/>
          </a:p>
        </p:txBody>
      </p:sp>
      <p:graphicFrame>
        <p:nvGraphicFramePr>
          <p:cNvPr id="477" name="Google Shape;477;p54"/>
          <p:cNvGraphicFramePr/>
          <p:nvPr/>
        </p:nvGraphicFramePr>
        <p:xfrm>
          <a:off x="530460" y="11622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{E8277D23-54D9-4293-A6A2-CA084C68128D}</a:tableStyleId>
              </a:tblPr>
              <a:tblGrid>
                <a:gridCol w="1246900"/>
                <a:gridCol w="3605250"/>
                <a:gridCol w="3223400"/>
              </a:tblGrid>
              <a:tr h="310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Подзадача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Выбранное решение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Почему именно это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 anchor="ctr">
                    <a:solidFill>
                      <a:srgbClr val="E9ECEF"/>
                    </a:solidFill>
                  </a:tcPr>
                </a:tc>
              </a:tr>
              <a:tr h="73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Модель хранения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LPG поверх RocksDB:</a:t>
                      </a:r>
                      <a:r>
                        <a:rPr lang="ru-RU" sz="11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 </a:t>
                      </a: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граф-ориентированные семейства колонок,</a:t>
                      </a:r>
                      <a:r>
                        <a:rPr lang="ru-RU" sz="11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 </a:t>
                      </a: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кэш ARC + предвыборка соседей,</a:t>
                      </a:r>
                      <a:r>
                        <a:rPr lang="ru-RU" sz="11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 </a:t>
                      </a: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префиксные фильтры Блума, HNSW + PQ для векторов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Любой триплет RDF — частный случай LPG;</a:t>
                      </a:r>
                      <a:r>
                        <a:rPr lang="ru-RU" sz="11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 </a:t>
                      </a: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графовые операции на уровне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хранения, не поверх KV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84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Размещение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Алгоритм Leiden + планировщик NSGA-II по нагрузке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Развитие Louvain: устойчивые сообщества,</a:t>
                      </a:r>
                      <a:r>
                        <a:rPr lang="ru-RU" sz="11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 </a:t>
                      </a: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корректные несвязные вершины;</a:t>
                      </a:r>
                      <a:r>
                        <a:rPr lang="ru-RU" sz="11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 </a:t>
                      </a: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NSGA-II балансирует стоимость миграции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84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Репликация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raft-rs (TiKV/PingCAP)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с отдельной группой на каждый шард,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пакетная обработка с конвейеризацией</a:t>
                      </a: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 </a:t>
                      </a:r>
                      <a:r>
                        <a:rPr lang="ru-RU" sz="11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и пре-выбор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Зрелая реализация (TiDB, etcd);</a:t>
                      </a:r>
                      <a:r>
                        <a:rPr lang="ru-RU" sz="11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 </a:t>
                      </a: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joint consensus — без потерь доступности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834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Консенсус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Multi-Raft + встроенное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хранилище метаданных (3 </a:t>
                      </a:r>
                      <a:r>
                        <a:rPr lang="ru-RU" sz="11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участника</a:t>
                      </a: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)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Нет узкого места общего консенсуса; хранилище метаданных встроено в data plane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8" name="Google Shape;478;p54"/>
          <p:cNvSpPr txBox="1"/>
          <p:nvPr/>
        </p:nvSpPr>
        <p:spPr>
          <a:xfrm>
            <a:off x="8714475" y="4605950"/>
            <a:ext cx="37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olos Text SemiBold"/>
              <a:buNone/>
            </a:pPr>
            <a:r>
              <a:rPr lang="ru-RU" sz="20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6</a:t>
            </a:r>
            <a:endParaRPr sz="2000">
              <a:solidFill>
                <a:schemeClr val="lt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5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Архитектура</a:t>
            </a:r>
            <a:endParaRPr/>
          </a:p>
        </p:txBody>
      </p:sp>
      <p:sp>
        <p:nvSpPr>
          <p:cNvPr id="485" name="Google Shape;485;p55"/>
          <p:cNvSpPr/>
          <p:nvPr/>
        </p:nvSpPr>
        <p:spPr>
          <a:xfrm>
            <a:off x="3971950" y="1197500"/>
            <a:ext cx="1200000" cy="320100"/>
          </a:xfrm>
          <a:prstGeom prst="roundRect">
            <a:avLst>
              <a:gd fmla="val 15000" name="adj"/>
            </a:avLst>
          </a:prstGeom>
          <a:solidFill>
            <a:srgbClr val="ECEFF1"/>
          </a:solidFill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55"/>
          <p:cNvSpPr txBox="1"/>
          <p:nvPr/>
        </p:nvSpPr>
        <p:spPr>
          <a:xfrm>
            <a:off x="3971950" y="1197500"/>
            <a:ext cx="1200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10000" spcFirstLastPara="1" rIns="1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Клиент</a:t>
            </a:r>
            <a:endParaRPr/>
          </a:p>
        </p:txBody>
      </p:sp>
      <p:cxnSp>
        <p:nvCxnSpPr>
          <p:cNvPr id="487" name="Google Shape;487;p55"/>
          <p:cNvCxnSpPr/>
          <p:nvPr/>
        </p:nvCxnSpPr>
        <p:spPr>
          <a:xfrm>
            <a:off x="4571950" y="1537500"/>
            <a:ext cx="0" cy="219900"/>
          </a:xfrm>
          <a:prstGeom prst="straightConnector1">
            <a:avLst/>
          </a:prstGeom>
          <a:noFill/>
          <a:ln cap="flat" cmpd="sng" w="12700">
            <a:solidFill>
              <a:srgbClr val="6C75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8" name="Google Shape;488;p55"/>
          <p:cNvSpPr txBox="1"/>
          <p:nvPr/>
        </p:nvSpPr>
        <p:spPr>
          <a:xfrm>
            <a:off x="4819450" y="1587550"/>
            <a:ext cx="90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HTTPS</a:t>
            </a:r>
            <a:r>
              <a:rPr i="1" lang="ru-RU" sz="8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,</a:t>
            </a:r>
            <a:r>
              <a:rPr b="0" i="1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 mTLS</a:t>
            </a:r>
            <a:endParaRPr/>
          </a:p>
        </p:txBody>
      </p:sp>
      <p:sp>
        <p:nvSpPr>
          <p:cNvPr id="489" name="Google Shape;489;p55"/>
          <p:cNvSpPr/>
          <p:nvPr/>
        </p:nvSpPr>
        <p:spPr>
          <a:xfrm>
            <a:off x="3371950" y="1807500"/>
            <a:ext cx="2400000" cy="459900"/>
          </a:xfrm>
          <a:prstGeom prst="roundRect">
            <a:avLst>
              <a:gd fmla="val 10000" name="adj"/>
            </a:avLst>
          </a:prstGeom>
          <a:solidFill>
            <a:srgbClr val="F2EBFD"/>
          </a:solidFill>
          <a:ln cap="flat" cmpd="sng" w="1587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55"/>
          <p:cNvSpPr txBox="1"/>
          <p:nvPr/>
        </p:nvSpPr>
        <p:spPr>
          <a:xfrm>
            <a:off x="3371950" y="1837500"/>
            <a:ext cx="2400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GraphQL-шлюз</a:t>
            </a:r>
            <a:r>
              <a:rPr b="1" i="0" lang="ru-RU" sz="12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 × 2</a:t>
            </a:r>
            <a:endParaRPr/>
          </a:p>
        </p:txBody>
      </p:sp>
      <p:sp>
        <p:nvSpPr>
          <p:cNvPr id="491" name="Google Shape;491;p55"/>
          <p:cNvSpPr txBox="1"/>
          <p:nvPr/>
        </p:nvSpPr>
        <p:spPr>
          <a:xfrm>
            <a:off x="3371950" y="2057500"/>
            <a:ext cx="2400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ru-RU" sz="9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Kotlin</a:t>
            </a:r>
            <a:r>
              <a:rPr i="1" lang="ru-RU" sz="90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,</a:t>
            </a:r>
            <a:r>
              <a:rPr b="0" i="1" lang="ru-RU" sz="9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 отказоустойчивая пара</a:t>
            </a:r>
            <a:endParaRPr/>
          </a:p>
        </p:txBody>
      </p:sp>
      <p:cxnSp>
        <p:nvCxnSpPr>
          <p:cNvPr id="492" name="Google Shape;492;p55"/>
          <p:cNvCxnSpPr/>
          <p:nvPr/>
        </p:nvCxnSpPr>
        <p:spPr>
          <a:xfrm flipH="1">
            <a:off x="2252050" y="2267500"/>
            <a:ext cx="1719900" cy="339900"/>
          </a:xfrm>
          <a:prstGeom prst="straightConnector1">
            <a:avLst/>
          </a:prstGeom>
          <a:noFill/>
          <a:ln cap="flat" cmpd="sng" w="952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3" name="Google Shape;493;p55"/>
          <p:cNvCxnSpPr/>
          <p:nvPr/>
        </p:nvCxnSpPr>
        <p:spPr>
          <a:xfrm>
            <a:off x="4571950" y="2267500"/>
            <a:ext cx="0" cy="339900"/>
          </a:xfrm>
          <a:prstGeom prst="straightConnector1">
            <a:avLst/>
          </a:prstGeom>
          <a:noFill/>
          <a:ln cap="flat" cmpd="sng" w="952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4" name="Google Shape;494;p55"/>
          <p:cNvCxnSpPr/>
          <p:nvPr/>
        </p:nvCxnSpPr>
        <p:spPr>
          <a:xfrm>
            <a:off x="5171950" y="2267500"/>
            <a:ext cx="1719900" cy="339900"/>
          </a:xfrm>
          <a:prstGeom prst="straightConnector1">
            <a:avLst/>
          </a:prstGeom>
          <a:noFill/>
          <a:ln cap="flat" cmpd="sng" w="952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5" name="Google Shape;495;p55"/>
          <p:cNvSpPr/>
          <p:nvPr/>
        </p:nvSpPr>
        <p:spPr>
          <a:xfrm>
            <a:off x="1251950" y="2627500"/>
            <a:ext cx="2000100" cy="1200000"/>
          </a:xfrm>
          <a:prstGeom prst="roundRect">
            <a:avLst>
              <a:gd fmla="val 8000" name="adj"/>
            </a:avLst>
          </a:prstGeom>
          <a:solidFill>
            <a:srgbClr val="FFF7E6"/>
          </a:solidFill>
          <a:ln cap="flat" cmpd="sng" w="1587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55"/>
          <p:cNvSpPr txBox="1"/>
          <p:nvPr/>
        </p:nvSpPr>
        <p:spPr>
          <a:xfrm>
            <a:off x="1281950" y="2667500"/>
            <a:ext cx="1940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rhizome-узел 1</a:t>
            </a:r>
            <a:endParaRPr/>
          </a:p>
        </p:txBody>
      </p:sp>
      <p:sp>
        <p:nvSpPr>
          <p:cNvPr id="497" name="Google Shape;497;p55"/>
          <p:cNvSpPr txBox="1"/>
          <p:nvPr/>
        </p:nvSpPr>
        <p:spPr>
          <a:xfrm>
            <a:off x="1281950" y="2907500"/>
            <a:ext cx="1940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ru-RU" sz="9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Rust</a:t>
            </a:r>
            <a:endParaRPr/>
          </a:p>
        </p:txBody>
      </p:sp>
      <p:cxnSp>
        <p:nvCxnSpPr>
          <p:cNvPr id="498" name="Google Shape;498;p55"/>
          <p:cNvCxnSpPr/>
          <p:nvPr/>
        </p:nvCxnSpPr>
        <p:spPr>
          <a:xfrm>
            <a:off x="1451950" y="3097500"/>
            <a:ext cx="1599900" cy="0"/>
          </a:xfrm>
          <a:prstGeom prst="straightConnector1">
            <a:avLst/>
          </a:prstGeom>
          <a:noFill/>
          <a:ln cap="flat" cmpd="sng" w="952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9" name="Google Shape;499;p55"/>
          <p:cNvSpPr txBox="1"/>
          <p:nvPr/>
        </p:nvSpPr>
        <p:spPr>
          <a:xfrm>
            <a:off x="1281950" y="3157500"/>
            <a:ext cx="194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· 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шарды + RocksDB</a:t>
            </a:r>
            <a:endParaRPr/>
          </a:p>
        </p:txBody>
      </p:sp>
      <p:sp>
        <p:nvSpPr>
          <p:cNvPr id="500" name="Google Shape;500;p55"/>
          <p:cNvSpPr txBox="1"/>
          <p:nvPr/>
        </p:nvSpPr>
        <p:spPr>
          <a:xfrm>
            <a:off x="1281950" y="3357500"/>
            <a:ext cx="194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· 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Raft-реплика</a:t>
            </a:r>
            <a:endParaRPr/>
          </a:p>
        </p:txBody>
      </p:sp>
      <p:sp>
        <p:nvSpPr>
          <p:cNvPr id="501" name="Google Shape;501;p55"/>
          <p:cNvSpPr txBox="1"/>
          <p:nvPr/>
        </p:nvSpPr>
        <p:spPr>
          <a:xfrm>
            <a:off x="1281950" y="3557500"/>
            <a:ext cx="194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· 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участник метастора</a:t>
            </a:r>
            <a:endParaRPr/>
          </a:p>
        </p:txBody>
      </p:sp>
      <p:sp>
        <p:nvSpPr>
          <p:cNvPr id="502" name="Google Shape;502;p55"/>
          <p:cNvSpPr/>
          <p:nvPr/>
        </p:nvSpPr>
        <p:spPr>
          <a:xfrm>
            <a:off x="3571950" y="2627500"/>
            <a:ext cx="2000100" cy="1200000"/>
          </a:xfrm>
          <a:prstGeom prst="roundRect">
            <a:avLst>
              <a:gd fmla="val 8000" name="adj"/>
            </a:avLst>
          </a:prstGeom>
          <a:solidFill>
            <a:srgbClr val="FFF7E6"/>
          </a:solidFill>
          <a:ln cap="flat" cmpd="sng" w="1587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55"/>
          <p:cNvSpPr txBox="1"/>
          <p:nvPr/>
        </p:nvSpPr>
        <p:spPr>
          <a:xfrm>
            <a:off x="3601950" y="2667500"/>
            <a:ext cx="1940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rhizome-узел 2</a:t>
            </a:r>
            <a:endParaRPr/>
          </a:p>
        </p:txBody>
      </p:sp>
      <p:sp>
        <p:nvSpPr>
          <p:cNvPr id="504" name="Google Shape;504;p55"/>
          <p:cNvSpPr txBox="1"/>
          <p:nvPr/>
        </p:nvSpPr>
        <p:spPr>
          <a:xfrm>
            <a:off x="3601950" y="2907500"/>
            <a:ext cx="1940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ru-RU" sz="9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Rust</a:t>
            </a:r>
            <a:endParaRPr/>
          </a:p>
        </p:txBody>
      </p:sp>
      <p:cxnSp>
        <p:nvCxnSpPr>
          <p:cNvPr id="505" name="Google Shape;505;p55"/>
          <p:cNvCxnSpPr/>
          <p:nvPr/>
        </p:nvCxnSpPr>
        <p:spPr>
          <a:xfrm>
            <a:off x="3771950" y="3097500"/>
            <a:ext cx="1599900" cy="0"/>
          </a:xfrm>
          <a:prstGeom prst="straightConnector1">
            <a:avLst/>
          </a:prstGeom>
          <a:noFill/>
          <a:ln cap="flat" cmpd="sng" w="952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6" name="Google Shape;506;p55"/>
          <p:cNvSpPr txBox="1"/>
          <p:nvPr/>
        </p:nvSpPr>
        <p:spPr>
          <a:xfrm>
            <a:off x="3601950" y="3157500"/>
            <a:ext cx="194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· 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шарды + RocksDB</a:t>
            </a:r>
            <a:endParaRPr/>
          </a:p>
        </p:txBody>
      </p:sp>
      <p:sp>
        <p:nvSpPr>
          <p:cNvPr id="507" name="Google Shape;507;p55"/>
          <p:cNvSpPr txBox="1"/>
          <p:nvPr/>
        </p:nvSpPr>
        <p:spPr>
          <a:xfrm>
            <a:off x="3601950" y="3357500"/>
            <a:ext cx="194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· 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Raft-реплика</a:t>
            </a:r>
            <a:endParaRPr/>
          </a:p>
        </p:txBody>
      </p:sp>
      <p:sp>
        <p:nvSpPr>
          <p:cNvPr id="508" name="Google Shape;508;p55"/>
          <p:cNvSpPr txBox="1"/>
          <p:nvPr/>
        </p:nvSpPr>
        <p:spPr>
          <a:xfrm>
            <a:off x="3601950" y="3557500"/>
            <a:ext cx="194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· 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участник метастора</a:t>
            </a:r>
            <a:endParaRPr/>
          </a:p>
        </p:txBody>
      </p:sp>
      <p:sp>
        <p:nvSpPr>
          <p:cNvPr id="509" name="Google Shape;509;p55"/>
          <p:cNvSpPr/>
          <p:nvPr/>
        </p:nvSpPr>
        <p:spPr>
          <a:xfrm>
            <a:off x="5891950" y="2627500"/>
            <a:ext cx="2000100" cy="1200000"/>
          </a:xfrm>
          <a:prstGeom prst="roundRect">
            <a:avLst>
              <a:gd fmla="val 8000" name="adj"/>
            </a:avLst>
          </a:prstGeom>
          <a:solidFill>
            <a:srgbClr val="FFF7E6"/>
          </a:solidFill>
          <a:ln cap="flat" cmpd="sng" w="1587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55"/>
          <p:cNvSpPr txBox="1"/>
          <p:nvPr/>
        </p:nvSpPr>
        <p:spPr>
          <a:xfrm>
            <a:off x="5921950" y="2667500"/>
            <a:ext cx="1940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rhizome-узел </a:t>
            </a:r>
            <a:r>
              <a:rPr b="1" lang="ru-RU" sz="120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N</a:t>
            </a:r>
            <a:endParaRPr/>
          </a:p>
        </p:txBody>
      </p:sp>
      <p:sp>
        <p:nvSpPr>
          <p:cNvPr id="511" name="Google Shape;511;p55"/>
          <p:cNvSpPr txBox="1"/>
          <p:nvPr/>
        </p:nvSpPr>
        <p:spPr>
          <a:xfrm>
            <a:off x="5921950" y="2907500"/>
            <a:ext cx="1940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ru-RU" sz="9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Rust</a:t>
            </a:r>
            <a:endParaRPr/>
          </a:p>
        </p:txBody>
      </p:sp>
      <p:cxnSp>
        <p:nvCxnSpPr>
          <p:cNvPr id="512" name="Google Shape;512;p55"/>
          <p:cNvCxnSpPr/>
          <p:nvPr/>
        </p:nvCxnSpPr>
        <p:spPr>
          <a:xfrm>
            <a:off x="6091950" y="3097500"/>
            <a:ext cx="1599900" cy="0"/>
          </a:xfrm>
          <a:prstGeom prst="straightConnector1">
            <a:avLst/>
          </a:prstGeom>
          <a:noFill/>
          <a:ln cap="flat" cmpd="sng" w="952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3" name="Google Shape;513;p55"/>
          <p:cNvSpPr txBox="1"/>
          <p:nvPr/>
        </p:nvSpPr>
        <p:spPr>
          <a:xfrm>
            <a:off x="5921950" y="3157500"/>
            <a:ext cx="194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· 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шарды + RocksDB</a:t>
            </a:r>
            <a:endParaRPr/>
          </a:p>
        </p:txBody>
      </p:sp>
      <p:sp>
        <p:nvSpPr>
          <p:cNvPr id="514" name="Google Shape;514;p55"/>
          <p:cNvSpPr txBox="1"/>
          <p:nvPr/>
        </p:nvSpPr>
        <p:spPr>
          <a:xfrm>
            <a:off x="5921950" y="3357500"/>
            <a:ext cx="194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· 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Raft-реплика</a:t>
            </a:r>
            <a:endParaRPr/>
          </a:p>
        </p:txBody>
      </p:sp>
      <p:sp>
        <p:nvSpPr>
          <p:cNvPr id="515" name="Google Shape;515;p55"/>
          <p:cNvSpPr txBox="1"/>
          <p:nvPr/>
        </p:nvSpPr>
        <p:spPr>
          <a:xfrm>
            <a:off x="5921950" y="3557500"/>
            <a:ext cx="194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· 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участник метастора</a:t>
            </a:r>
            <a:endParaRPr/>
          </a:p>
        </p:txBody>
      </p:sp>
      <p:cxnSp>
        <p:nvCxnSpPr>
          <p:cNvPr id="516" name="Google Shape;516;p55"/>
          <p:cNvCxnSpPr/>
          <p:nvPr/>
        </p:nvCxnSpPr>
        <p:spPr>
          <a:xfrm>
            <a:off x="3251950" y="3222500"/>
            <a:ext cx="320100" cy="0"/>
          </a:xfrm>
          <a:prstGeom prst="straightConnector1">
            <a:avLst/>
          </a:prstGeom>
          <a:noFill/>
          <a:ln cap="flat" cmpd="sng" w="9525">
            <a:solidFill>
              <a:srgbClr val="F77F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17" name="Google Shape;517;p55"/>
          <p:cNvCxnSpPr/>
          <p:nvPr/>
        </p:nvCxnSpPr>
        <p:spPr>
          <a:xfrm>
            <a:off x="5571950" y="3222500"/>
            <a:ext cx="320100" cy="0"/>
          </a:xfrm>
          <a:prstGeom prst="straightConnector1">
            <a:avLst/>
          </a:prstGeom>
          <a:noFill/>
          <a:ln cap="flat" cmpd="sng" w="9525">
            <a:solidFill>
              <a:srgbClr val="F77F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18" name="Google Shape;518;p55"/>
          <p:cNvSpPr txBox="1"/>
          <p:nvPr/>
        </p:nvSpPr>
        <p:spPr>
          <a:xfrm>
            <a:off x="1032050" y="1947600"/>
            <a:ext cx="21900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-282575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50"/>
              <a:buFont typeface="Golos Text"/>
              <a:buChar char="●"/>
            </a:pPr>
            <a:r>
              <a:rPr b="0" i="1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по каждому шарду — отдельный Multi-Raft кворум</a:t>
            </a:r>
            <a:r>
              <a:rPr i="1" lang="ru-RU" sz="8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;</a:t>
            </a:r>
            <a:endParaRPr i="1" sz="850">
              <a:solidFill>
                <a:srgbClr val="6C757D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282575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50"/>
              <a:buFont typeface="Golos Text"/>
              <a:buChar char="●"/>
            </a:pPr>
            <a:r>
              <a:rPr b="0" i="1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кворум метастора рядом</a:t>
            </a:r>
            <a:endParaRPr/>
          </a:p>
        </p:txBody>
      </p:sp>
      <p:sp>
        <p:nvSpPr>
          <p:cNvPr id="519" name="Google Shape;519;p55"/>
          <p:cNvSpPr/>
          <p:nvPr/>
        </p:nvSpPr>
        <p:spPr>
          <a:xfrm>
            <a:off x="2371950" y="3977500"/>
            <a:ext cx="4400100" cy="560100"/>
          </a:xfrm>
          <a:prstGeom prst="roundRect">
            <a:avLst>
              <a:gd fmla="val 10000" name="adj"/>
            </a:avLst>
          </a:prstGeom>
          <a:solidFill>
            <a:srgbClr val="D6F0E0"/>
          </a:solidFill>
          <a:ln cap="flat" cmpd="sng" w="1587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55"/>
          <p:cNvSpPr txBox="1"/>
          <p:nvPr/>
        </p:nvSpPr>
        <p:spPr>
          <a:xfrm>
            <a:off x="2371950" y="3997500"/>
            <a:ext cx="440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Оркестратор × </a:t>
            </a:r>
            <a:r>
              <a:rPr b="1" lang="ru-RU" sz="1200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X</a:t>
            </a:r>
            <a:endParaRPr/>
          </a:p>
        </p:txBody>
      </p:sp>
      <p:sp>
        <p:nvSpPr>
          <p:cNvPr id="521" name="Google Shape;521;p55"/>
          <p:cNvSpPr txBox="1"/>
          <p:nvPr/>
        </p:nvSpPr>
        <p:spPr>
          <a:xfrm>
            <a:off x="2371950" y="4197500"/>
            <a:ext cx="44001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Kotlin</a:t>
            </a:r>
            <a:r>
              <a:rPr i="1" lang="ru-RU" sz="8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,</a:t>
            </a:r>
            <a:r>
              <a:rPr b="0" i="1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 выборы лидера через лизинг метастора</a:t>
            </a:r>
            <a:endParaRPr/>
          </a:p>
        </p:txBody>
      </p:sp>
      <p:sp>
        <p:nvSpPr>
          <p:cNvPr id="522" name="Google Shape;522;p55"/>
          <p:cNvSpPr txBox="1"/>
          <p:nvPr/>
        </p:nvSpPr>
        <p:spPr>
          <a:xfrm>
            <a:off x="2371950" y="4357500"/>
            <a:ext cx="4400100" cy="1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размещение</a:t>
            </a:r>
            <a:r>
              <a:rPr lang="ru-RU" sz="90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,</a:t>
            </a: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 схема</a:t>
            </a:r>
            <a:r>
              <a:rPr lang="ru-RU" sz="90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,</a:t>
            </a: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 медленный путь детектора блокировок</a:t>
            </a:r>
            <a:endParaRPr/>
          </a:p>
        </p:txBody>
      </p:sp>
      <p:cxnSp>
        <p:nvCxnSpPr>
          <p:cNvPr id="523" name="Google Shape;523;p55"/>
          <p:cNvCxnSpPr/>
          <p:nvPr/>
        </p:nvCxnSpPr>
        <p:spPr>
          <a:xfrm rot="10800000">
            <a:off x="2251850" y="3847600"/>
            <a:ext cx="1220100" cy="129900"/>
          </a:xfrm>
          <a:prstGeom prst="straightConnector1">
            <a:avLst/>
          </a:prstGeom>
          <a:noFill/>
          <a:ln cap="flat" cmpd="sng" w="952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4" name="Google Shape;524;p55"/>
          <p:cNvCxnSpPr/>
          <p:nvPr/>
        </p:nvCxnSpPr>
        <p:spPr>
          <a:xfrm rot="10800000">
            <a:off x="4571950" y="3847600"/>
            <a:ext cx="0" cy="129900"/>
          </a:xfrm>
          <a:prstGeom prst="straightConnector1">
            <a:avLst/>
          </a:prstGeom>
          <a:noFill/>
          <a:ln cap="flat" cmpd="sng" w="952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5" name="Google Shape;525;p55"/>
          <p:cNvCxnSpPr/>
          <p:nvPr/>
        </p:nvCxnSpPr>
        <p:spPr>
          <a:xfrm flipH="1" rot="10800000">
            <a:off x="5671950" y="3847600"/>
            <a:ext cx="1220100" cy="129900"/>
          </a:xfrm>
          <a:prstGeom prst="straightConnector1">
            <a:avLst/>
          </a:prstGeom>
          <a:noFill/>
          <a:ln cap="flat" cmpd="sng" w="952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6" name="Google Shape;526;p55"/>
          <p:cNvSpPr txBox="1"/>
          <p:nvPr/>
        </p:nvSpPr>
        <p:spPr>
          <a:xfrm>
            <a:off x="8714475" y="4605950"/>
            <a:ext cx="37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olos Text SemiBold"/>
              <a:buNone/>
            </a:pPr>
            <a:r>
              <a:rPr lang="ru-RU" sz="20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7</a:t>
            </a:r>
            <a:endParaRPr sz="2000">
              <a:solidFill>
                <a:schemeClr val="lt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527" name="Google Shape;527;p55"/>
          <p:cNvSpPr/>
          <p:nvPr/>
        </p:nvSpPr>
        <p:spPr>
          <a:xfrm>
            <a:off x="8017750" y="1135025"/>
            <a:ext cx="5862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6"/>
          <p:cNvSpPr txBox="1"/>
          <p:nvPr/>
        </p:nvSpPr>
        <p:spPr>
          <a:xfrm>
            <a:off x="380000" y="950000"/>
            <a:ext cx="4200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Что делаем</a:t>
            </a:r>
            <a:endParaRPr/>
          </a:p>
        </p:txBody>
      </p:sp>
      <p:sp>
        <p:nvSpPr>
          <p:cNvPr id="534" name="Google Shape;534;p56"/>
          <p:cNvSpPr txBox="1"/>
          <p:nvPr/>
        </p:nvSpPr>
        <p:spPr>
          <a:xfrm>
            <a:off x="380000" y="1240000"/>
            <a:ext cx="420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•  </a:t>
            </a: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Leiden — </a:t>
            </a:r>
            <a:r>
              <a:rPr b="0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устойчивые сообщества, модулярность (вместо хэша)</a:t>
            </a:r>
            <a:endParaRPr/>
          </a:p>
        </p:txBody>
      </p:sp>
      <p:sp>
        <p:nvSpPr>
          <p:cNvPr id="535" name="Google Shape;535;p56"/>
          <p:cNvSpPr txBox="1"/>
          <p:nvPr/>
        </p:nvSpPr>
        <p:spPr>
          <a:xfrm>
            <a:off x="380000" y="1450000"/>
            <a:ext cx="420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•  </a:t>
            </a: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NSGA-II — </a:t>
            </a:r>
            <a:r>
              <a:rPr b="0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Парето: стоимость ↔ переходы ↔ нагрузка</a:t>
            </a:r>
            <a:endParaRPr/>
          </a:p>
        </p:txBody>
      </p:sp>
      <p:sp>
        <p:nvSpPr>
          <p:cNvPr id="536" name="Google Shape;536;p56"/>
          <p:cNvSpPr txBox="1"/>
          <p:nvPr/>
        </p:nvSpPr>
        <p:spPr>
          <a:xfrm>
            <a:off x="391800" y="1640000"/>
            <a:ext cx="420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•  </a:t>
            </a: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Порог миграции — </a:t>
            </a:r>
            <a:r>
              <a:rPr b="0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перенос — только при выгоде &gt; Δ</a:t>
            </a:r>
            <a:endParaRPr/>
          </a:p>
        </p:txBody>
      </p:sp>
      <p:sp>
        <p:nvSpPr>
          <p:cNvPr id="537" name="Google Shape;537;p56"/>
          <p:cNvSpPr/>
          <p:nvPr/>
        </p:nvSpPr>
        <p:spPr>
          <a:xfrm>
            <a:off x="380000" y="2040000"/>
            <a:ext cx="4200000" cy="219900"/>
          </a:xfrm>
          <a:prstGeom prst="rect">
            <a:avLst/>
          </a:prstGeom>
          <a:solidFill>
            <a:srgbClr val="F2EB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8" name="Google Shape;538;p56"/>
          <p:cNvCxnSpPr/>
          <p:nvPr/>
        </p:nvCxnSpPr>
        <p:spPr>
          <a:xfrm>
            <a:off x="380000" y="2260000"/>
            <a:ext cx="4200000" cy="0"/>
          </a:xfrm>
          <a:prstGeom prst="straightConnector1">
            <a:avLst/>
          </a:prstGeom>
          <a:noFill/>
          <a:ln cap="flat" cmpd="sng" w="9525">
            <a:solidFill>
              <a:srgbClr val="DDD1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9" name="Google Shape;539;p56"/>
          <p:cNvSpPr txBox="1"/>
          <p:nvPr/>
        </p:nvSpPr>
        <p:spPr>
          <a:xfrm>
            <a:off x="400000" y="2040000"/>
            <a:ext cx="24900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Стратегия</a:t>
            </a:r>
            <a:endParaRPr/>
          </a:p>
        </p:txBody>
      </p:sp>
      <p:sp>
        <p:nvSpPr>
          <p:cNvPr id="540" name="Google Shape;540;p56"/>
          <p:cNvSpPr txBox="1"/>
          <p:nvPr/>
        </p:nvSpPr>
        <p:spPr>
          <a:xfrm>
            <a:off x="2900000" y="2040000"/>
            <a:ext cx="1659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10000" spcFirstLastPara="1" rIns="10000" wrap="square" tIns="50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Доля межшардовых</a:t>
            </a:r>
            <a:endParaRPr/>
          </a:p>
        </p:txBody>
      </p:sp>
      <p:cxnSp>
        <p:nvCxnSpPr>
          <p:cNvPr id="541" name="Google Shape;541;p56"/>
          <p:cNvCxnSpPr/>
          <p:nvPr/>
        </p:nvCxnSpPr>
        <p:spPr>
          <a:xfrm>
            <a:off x="380000" y="2480000"/>
            <a:ext cx="4200000" cy="0"/>
          </a:xfrm>
          <a:prstGeom prst="straightConnector1">
            <a:avLst/>
          </a:prstGeom>
          <a:noFill/>
          <a:ln cap="flat" cmpd="sng" w="9525">
            <a:solidFill>
              <a:srgbClr val="DDD1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2" name="Google Shape;542;p56"/>
          <p:cNvSpPr txBox="1"/>
          <p:nvPr/>
        </p:nvSpPr>
        <p:spPr>
          <a:xfrm>
            <a:off x="400000" y="2260000"/>
            <a:ext cx="24900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Хэширование</a:t>
            </a:r>
            <a:endParaRPr/>
          </a:p>
        </p:txBody>
      </p:sp>
      <p:sp>
        <p:nvSpPr>
          <p:cNvPr id="543" name="Google Shape;543;p56"/>
          <p:cNvSpPr txBox="1"/>
          <p:nvPr/>
        </p:nvSpPr>
        <p:spPr>
          <a:xfrm>
            <a:off x="2900000" y="2260000"/>
            <a:ext cx="1659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10000" spcFirstLastPara="1" rIns="10000" wrap="square" tIns="50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≈ 67 %</a:t>
            </a:r>
            <a:endParaRPr/>
          </a:p>
        </p:txBody>
      </p:sp>
      <p:cxnSp>
        <p:nvCxnSpPr>
          <p:cNvPr id="544" name="Google Shape;544;p56"/>
          <p:cNvCxnSpPr/>
          <p:nvPr/>
        </p:nvCxnSpPr>
        <p:spPr>
          <a:xfrm>
            <a:off x="380000" y="2700000"/>
            <a:ext cx="4200000" cy="0"/>
          </a:xfrm>
          <a:prstGeom prst="straightConnector1">
            <a:avLst/>
          </a:prstGeom>
          <a:noFill/>
          <a:ln cap="flat" cmpd="sng" w="9525">
            <a:solidFill>
              <a:srgbClr val="DDD1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5" name="Google Shape;545;p56"/>
          <p:cNvSpPr txBox="1"/>
          <p:nvPr/>
        </p:nvSpPr>
        <p:spPr>
          <a:xfrm>
            <a:off x="400000" y="2480000"/>
            <a:ext cx="24900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По предикату</a:t>
            </a:r>
            <a:endParaRPr/>
          </a:p>
        </p:txBody>
      </p:sp>
      <p:sp>
        <p:nvSpPr>
          <p:cNvPr id="546" name="Google Shape;546;p56"/>
          <p:cNvSpPr txBox="1"/>
          <p:nvPr/>
        </p:nvSpPr>
        <p:spPr>
          <a:xfrm>
            <a:off x="2900000" y="2480000"/>
            <a:ext cx="1659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10000" spcFirstLastPara="1" rIns="10000" wrap="square" tIns="50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зависит от перекоса</a:t>
            </a:r>
            <a:endParaRPr/>
          </a:p>
        </p:txBody>
      </p:sp>
      <p:cxnSp>
        <p:nvCxnSpPr>
          <p:cNvPr id="547" name="Google Shape;547;p56"/>
          <p:cNvCxnSpPr/>
          <p:nvPr/>
        </p:nvCxnSpPr>
        <p:spPr>
          <a:xfrm>
            <a:off x="380000" y="2920000"/>
            <a:ext cx="4200000" cy="0"/>
          </a:xfrm>
          <a:prstGeom prst="straightConnector1">
            <a:avLst/>
          </a:prstGeom>
          <a:noFill/>
          <a:ln cap="flat" cmpd="sng" w="9525">
            <a:solidFill>
              <a:srgbClr val="DDD1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8" name="Google Shape;548;p56"/>
          <p:cNvSpPr/>
          <p:nvPr/>
        </p:nvSpPr>
        <p:spPr>
          <a:xfrm>
            <a:off x="380000" y="2700000"/>
            <a:ext cx="4200000" cy="219900"/>
          </a:xfrm>
          <a:prstGeom prst="rect">
            <a:avLst/>
          </a:prstGeom>
          <a:solidFill>
            <a:srgbClr val="D6F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56"/>
          <p:cNvSpPr txBox="1"/>
          <p:nvPr/>
        </p:nvSpPr>
        <p:spPr>
          <a:xfrm>
            <a:off x="400000" y="2700000"/>
            <a:ext cx="24900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Leiden</a:t>
            </a:r>
            <a:endParaRPr/>
          </a:p>
        </p:txBody>
      </p:sp>
      <p:sp>
        <p:nvSpPr>
          <p:cNvPr id="550" name="Google Shape;550;p56"/>
          <p:cNvSpPr txBox="1"/>
          <p:nvPr/>
        </p:nvSpPr>
        <p:spPr>
          <a:xfrm>
            <a:off x="2900000" y="2700000"/>
            <a:ext cx="1659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10000" spcFirstLastPara="1" rIns="10000" wrap="square" tIns="50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≈ 20 %</a:t>
            </a:r>
            <a:endParaRPr/>
          </a:p>
        </p:txBody>
      </p:sp>
      <p:sp>
        <p:nvSpPr>
          <p:cNvPr id="551" name="Google Shape;551;p56"/>
          <p:cNvSpPr/>
          <p:nvPr/>
        </p:nvSpPr>
        <p:spPr>
          <a:xfrm>
            <a:off x="4760000" y="950000"/>
            <a:ext cx="4179900" cy="2100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56"/>
          <p:cNvSpPr txBox="1"/>
          <p:nvPr/>
        </p:nvSpPr>
        <p:spPr>
          <a:xfrm>
            <a:off x="4820000" y="990000"/>
            <a:ext cx="4059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Сообщества Leiden — связанные концепты на одном шарде</a:t>
            </a:r>
            <a:endParaRPr/>
          </a:p>
        </p:txBody>
      </p:sp>
      <p:sp>
        <p:nvSpPr>
          <p:cNvPr id="553" name="Google Shape;553;p56"/>
          <p:cNvSpPr/>
          <p:nvPr/>
        </p:nvSpPr>
        <p:spPr>
          <a:xfrm>
            <a:off x="5250000" y="1740000"/>
            <a:ext cx="920100" cy="920100"/>
          </a:xfrm>
          <a:prstGeom prst="ellipse">
            <a:avLst/>
          </a:prstGeom>
          <a:solidFill>
            <a:srgbClr val="F0E5FA"/>
          </a:solidFill>
          <a:ln cap="flat" cmpd="sng" w="12700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56"/>
          <p:cNvSpPr/>
          <p:nvPr/>
        </p:nvSpPr>
        <p:spPr>
          <a:xfrm>
            <a:off x="5220000" y="1710000"/>
            <a:ext cx="180000" cy="1800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56"/>
          <p:cNvSpPr txBox="1"/>
          <p:nvPr/>
        </p:nvSpPr>
        <p:spPr>
          <a:xfrm>
            <a:off x="5220000" y="1710000"/>
            <a:ext cx="18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A</a:t>
            </a:r>
            <a:endParaRPr/>
          </a:p>
        </p:txBody>
      </p:sp>
      <p:sp>
        <p:nvSpPr>
          <p:cNvPr id="556" name="Google Shape;556;p56"/>
          <p:cNvSpPr/>
          <p:nvPr/>
        </p:nvSpPr>
        <p:spPr>
          <a:xfrm>
            <a:off x="5865000" y="2168000"/>
            <a:ext cx="63900" cy="639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56"/>
          <p:cNvSpPr/>
          <p:nvPr/>
        </p:nvSpPr>
        <p:spPr>
          <a:xfrm>
            <a:off x="5822500" y="2418281"/>
            <a:ext cx="63900" cy="639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56"/>
          <p:cNvSpPr/>
          <p:nvPr/>
        </p:nvSpPr>
        <p:spPr>
          <a:xfrm>
            <a:off x="5584500" y="2329946"/>
            <a:ext cx="63900" cy="639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56"/>
          <p:cNvSpPr/>
          <p:nvPr/>
        </p:nvSpPr>
        <p:spPr>
          <a:xfrm>
            <a:off x="5389000" y="2168000"/>
            <a:ext cx="63900" cy="639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56"/>
          <p:cNvSpPr/>
          <p:nvPr/>
        </p:nvSpPr>
        <p:spPr>
          <a:xfrm>
            <a:off x="5584500" y="2006053"/>
            <a:ext cx="63900" cy="639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56"/>
          <p:cNvSpPr/>
          <p:nvPr/>
        </p:nvSpPr>
        <p:spPr>
          <a:xfrm>
            <a:off x="5822500" y="1917718"/>
            <a:ext cx="63900" cy="639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2" name="Google Shape;562;p56"/>
          <p:cNvCxnSpPr/>
          <p:nvPr/>
        </p:nvCxnSpPr>
        <p:spPr>
          <a:xfrm flipH="1">
            <a:off x="5854400" y="2200000"/>
            <a:ext cx="42600" cy="250200"/>
          </a:xfrm>
          <a:prstGeom prst="straightConnector1">
            <a:avLst/>
          </a:prstGeom>
          <a:noFill/>
          <a:ln cap="flat" cmpd="sng" w="952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3" name="Google Shape;563;p56"/>
          <p:cNvCxnSpPr/>
          <p:nvPr/>
        </p:nvCxnSpPr>
        <p:spPr>
          <a:xfrm rot="10800000">
            <a:off x="5616600" y="2362081"/>
            <a:ext cx="237900" cy="88200"/>
          </a:xfrm>
          <a:prstGeom prst="straightConnector1">
            <a:avLst/>
          </a:prstGeom>
          <a:noFill/>
          <a:ln cap="flat" cmpd="sng" w="952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4" name="Google Shape;564;p56"/>
          <p:cNvCxnSpPr/>
          <p:nvPr/>
        </p:nvCxnSpPr>
        <p:spPr>
          <a:xfrm rot="10800000">
            <a:off x="5420900" y="2199946"/>
            <a:ext cx="195600" cy="162000"/>
          </a:xfrm>
          <a:prstGeom prst="straightConnector1">
            <a:avLst/>
          </a:prstGeom>
          <a:noFill/>
          <a:ln cap="flat" cmpd="sng" w="952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5" name="Google Shape;565;p56"/>
          <p:cNvCxnSpPr/>
          <p:nvPr/>
        </p:nvCxnSpPr>
        <p:spPr>
          <a:xfrm flipH="1" rot="10800000">
            <a:off x="5421000" y="2038000"/>
            <a:ext cx="195600" cy="162000"/>
          </a:xfrm>
          <a:prstGeom prst="straightConnector1">
            <a:avLst/>
          </a:prstGeom>
          <a:noFill/>
          <a:ln cap="flat" cmpd="sng" w="952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6" name="Google Shape;566;p56"/>
          <p:cNvCxnSpPr/>
          <p:nvPr/>
        </p:nvCxnSpPr>
        <p:spPr>
          <a:xfrm flipH="1" rot="10800000">
            <a:off x="5616500" y="1949853"/>
            <a:ext cx="237900" cy="88200"/>
          </a:xfrm>
          <a:prstGeom prst="straightConnector1">
            <a:avLst/>
          </a:prstGeom>
          <a:noFill/>
          <a:ln cap="flat" cmpd="sng" w="952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7" name="Google Shape;567;p56"/>
          <p:cNvCxnSpPr/>
          <p:nvPr/>
        </p:nvCxnSpPr>
        <p:spPr>
          <a:xfrm>
            <a:off x="5854500" y="1949718"/>
            <a:ext cx="42600" cy="250200"/>
          </a:xfrm>
          <a:prstGeom prst="straightConnector1">
            <a:avLst/>
          </a:prstGeom>
          <a:noFill/>
          <a:ln cap="flat" cmpd="sng" w="952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8" name="Google Shape;568;p56"/>
          <p:cNvCxnSpPr/>
          <p:nvPr/>
        </p:nvCxnSpPr>
        <p:spPr>
          <a:xfrm rot="10800000">
            <a:off x="5420900" y="2200000"/>
            <a:ext cx="476100" cy="0"/>
          </a:xfrm>
          <a:prstGeom prst="straightConnector1">
            <a:avLst/>
          </a:prstGeom>
          <a:noFill/>
          <a:ln cap="flat" cmpd="sng" w="952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9" name="Google Shape;569;p56"/>
          <p:cNvSpPr/>
          <p:nvPr/>
        </p:nvSpPr>
        <p:spPr>
          <a:xfrm>
            <a:off x="6410000" y="1560000"/>
            <a:ext cx="879900" cy="879900"/>
          </a:xfrm>
          <a:prstGeom prst="ellipse">
            <a:avLst/>
          </a:prstGeom>
          <a:solidFill>
            <a:srgbClr val="DFF1E7"/>
          </a:solidFill>
          <a:ln cap="flat" cmpd="sng" w="12700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56"/>
          <p:cNvSpPr/>
          <p:nvPr/>
        </p:nvSpPr>
        <p:spPr>
          <a:xfrm>
            <a:off x="6380000" y="1530000"/>
            <a:ext cx="180000" cy="1800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56"/>
          <p:cNvSpPr txBox="1"/>
          <p:nvPr/>
        </p:nvSpPr>
        <p:spPr>
          <a:xfrm>
            <a:off x="6380000" y="1530000"/>
            <a:ext cx="18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B</a:t>
            </a:r>
            <a:endParaRPr/>
          </a:p>
        </p:txBody>
      </p:sp>
      <p:sp>
        <p:nvSpPr>
          <p:cNvPr id="572" name="Google Shape;572;p56"/>
          <p:cNvSpPr/>
          <p:nvPr/>
        </p:nvSpPr>
        <p:spPr>
          <a:xfrm>
            <a:off x="6980106" y="2036537"/>
            <a:ext cx="63900" cy="639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56"/>
          <p:cNvSpPr/>
          <p:nvPr/>
        </p:nvSpPr>
        <p:spPr>
          <a:xfrm>
            <a:off x="6851533" y="2237925"/>
            <a:ext cx="63900" cy="639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56"/>
          <p:cNvSpPr/>
          <p:nvPr/>
        </p:nvSpPr>
        <p:spPr>
          <a:xfrm>
            <a:off x="6677591" y="2074119"/>
            <a:ext cx="63900" cy="639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56"/>
          <p:cNvSpPr/>
          <p:nvPr/>
        </p:nvSpPr>
        <p:spPr>
          <a:xfrm>
            <a:off x="6567471" y="1862078"/>
            <a:ext cx="63900" cy="639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56"/>
          <p:cNvSpPr/>
          <p:nvPr/>
        </p:nvSpPr>
        <p:spPr>
          <a:xfrm>
            <a:off x="6796301" y="1793342"/>
            <a:ext cx="63900" cy="639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56"/>
          <p:cNvSpPr/>
          <p:nvPr/>
        </p:nvSpPr>
        <p:spPr>
          <a:xfrm>
            <a:off x="7034995" y="1803996"/>
            <a:ext cx="63900" cy="639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8" name="Google Shape;578;p56"/>
          <p:cNvCxnSpPr/>
          <p:nvPr/>
        </p:nvCxnSpPr>
        <p:spPr>
          <a:xfrm flipH="1">
            <a:off x="6883406" y="2068537"/>
            <a:ext cx="128700" cy="201300"/>
          </a:xfrm>
          <a:prstGeom prst="straightConnector1">
            <a:avLst/>
          </a:prstGeom>
          <a:noFill/>
          <a:ln cap="flat" cmpd="sng" w="952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9" name="Google Shape;579;p56"/>
          <p:cNvCxnSpPr/>
          <p:nvPr/>
        </p:nvCxnSpPr>
        <p:spPr>
          <a:xfrm rot="10800000">
            <a:off x="6709533" y="2106125"/>
            <a:ext cx="174000" cy="163800"/>
          </a:xfrm>
          <a:prstGeom prst="straightConnector1">
            <a:avLst/>
          </a:prstGeom>
          <a:noFill/>
          <a:ln cap="flat" cmpd="sng" w="952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0" name="Google Shape;580;p56"/>
          <p:cNvCxnSpPr/>
          <p:nvPr/>
        </p:nvCxnSpPr>
        <p:spPr>
          <a:xfrm rot="10800000">
            <a:off x="6599491" y="1894019"/>
            <a:ext cx="110100" cy="212100"/>
          </a:xfrm>
          <a:prstGeom prst="straightConnector1">
            <a:avLst/>
          </a:prstGeom>
          <a:noFill/>
          <a:ln cap="flat" cmpd="sng" w="952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1" name="Google Shape;581;p56"/>
          <p:cNvCxnSpPr/>
          <p:nvPr/>
        </p:nvCxnSpPr>
        <p:spPr>
          <a:xfrm flipH="1" rot="10800000">
            <a:off x="6599471" y="1825378"/>
            <a:ext cx="228900" cy="68700"/>
          </a:xfrm>
          <a:prstGeom prst="straightConnector1">
            <a:avLst/>
          </a:prstGeom>
          <a:noFill/>
          <a:ln cap="flat" cmpd="sng" w="952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2" name="Google Shape;582;p56"/>
          <p:cNvCxnSpPr/>
          <p:nvPr/>
        </p:nvCxnSpPr>
        <p:spPr>
          <a:xfrm>
            <a:off x="6828301" y="1825342"/>
            <a:ext cx="238800" cy="10800"/>
          </a:xfrm>
          <a:prstGeom prst="straightConnector1">
            <a:avLst/>
          </a:prstGeom>
          <a:noFill/>
          <a:ln cap="flat" cmpd="sng" w="952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3" name="Google Shape;583;p56"/>
          <p:cNvCxnSpPr/>
          <p:nvPr/>
        </p:nvCxnSpPr>
        <p:spPr>
          <a:xfrm flipH="1">
            <a:off x="7012095" y="1835996"/>
            <a:ext cx="54900" cy="232500"/>
          </a:xfrm>
          <a:prstGeom prst="straightConnector1">
            <a:avLst/>
          </a:prstGeom>
          <a:noFill/>
          <a:ln cap="flat" cmpd="sng" w="952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4" name="Google Shape;584;p56"/>
          <p:cNvCxnSpPr/>
          <p:nvPr/>
        </p:nvCxnSpPr>
        <p:spPr>
          <a:xfrm rot="10800000">
            <a:off x="6599606" y="1893937"/>
            <a:ext cx="412500" cy="174600"/>
          </a:xfrm>
          <a:prstGeom prst="straightConnector1">
            <a:avLst/>
          </a:prstGeom>
          <a:noFill/>
          <a:ln cap="flat" cmpd="sng" w="952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5" name="Google Shape;585;p56"/>
          <p:cNvSpPr/>
          <p:nvPr/>
        </p:nvSpPr>
        <p:spPr>
          <a:xfrm>
            <a:off x="7540000" y="1830000"/>
            <a:ext cx="900000" cy="900000"/>
          </a:xfrm>
          <a:prstGeom prst="ellipse">
            <a:avLst/>
          </a:prstGeom>
          <a:solidFill>
            <a:srgbClr val="FFEBD6"/>
          </a:solidFill>
          <a:ln cap="flat" cmpd="sng" w="12700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56"/>
          <p:cNvSpPr/>
          <p:nvPr/>
        </p:nvSpPr>
        <p:spPr>
          <a:xfrm>
            <a:off x="7510000" y="1800000"/>
            <a:ext cx="180000" cy="18000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56"/>
          <p:cNvSpPr txBox="1"/>
          <p:nvPr/>
        </p:nvSpPr>
        <p:spPr>
          <a:xfrm>
            <a:off x="7510000" y="1800000"/>
            <a:ext cx="18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C</a:t>
            </a:r>
            <a:endParaRPr/>
          </a:p>
        </p:txBody>
      </p:sp>
      <p:sp>
        <p:nvSpPr>
          <p:cNvPr id="588" name="Google Shape;588;p56"/>
          <p:cNvSpPr/>
          <p:nvPr/>
        </p:nvSpPr>
        <p:spPr>
          <a:xfrm>
            <a:off x="8084452" y="2378200"/>
            <a:ext cx="63900" cy="6390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56"/>
          <p:cNvSpPr/>
          <p:nvPr/>
        </p:nvSpPr>
        <p:spPr>
          <a:xfrm>
            <a:off x="7881452" y="2517853"/>
            <a:ext cx="63900" cy="6390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56"/>
          <p:cNvSpPr/>
          <p:nvPr/>
        </p:nvSpPr>
        <p:spPr>
          <a:xfrm>
            <a:off x="7782017" y="2292410"/>
            <a:ext cx="63900" cy="6390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56"/>
          <p:cNvSpPr/>
          <p:nvPr/>
        </p:nvSpPr>
        <p:spPr>
          <a:xfrm>
            <a:off x="7762573" y="2046781"/>
            <a:ext cx="63900" cy="6390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56"/>
          <p:cNvSpPr/>
          <p:nvPr/>
        </p:nvSpPr>
        <p:spPr>
          <a:xfrm>
            <a:off x="8007530" y="2073389"/>
            <a:ext cx="63900" cy="6390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56"/>
          <p:cNvSpPr/>
          <p:nvPr/>
        </p:nvSpPr>
        <p:spPr>
          <a:xfrm>
            <a:off x="8229973" y="2179365"/>
            <a:ext cx="63900" cy="6390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4" name="Google Shape;594;p56"/>
          <p:cNvCxnSpPr/>
          <p:nvPr/>
        </p:nvCxnSpPr>
        <p:spPr>
          <a:xfrm flipH="1">
            <a:off x="7913352" y="2410200"/>
            <a:ext cx="203100" cy="139800"/>
          </a:xfrm>
          <a:prstGeom prst="straightConnector1">
            <a:avLst/>
          </a:prstGeom>
          <a:noFill/>
          <a:ln cap="flat" cmpd="sng" w="952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5" name="Google Shape;595;p56"/>
          <p:cNvCxnSpPr/>
          <p:nvPr/>
        </p:nvCxnSpPr>
        <p:spPr>
          <a:xfrm rot="10800000">
            <a:off x="7814152" y="2324553"/>
            <a:ext cx="99300" cy="225300"/>
          </a:xfrm>
          <a:prstGeom prst="straightConnector1">
            <a:avLst/>
          </a:prstGeom>
          <a:noFill/>
          <a:ln cap="flat" cmpd="sng" w="952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6" name="Google Shape;596;p56"/>
          <p:cNvCxnSpPr/>
          <p:nvPr/>
        </p:nvCxnSpPr>
        <p:spPr>
          <a:xfrm rot="10800000">
            <a:off x="7794517" y="2078710"/>
            <a:ext cx="19500" cy="245700"/>
          </a:xfrm>
          <a:prstGeom prst="straightConnector1">
            <a:avLst/>
          </a:prstGeom>
          <a:noFill/>
          <a:ln cap="flat" cmpd="sng" w="952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7" name="Google Shape;597;p56"/>
          <p:cNvCxnSpPr/>
          <p:nvPr/>
        </p:nvCxnSpPr>
        <p:spPr>
          <a:xfrm>
            <a:off x="7794573" y="2078781"/>
            <a:ext cx="245100" cy="26700"/>
          </a:xfrm>
          <a:prstGeom prst="straightConnector1">
            <a:avLst/>
          </a:prstGeom>
          <a:noFill/>
          <a:ln cap="flat" cmpd="sng" w="952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8" name="Google Shape;598;p56"/>
          <p:cNvCxnSpPr/>
          <p:nvPr/>
        </p:nvCxnSpPr>
        <p:spPr>
          <a:xfrm>
            <a:off x="8039530" y="2105389"/>
            <a:ext cx="222300" cy="105900"/>
          </a:xfrm>
          <a:prstGeom prst="straightConnector1">
            <a:avLst/>
          </a:prstGeom>
          <a:noFill/>
          <a:ln cap="flat" cmpd="sng" w="952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9" name="Google Shape;599;p56"/>
          <p:cNvCxnSpPr/>
          <p:nvPr/>
        </p:nvCxnSpPr>
        <p:spPr>
          <a:xfrm flipH="1">
            <a:off x="8116473" y="2211365"/>
            <a:ext cx="145500" cy="198900"/>
          </a:xfrm>
          <a:prstGeom prst="straightConnector1">
            <a:avLst/>
          </a:prstGeom>
          <a:noFill/>
          <a:ln cap="flat" cmpd="sng" w="952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0" name="Google Shape;600;p56"/>
          <p:cNvCxnSpPr/>
          <p:nvPr/>
        </p:nvCxnSpPr>
        <p:spPr>
          <a:xfrm rot="10800000">
            <a:off x="7794552" y="2078700"/>
            <a:ext cx="321900" cy="331500"/>
          </a:xfrm>
          <a:prstGeom prst="straightConnector1">
            <a:avLst/>
          </a:prstGeom>
          <a:noFill/>
          <a:ln cap="flat" cmpd="sng" w="952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1" name="Google Shape;601;p56"/>
          <p:cNvCxnSpPr/>
          <p:nvPr/>
        </p:nvCxnSpPr>
        <p:spPr>
          <a:xfrm flipH="1" rot="10800000">
            <a:off x="5897000" y="1894000"/>
            <a:ext cx="702600" cy="306000"/>
          </a:xfrm>
          <a:prstGeom prst="straightConnector1">
            <a:avLst/>
          </a:prstGeom>
          <a:noFill/>
          <a:ln cap="flat" cmpd="sng" w="9525">
            <a:solidFill>
              <a:srgbClr val="C92A2A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02" name="Google Shape;602;p56"/>
          <p:cNvCxnSpPr/>
          <p:nvPr/>
        </p:nvCxnSpPr>
        <p:spPr>
          <a:xfrm>
            <a:off x="7066995" y="1835996"/>
            <a:ext cx="727500" cy="242700"/>
          </a:xfrm>
          <a:prstGeom prst="straightConnector1">
            <a:avLst/>
          </a:prstGeom>
          <a:noFill/>
          <a:ln cap="flat" cmpd="sng" w="9525">
            <a:solidFill>
              <a:srgbClr val="C92A2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03" name="Google Shape;603;p56"/>
          <p:cNvSpPr txBox="1"/>
          <p:nvPr/>
        </p:nvSpPr>
        <p:spPr>
          <a:xfrm>
            <a:off x="5389000" y="2745050"/>
            <a:ext cx="34908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сплошные — внутришардовые связи</a:t>
            </a:r>
            <a:endParaRPr i="1" sz="850">
              <a:solidFill>
                <a:srgbClr val="6C757D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ru-RU" sz="850" u="none" cap="none" strike="noStrike">
                <a:solidFill>
                  <a:srgbClr val="C92A2A"/>
                </a:solidFill>
                <a:latin typeface="Golos Text"/>
                <a:ea typeface="Golos Text"/>
                <a:cs typeface="Golos Text"/>
                <a:sym typeface="Golos Text"/>
              </a:rPr>
              <a:t>красный пунктир — переходы между шардами</a:t>
            </a:r>
            <a:endParaRPr/>
          </a:p>
        </p:txBody>
      </p:sp>
      <p:sp>
        <p:nvSpPr>
          <p:cNvPr id="604" name="Google Shape;604;p56"/>
          <p:cNvSpPr txBox="1"/>
          <p:nvPr/>
        </p:nvSpPr>
        <p:spPr>
          <a:xfrm>
            <a:off x="380000" y="3010000"/>
            <a:ext cx="8384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Как работает планировщик</a:t>
            </a:r>
            <a:endParaRPr/>
          </a:p>
        </p:txBody>
      </p:sp>
      <p:sp>
        <p:nvSpPr>
          <p:cNvPr id="605" name="Google Shape;605;p56"/>
          <p:cNvSpPr/>
          <p:nvPr/>
        </p:nvSpPr>
        <p:spPr>
          <a:xfrm>
            <a:off x="380000" y="3250000"/>
            <a:ext cx="1901100" cy="1100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56"/>
          <p:cNvSpPr/>
          <p:nvPr/>
        </p:nvSpPr>
        <p:spPr>
          <a:xfrm>
            <a:off x="480000" y="3350000"/>
            <a:ext cx="279900" cy="279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56"/>
          <p:cNvSpPr txBox="1"/>
          <p:nvPr/>
        </p:nvSpPr>
        <p:spPr>
          <a:xfrm>
            <a:off x="480000" y="3350000"/>
            <a:ext cx="2799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/>
          </a:p>
        </p:txBody>
      </p:sp>
      <p:sp>
        <p:nvSpPr>
          <p:cNvPr id="608" name="Google Shape;608;p56"/>
          <p:cNvSpPr txBox="1"/>
          <p:nvPr/>
        </p:nvSpPr>
        <p:spPr>
          <a:xfrm>
            <a:off x="800000" y="3360000"/>
            <a:ext cx="14610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Снимок графа</a:t>
            </a:r>
            <a:endParaRPr/>
          </a:p>
        </p:txBody>
      </p:sp>
      <p:sp>
        <p:nvSpPr>
          <p:cNvPr id="609" name="Google Shape;609;p56"/>
          <p:cNvSpPr txBox="1"/>
          <p:nvPr/>
        </p:nvSpPr>
        <p:spPr>
          <a:xfrm>
            <a:off x="500000" y="3720000"/>
            <a:ext cx="15093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вершины + рёбра + текущее размещение</a:t>
            </a:r>
            <a:endParaRPr/>
          </a:p>
        </p:txBody>
      </p:sp>
      <p:sp>
        <p:nvSpPr>
          <p:cNvPr id="610" name="Google Shape;610;p56"/>
          <p:cNvSpPr txBox="1"/>
          <p:nvPr/>
        </p:nvSpPr>
        <p:spPr>
          <a:xfrm>
            <a:off x="2341000" y="3700000"/>
            <a:ext cx="20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→</a:t>
            </a:r>
            <a:endParaRPr/>
          </a:p>
        </p:txBody>
      </p:sp>
      <p:sp>
        <p:nvSpPr>
          <p:cNvPr id="611" name="Google Shape;611;p56"/>
          <p:cNvSpPr/>
          <p:nvPr/>
        </p:nvSpPr>
        <p:spPr>
          <a:xfrm>
            <a:off x="2541000" y="3250000"/>
            <a:ext cx="1901100" cy="1100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56"/>
          <p:cNvSpPr/>
          <p:nvPr/>
        </p:nvSpPr>
        <p:spPr>
          <a:xfrm>
            <a:off x="2641000" y="3350000"/>
            <a:ext cx="279900" cy="2799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56"/>
          <p:cNvSpPr txBox="1"/>
          <p:nvPr/>
        </p:nvSpPr>
        <p:spPr>
          <a:xfrm>
            <a:off x="2641000" y="3350000"/>
            <a:ext cx="2799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2</a:t>
            </a:r>
            <a:endParaRPr/>
          </a:p>
        </p:txBody>
      </p:sp>
      <p:sp>
        <p:nvSpPr>
          <p:cNvPr id="614" name="Google Shape;614;p56"/>
          <p:cNvSpPr txBox="1"/>
          <p:nvPr/>
        </p:nvSpPr>
        <p:spPr>
          <a:xfrm>
            <a:off x="2961000" y="3360000"/>
            <a:ext cx="14610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Leiden</a:t>
            </a:r>
            <a:endParaRPr/>
          </a:p>
        </p:txBody>
      </p:sp>
      <p:sp>
        <p:nvSpPr>
          <p:cNvPr id="615" name="Google Shape;615;p56"/>
          <p:cNvSpPr txBox="1"/>
          <p:nvPr/>
        </p:nvSpPr>
        <p:spPr>
          <a:xfrm>
            <a:off x="2661000" y="3720000"/>
            <a:ext cx="15093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обнаружение сообществ</a:t>
            </a:r>
            <a:endParaRPr/>
          </a:p>
        </p:txBody>
      </p:sp>
      <p:sp>
        <p:nvSpPr>
          <p:cNvPr id="616" name="Google Shape;616;p56"/>
          <p:cNvSpPr txBox="1"/>
          <p:nvPr/>
        </p:nvSpPr>
        <p:spPr>
          <a:xfrm>
            <a:off x="4502000" y="3700000"/>
            <a:ext cx="20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→</a:t>
            </a:r>
            <a:endParaRPr/>
          </a:p>
        </p:txBody>
      </p:sp>
      <p:sp>
        <p:nvSpPr>
          <p:cNvPr id="617" name="Google Shape;617;p56"/>
          <p:cNvSpPr/>
          <p:nvPr/>
        </p:nvSpPr>
        <p:spPr>
          <a:xfrm>
            <a:off x="4702000" y="3250000"/>
            <a:ext cx="1901100" cy="1100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56"/>
          <p:cNvSpPr/>
          <p:nvPr/>
        </p:nvSpPr>
        <p:spPr>
          <a:xfrm>
            <a:off x="4802000" y="3350000"/>
            <a:ext cx="279900" cy="27990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56"/>
          <p:cNvSpPr txBox="1"/>
          <p:nvPr/>
        </p:nvSpPr>
        <p:spPr>
          <a:xfrm>
            <a:off x="4802000" y="3350000"/>
            <a:ext cx="2799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3</a:t>
            </a:r>
            <a:endParaRPr/>
          </a:p>
        </p:txBody>
      </p:sp>
      <p:sp>
        <p:nvSpPr>
          <p:cNvPr id="620" name="Google Shape;620;p56"/>
          <p:cNvSpPr txBox="1"/>
          <p:nvPr/>
        </p:nvSpPr>
        <p:spPr>
          <a:xfrm>
            <a:off x="5122000" y="3360000"/>
            <a:ext cx="14610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NSGA-II</a:t>
            </a:r>
            <a:endParaRPr/>
          </a:p>
        </p:txBody>
      </p:sp>
      <p:sp>
        <p:nvSpPr>
          <p:cNvPr id="621" name="Google Shape;621;p56"/>
          <p:cNvSpPr txBox="1"/>
          <p:nvPr/>
        </p:nvSpPr>
        <p:spPr>
          <a:xfrm>
            <a:off x="4822000" y="3720000"/>
            <a:ext cx="1701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Парето: стоимость ↔ переходы ↔ нагрузка</a:t>
            </a:r>
            <a:endParaRPr/>
          </a:p>
        </p:txBody>
      </p:sp>
      <p:sp>
        <p:nvSpPr>
          <p:cNvPr id="622" name="Google Shape;622;p56"/>
          <p:cNvSpPr txBox="1"/>
          <p:nvPr/>
        </p:nvSpPr>
        <p:spPr>
          <a:xfrm>
            <a:off x="6663000" y="3700000"/>
            <a:ext cx="20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→</a:t>
            </a:r>
            <a:endParaRPr/>
          </a:p>
        </p:txBody>
      </p:sp>
      <p:sp>
        <p:nvSpPr>
          <p:cNvPr id="623" name="Google Shape;623;p56"/>
          <p:cNvSpPr/>
          <p:nvPr/>
        </p:nvSpPr>
        <p:spPr>
          <a:xfrm>
            <a:off x="6863000" y="3250000"/>
            <a:ext cx="1901100" cy="1100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56"/>
          <p:cNvSpPr/>
          <p:nvPr/>
        </p:nvSpPr>
        <p:spPr>
          <a:xfrm>
            <a:off x="6963000" y="3350000"/>
            <a:ext cx="279900" cy="2799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56"/>
          <p:cNvSpPr txBox="1"/>
          <p:nvPr/>
        </p:nvSpPr>
        <p:spPr>
          <a:xfrm>
            <a:off x="6963000" y="3350000"/>
            <a:ext cx="2799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4</a:t>
            </a:r>
            <a:endParaRPr/>
          </a:p>
        </p:txBody>
      </p:sp>
      <p:sp>
        <p:nvSpPr>
          <p:cNvPr id="626" name="Google Shape;626;p56"/>
          <p:cNvSpPr txBox="1"/>
          <p:nvPr/>
        </p:nvSpPr>
        <p:spPr>
          <a:xfrm>
            <a:off x="7283000" y="3360000"/>
            <a:ext cx="14610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Применение</a:t>
            </a:r>
            <a:endParaRPr/>
          </a:p>
        </p:txBody>
      </p:sp>
      <p:sp>
        <p:nvSpPr>
          <p:cNvPr id="627" name="Google Shape;627;p56"/>
          <p:cNvSpPr txBox="1"/>
          <p:nvPr/>
        </p:nvSpPr>
        <p:spPr>
          <a:xfrm>
            <a:off x="6983000" y="3720000"/>
            <a:ext cx="14088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перенос </a:t>
            </a:r>
            <a:r>
              <a:rPr i="1" lang="ru-RU" sz="9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пакетами</a:t>
            </a: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 через Raft</a:t>
            </a:r>
            <a:endParaRPr/>
          </a:p>
        </p:txBody>
      </p:sp>
      <p:sp>
        <p:nvSpPr>
          <p:cNvPr id="628" name="Google Shape;628;p56"/>
          <p:cNvSpPr/>
          <p:nvPr/>
        </p:nvSpPr>
        <p:spPr>
          <a:xfrm>
            <a:off x="800000" y="4500000"/>
            <a:ext cx="7640100" cy="320100"/>
          </a:xfrm>
          <a:prstGeom prst="roundRect">
            <a:avLst>
              <a:gd fmla="val 20000" name="adj"/>
            </a:avLst>
          </a:prstGeom>
          <a:solidFill>
            <a:srgbClr val="2C0F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56"/>
          <p:cNvSpPr txBox="1"/>
          <p:nvPr/>
        </p:nvSpPr>
        <p:spPr>
          <a:xfrm>
            <a:off x="800000" y="4500000"/>
            <a:ext cx="764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ru-RU" sz="105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Результат на BFS-бенчмарке: задержка обхода −46…−52 % </a:t>
            </a:r>
            <a:r>
              <a:rPr b="0" i="0" lang="ru-RU" sz="105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против наивного хэш-шардинга</a:t>
            </a:r>
            <a:endParaRPr/>
          </a:p>
        </p:txBody>
      </p:sp>
      <p:sp>
        <p:nvSpPr>
          <p:cNvPr id="630" name="Google Shape;630;p56"/>
          <p:cNvSpPr txBox="1"/>
          <p:nvPr>
            <p:ph type="title"/>
          </p:nvPr>
        </p:nvSpPr>
        <p:spPr>
          <a:xfrm>
            <a:off x="269200" y="306425"/>
            <a:ext cx="70125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-RU" sz="3000"/>
              <a:t>Семантическое размещение данных</a:t>
            </a:r>
            <a:endParaRPr sz="3000"/>
          </a:p>
        </p:txBody>
      </p:sp>
      <p:sp>
        <p:nvSpPr>
          <p:cNvPr id="631" name="Google Shape;631;p56"/>
          <p:cNvSpPr txBox="1"/>
          <p:nvPr/>
        </p:nvSpPr>
        <p:spPr>
          <a:xfrm>
            <a:off x="8714475" y="4605950"/>
            <a:ext cx="37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olos Text SemiBold"/>
              <a:buNone/>
            </a:pPr>
            <a:r>
              <a:rPr lang="ru-RU" sz="2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8</a:t>
            </a:r>
            <a:endParaRPr sz="2000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57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Семантика транзакций</a:t>
            </a:r>
            <a:endParaRPr/>
          </a:p>
        </p:txBody>
      </p:sp>
      <p:sp>
        <p:nvSpPr>
          <p:cNvPr id="638" name="Google Shape;638;p57"/>
          <p:cNvSpPr/>
          <p:nvPr/>
        </p:nvSpPr>
        <p:spPr>
          <a:xfrm>
            <a:off x="614117" y="1153700"/>
            <a:ext cx="1834200" cy="333600"/>
          </a:xfrm>
          <a:prstGeom prst="roundRect">
            <a:avLst>
              <a:gd fmla="val 15000" name="adj"/>
            </a:avLst>
          </a:prstGeom>
          <a:solidFill>
            <a:srgbClr val="F2EBFD"/>
          </a:solidFill>
          <a:ln cap="flat" cmpd="sng" w="88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525" lIns="18525" spcFirstLastPara="1" rIns="18525" wrap="square" tIns="1852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4"/>
              <a:buFont typeface="Arial"/>
              <a:buNone/>
            </a:pPr>
            <a:r>
              <a:rPr b="1" lang="ru-RU" sz="1204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Клиент</a:t>
            </a:r>
            <a:endParaRPr sz="1297"/>
          </a:p>
        </p:txBody>
      </p:sp>
      <p:cxnSp>
        <p:nvCxnSpPr>
          <p:cNvPr id="639" name="Google Shape;639;p57"/>
          <p:cNvCxnSpPr/>
          <p:nvPr/>
        </p:nvCxnSpPr>
        <p:spPr>
          <a:xfrm>
            <a:off x="1531313" y="1515021"/>
            <a:ext cx="0" cy="2835000"/>
          </a:xfrm>
          <a:prstGeom prst="straightConnector1">
            <a:avLst/>
          </a:prstGeom>
          <a:noFill/>
          <a:ln cap="flat" cmpd="sng" w="8825">
            <a:solidFill>
              <a:srgbClr val="DDD1F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40" name="Google Shape;640;p57"/>
          <p:cNvSpPr/>
          <p:nvPr/>
        </p:nvSpPr>
        <p:spPr>
          <a:xfrm>
            <a:off x="2726447" y="1153700"/>
            <a:ext cx="2964600" cy="333600"/>
          </a:xfrm>
          <a:prstGeom prst="roundRect">
            <a:avLst>
              <a:gd fmla="val 15000" name="adj"/>
            </a:avLst>
          </a:prstGeom>
          <a:solidFill>
            <a:srgbClr val="F2EBFD"/>
          </a:solidFill>
          <a:ln cap="flat" cmpd="sng" w="88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525" lIns="18525" spcFirstLastPara="1" rIns="18525" wrap="square" tIns="1852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4"/>
              <a:buFont typeface="Arial"/>
              <a:buNone/>
            </a:pPr>
            <a:r>
              <a:rPr b="1" lang="ru-RU" sz="1204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Координатор,</a:t>
            </a:r>
            <a:r>
              <a:rPr b="1" i="0" lang="ru-RU" sz="1204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b="1" lang="ru-RU" sz="1204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Шард</a:t>
            </a:r>
            <a:r>
              <a:rPr b="1" i="0" lang="ru-RU" sz="1204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 1</a:t>
            </a:r>
            <a:endParaRPr sz="1297"/>
          </a:p>
        </p:txBody>
      </p:sp>
      <p:cxnSp>
        <p:nvCxnSpPr>
          <p:cNvPr id="641" name="Google Shape;641;p57"/>
          <p:cNvCxnSpPr/>
          <p:nvPr/>
        </p:nvCxnSpPr>
        <p:spPr>
          <a:xfrm>
            <a:off x="4208784" y="1515021"/>
            <a:ext cx="0" cy="2835000"/>
          </a:xfrm>
          <a:prstGeom prst="straightConnector1">
            <a:avLst/>
          </a:prstGeom>
          <a:noFill/>
          <a:ln cap="flat" cmpd="sng" w="8825">
            <a:solidFill>
              <a:srgbClr val="DDD1F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42" name="Google Shape;642;p57"/>
          <p:cNvSpPr/>
          <p:nvPr/>
        </p:nvSpPr>
        <p:spPr>
          <a:xfrm>
            <a:off x="6061706" y="1153700"/>
            <a:ext cx="2038200" cy="333600"/>
          </a:xfrm>
          <a:prstGeom prst="roundRect">
            <a:avLst>
              <a:gd fmla="val 15000" name="adj"/>
            </a:avLst>
          </a:prstGeom>
          <a:solidFill>
            <a:srgbClr val="F2EBFD"/>
          </a:solidFill>
          <a:ln cap="flat" cmpd="sng" w="88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525" lIns="18525" spcFirstLastPara="1" rIns="18525" wrap="square" tIns="1852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4"/>
              <a:buFont typeface="Arial"/>
              <a:buNone/>
            </a:pPr>
            <a:r>
              <a:rPr b="1" lang="ru-RU" sz="1204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Участник, Шард</a:t>
            </a:r>
            <a:r>
              <a:rPr b="1" i="0" lang="ru-RU" sz="1204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 2</a:t>
            </a:r>
            <a:endParaRPr sz="1297"/>
          </a:p>
        </p:txBody>
      </p:sp>
      <p:cxnSp>
        <p:nvCxnSpPr>
          <p:cNvPr id="643" name="Google Shape;643;p57"/>
          <p:cNvCxnSpPr/>
          <p:nvPr/>
        </p:nvCxnSpPr>
        <p:spPr>
          <a:xfrm>
            <a:off x="7080812" y="1515021"/>
            <a:ext cx="0" cy="2835000"/>
          </a:xfrm>
          <a:prstGeom prst="straightConnector1">
            <a:avLst/>
          </a:prstGeom>
          <a:noFill/>
          <a:ln cap="flat" cmpd="sng" w="8825">
            <a:solidFill>
              <a:srgbClr val="DDD1F4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44" name="Google Shape;644;p57"/>
          <p:cNvCxnSpPr/>
          <p:nvPr/>
        </p:nvCxnSpPr>
        <p:spPr>
          <a:xfrm>
            <a:off x="1568371" y="1561344"/>
            <a:ext cx="2603400" cy="0"/>
          </a:xfrm>
          <a:prstGeom prst="straightConnector1">
            <a:avLst/>
          </a:prstGeom>
          <a:noFill/>
          <a:ln cap="flat" cmpd="sng" w="14725">
            <a:solidFill>
              <a:srgbClr val="6435C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5" name="Google Shape;645;p57"/>
          <p:cNvSpPr txBox="1"/>
          <p:nvPr/>
        </p:nvSpPr>
        <p:spPr>
          <a:xfrm>
            <a:off x="1586801" y="1579947"/>
            <a:ext cx="2566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75" lIns="18525" spcFirstLastPara="1" rIns="18525" wrap="square" tIns="92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6"/>
              <a:buFont typeface="Arial"/>
              <a:buNone/>
            </a:pPr>
            <a:r>
              <a:rPr b="1" i="0" lang="ru-RU" sz="926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BeginTx</a:t>
            </a:r>
            <a:endParaRPr sz="1297"/>
          </a:p>
        </p:txBody>
      </p:sp>
      <p:cxnSp>
        <p:nvCxnSpPr>
          <p:cNvPr id="646" name="Google Shape;646;p57"/>
          <p:cNvCxnSpPr/>
          <p:nvPr/>
        </p:nvCxnSpPr>
        <p:spPr>
          <a:xfrm>
            <a:off x="4245843" y="1839284"/>
            <a:ext cx="2797800" cy="0"/>
          </a:xfrm>
          <a:prstGeom prst="straightConnector1">
            <a:avLst/>
          </a:prstGeom>
          <a:noFill/>
          <a:ln cap="flat" cmpd="sng" w="14725">
            <a:solidFill>
              <a:srgbClr val="1565C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7" name="Google Shape;647;p57"/>
          <p:cNvSpPr txBox="1"/>
          <p:nvPr/>
        </p:nvSpPr>
        <p:spPr>
          <a:xfrm>
            <a:off x="4264372" y="1635462"/>
            <a:ext cx="27609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75" lIns="18525" spcFirstLastPara="1" rIns="18525" wrap="square" tIns="92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6"/>
              <a:buFont typeface="Arial"/>
              <a:buNone/>
            </a:pPr>
            <a:r>
              <a:rPr b="1" i="0" lang="ru-RU" sz="926" u="none" cap="none" strike="noStrike">
                <a:solidFill>
                  <a:srgbClr val="1565C0"/>
                </a:solidFill>
                <a:latin typeface="Golos Text"/>
                <a:ea typeface="Golos Text"/>
                <a:cs typeface="Golos Text"/>
                <a:sym typeface="Golos Text"/>
              </a:rPr>
              <a:t>prewrite (CF_LOCKS)</a:t>
            </a:r>
            <a:r>
              <a:rPr b="1" lang="ru-RU" sz="926">
                <a:solidFill>
                  <a:srgbClr val="1565C0"/>
                </a:solidFill>
                <a:latin typeface="Golos Text"/>
                <a:ea typeface="Golos Text"/>
                <a:cs typeface="Golos Text"/>
                <a:sym typeface="Golos Text"/>
              </a:rPr>
              <a:t>,</a:t>
            </a:r>
            <a:r>
              <a:rPr b="1" i="0" lang="ru-RU" sz="926" u="none" cap="none" strike="noStrike">
                <a:solidFill>
                  <a:srgbClr val="1565C0"/>
                </a:solidFill>
                <a:latin typeface="Golos Text"/>
                <a:ea typeface="Golos Text"/>
                <a:cs typeface="Golos Text"/>
                <a:sym typeface="Golos Text"/>
              </a:rPr>
              <a:t> raft</a:t>
            </a:r>
            <a:endParaRPr sz="1297"/>
          </a:p>
        </p:txBody>
      </p:sp>
      <p:cxnSp>
        <p:nvCxnSpPr>
          <p:cNvPr id="648" name="Google Shape;648;p57"/>
          <p:cNvCxnSpPr/>
          <p:nvPr/>
        </p:nvCxnSpPr>
        <p:spPr>
          <a:xfrm>
            <a:off x="4245843" y="2080165"/>
            <a:ext cx="2797800" cy="0"/>
          </a:xfrm>
          <a:prstGeom prst="straightConnector1">
            <a:avLst/>
          </a:prstGeom>
          <a:noFill/>
          <a:ln cap="flat" cmpd="sng" w="8825">
            <a:solidFill>
              <a:srgbClr val="1565C0"/>
            </a:solidFill>
            <a:prstDash val="dash"/>
            <a:round/>
            <a:headEnd len="med" w="med" type="triangle"/>
            <a:tailEnd len="sm" w="sm" type="none"/>
          </a:ln>
        </p:spPr>
      </p:cxnSp>
      <p:sp>
        <p:nvSpPr>
          <p:cNvPr id="649" name="Google Shape;649;p57"/>
          <p:cNvSpPr txBox="1"/>
          <p:nvPr/>
        </p:nvSpPr>
        <p:spPr>
          <a:xfrm>
            <a:off x="4264372" y="1876343"/>
            <a:ext cx="27609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75" lIns="18525" spcFirstLastPara="1" rIns="18525" wrap="square" tIns="92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4"/>
              <a:buFont typeface="Arial"/>
              <a:buNone/>
            </a:pPr>
            <a:r>
              <a:rPr b="0" i="1" lang="ru-RU" sz="834" u="none" cap="none" strike="noStrike">
                <a:solidFill>
                  <a:srgbClr val="1565C0"/>
                </a:solidFill>
                <a:latin typeface="Golos Text"/>
                <a:ea typeface="Golos Text"/>
                <a:cs typeface="Golos Text"/>
                <a:sym typeface="Golos Text"/>
              </a:rPr>
              <a:t>ack</a:t>
            </a:r>
            <a:endParaRPr sz="1297"/>
          </a:p>
        </p:txBody>
      </p:sp>
      <p:sp>
        <p:nvSpPr>
          <p:cNvPr id="650" name="Google Shape;650;p57"/>
          <p:cNvSpPr/>
          <p:nvPr/>
        </p:nvSpPr>
        <p:spPr>
          <a:xfrm>
            <a:off x="2726450" y="2228400"/>
            <a:ext cx="1343100" cy="277800"/>
          </a:xfrm>
          <a:prstGeom prst="roundRect">
            <a:avLst>
              <a:gd fmla="val 30000" name="adj"/>
            </a:avLst>
          </a:prstGeom>
          <a:solidFill>
            <a:srgbClr val="F5F5F7"/>
          </a:solidFill>
          <a:ln cap="flat" cmpd="sng" w="8825">
            <a:solidFill>
              <a:srgbClr val="DDD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75" lIns="13900" spcFirstLastPara="1" rIns="13900" wrap="square" tIns="92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4"/>
              <a:buFont typeface="Arial"/>
              <a:buNone/>
            </a:pPr>
            <a:r>
              <a:rPr b="1" i="0" lang="ru-RU" sz="834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commit_ts := HLC.now()</a:t>
            </a:r>
            <a:endParaRPr sz="1297"/>
          </a:p>
        </p:txBody>
      </p:sp>
      <p:cxnSp>
        <p:nvCxnSpPr>
          <p:cNvPr id="651" name="Google Shape;651;p57"/>
          <p:cNvCxnSpPr/>
          <p:nvPr/>
        </p:nvCxnSpPr>
        <p:spPr>
          <a:xfrm>
            <a:off x="4245843" y="2710161"/>
            <a:ext cx="2797800" cy="0"/>
          </a:xfrm>
          <a:prstGeom prst="straightConnector1">
            <a:avLst/>
          </a:prstGeom>
          <a:noFill/>
          <a:ln cap="flat" cmpd="sng" w="14725">
            <a:solidFill>
              <a:srgbClr val="1565C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2" name="Google Shape;652;p57"/>
          <p:cNvSpPr txBox="1"/>
          <p:nvPr/>
        </p:nvSpPr>
        <p:spPr>
          <a:xfrm>
            <a:off x="4264372" y="2506339"/>
            <a:ext cx="27609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75" lIns="18525" spcFirstLastPara="1" rIns="18525" wrap="square" tIns="92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6"/>
              <a:buFont typeface="Arial"/>
              <a:buNone/>
            </a:pPr>
            <a:r>
              <a:rPr b="1" i="0" lang="ru-RU" sz="926" u="none" cap="none" strike="noStrike">
                <a:solidFill>
                  <a:srgbClr val="1565C0"/>
                </a:solidFill>
                <a:latin typeface="Golos Text"/>
                <a:ea typeface="Golos Text"/>
                <a:cs typeface="Golos Text"/>
                <a:sym typeface="Golos Text"/>
              </a:rPr>
              <a:t>primary commit (CF_LOCKS → CF_WRITE)</a:t>
            </a:r>
            <a:r>
              <a:rPr b="1" lang="ru-RU" sz="926">
                <a:solidFill>
                  <a:srgbClr val="1565C0"/>
                </a:solidFill>
                <a:latin typeface="Golos Text"/>
                <a:ea typeface="Golos Text"/>
                <a:cs typeface="Golos Text"/>
                <a:sym typeface="Golos Text"/>
              </a:rPr>
              <a:t>,</a:t>
            </a:r>
            <a:r>
              <a:rPr b="1" i="0" lang="ru-RU" sz="926" u="none" cap="none" strike="noStrike">
                <a:solidFill>
                  <a:srgbClr val="1565C0"/>
                </a:solidFill>
                <a:latin typeface="Golos Text"/>
                <a:ea typeface="Golos Text"/>
                <a:cs typeface="Golos Text"/>
                <a:sym typeface="Golos Text"/>
              </a:rPr>
              <a:t> raft</a:t>
            </a:r>
            <a:endParaRPr sz="1297"/>
          </a:p>
        </p:txBody>
      </p:sp>
      <p:sp>
        <p:nvSpPr>
          <p:cNvPr id="653" name="Google Shape;653;p57"/>
          <p:cNvSpPr/>
          <p:nvPr/>
        </p:nvSpPr>
        <p:spPr>
          <a:xfrm>
            <a:off x="3467616" y="2895454"/>
            <a:ext cx="1482300" cy="222300"/>
          </a:xfrm>
          <a:prstGeom prst="roundRect">
            <a:avLst>
              <a:gd fmla="val 40000" name="adj"/>
            </a:avLst>
          </a:prstGeom>
          <a:solidFill>
            <a:srgbClr val="2C7A5B"/>
          </a:solidFill>
          <a:ln>
            <a:noFill/>
          </a:ln>
        </p:spPr>
        <p:txBody>
          <a:bodyPr anchorCtr="0" anchor="ctr" bIns="9275" lIns="18525" spcFirstLastPara="1" rIns="18525" wrap="square" tIns="92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9"/>
              <a:buFont typeface="Arial"/>
              <a:buNone/>
            </a:pPr>
            <a:r>
              <a:rPr b="1" i="0" lang="ru-RU" sz="1019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✓ committed</a:t>
            </a:r>
            <a:endParaRPr sz="1297"/>
          </a:p>
        </p:txBody>
      </p:sp>
      <p:sp>
        <p:nvSpPr>
          <p:cNvPr id="654" name="Google Shape;654;p57"/>
          <p:cNvSpPr/>
          <p:nvPr/>
        </p:nvSpPr>
        <p:spPr>
          <a:xfrm>
            <a:off x="540000" y="3238246"/>
            <a:ext cx="7470900" cy="277800"/>
          </a:xfrm>
          <a:prstGeom prst="roundRect">
            <a:avLst>
              <a:gd fmla="val 20000" name="adj"/>
            </a:avLst>
          </a:prstGeom>
          <a:solidFill>
            <a:srgbClr val="FFF3D6"/>
          </a:solidFill>
          <a:ln cap="flat" cmpd="sng" w="882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350" lIns="84700" spcFirstLastPara="1" rIns="84700" wrap="square" tIns="42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9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57"/>
          <p:cNvSpPr txBox="1"/>
          <p:nvPr/>
        </p:nvSpPr>
        <p:spPr>
          <a:xfrm>
            <a:off x="577058" y="3252143"/>
            <a:ext cx="7396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75" lIns="18525" spcFirstLastPara="1" rIns="18525" wrap="square" tIns="92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3"/>
              <a:buFont typeface="Arial"/>
              <a:buNone/>
            </a:pPr>
            <a:r>
              <a:rPr b="1" i="0" lang="ru-RU" sz="973" u="none" cap="none" strike="noStrike">
                <a:solidFill>
                  <a:srgbClr val="A14E00"/>
                </a:solidFill>
                <a:latin typeface="Golos Text"/>
                <a:ea typeface="Golos Text"/>
                <a:cs typeface="Golos Text"/>
                <a:sym typeface="Golos Text"/>
              </a:rPr>
              <a:t>⌛ commit-wait: </a:t>
            </a:r>
            <a:r>
              <a:rPr b="0" i="0" lang="ru-RU" sz="926" u="none" cap="none" strike="noStrike">
                <a:solidFill>
                  <a:srgbClr val="6B3A00"/>
                </a:solidFill>
                <a:latin typeface="Golos Text"/>
                <a:ea typeface="Golos Text"/>
                <a:cs typeface="Golos Text"/>
                <a:sym typeface="Golos Text"/>
              </a:rPr>
              <a:t>ждём, пока wall-clock &gt; commit_ts.physical + ε</a:t>
            </a:r>
            <a:r>
              <a:rPr lang="ru-RU" sz="926">
                <a:solidFill>
                  <a:srgbClr val="6B3A00"/>
                </a:solidFill>
                <a:latin typeface="Golos Text"/>
                <a:ea typeface="Golos Text"/>
                <a:cs typeface="Golos Text"/>
                <a:sym typeface="Golos Text"/>
              </a:rPr>
              <a:t>;</a:t>
            </a:r>
            <a:r>
              <a:rPr b="0" i="0" lang="ru-RU" sz="926" u="none" cap="none" strike="noStrike">
                <a:solidFill>
                  <a:srgbClr val="6B3A00"/>
                </a:solidFill>
                <a:latin typeface="Golos Text"/>
                <a:ea typeface="Golos Text"/>
                <a:cs typeface="Golos Text"/>
                <a:sym typeface="Golos Text"/>
              </a:rPr>
              <a:t>  ~7 мс NTP / &lt; 1 мс PTP</a:t>
            </a:r>
            <a:endParaRPr sz="1297"/>
          </a:p>
        </p:txBody>
      </p:sp>
      <p:cxnSp>
        <p:nvCxnSpPr>
          <p:cNvPr id="656" name="Google Shape;656;p57"/>
          <p:cNvCxnSpPr/>
          <p:nvPr/>
        </p:nvCxnSpPr>
        <p:spPr>
          <a:xfrm>
            <a:off x="1568371" y="3655155"/>
            <a:ext cx="2603400" cy="0"/>
          </a:xfrm>
          <a:prstGeom prst="straightConnector1">
            <a:avLst/>
          </a:prstGeom>
          <a:noFill/>
          <a:ln cap="flat" cmpd="sng" w="11775">
            <a:solidFill>
              <a:srgbClr val="6435C9"/>
            </a:solidFill>
            <a:prstDash val="dash"/>
            <a:round/>
            <a:headEnd len="med" w="med" type="triangle"/>
            <a:tailEnd len="sm" w="sm" type="none"/>
          </a:ln>
        </p:spPr>
      </p:cxnSp>
      <p:sp>
        <p:nvSpPr>
          <p:cNvPr id="657" name="Google Shape;657;p57"/>
          <p:cNvSpPr txBox="1"/>
          <p:nvPr/>
        </p:nvSpPr>
        <p:spPr>
          <a:xfrm>
            <a:off x="1586901" y="3682949"/>
            <a:ext cx="2566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275" lIns="18525" spcFirstLastPara="1" rIns="18525" wrap="square" tIns="92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6"/>
              <a:buFont typeface="Arial"/>
              <a:buNone/>
            </a:pPr>
            <a:r>
              <a:rPr b="1" i="0" lang="ru-RU" sz="926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ack → client</a:t>
            </a:r>
            <a:endParaRPr sz="1297"/>
          </a:p>
        </p:txBody>
      </p:sp>
      <p:cxnSp>
        <p:nvCxnSpPr>
          <p:cNvPr id="658" name="Google Shape;658;p57"/>
          <p:cNvCxnSpPr/>
          <p:nvPr/>
        </p:nvCxnSpPr>
        <p:spPr>
          <a:xfrm>
            <a:off x="4245843" y="3970153"/>
            <a:ext cx="2797800" cy="0"/>
          </a:xfrm>
          <a:prstGeom prst="straightConnector1">
            <a:avLst/>
          </a:prstGeom>
          <a:noFill/>
          <a:ln cap="flat" cmpd="sng" w="8825">
            <a:solidFill>
              <a:srgbClr val="6C757D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659" name="Google Shape;659;p57"/>
          <p:cNvSpPr txBox="1"/>
          <p:nvPr/>
        </p:nvSpPr>
        <p:spPr>
          <a:xfrm>
            <a:off x="4264372" y="3997947"/>
            <a:ext cx="27609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275" lIns="18525" spcFirstLastPara="1" rIns="18525" wrap="square" tIns="92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1" lang="ru-RU" sz="88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secondary commit (lazy)</a:t>
            </a:r>
            <a:endParaRPr sz="1297"/>
          </a:p>
        </p:txBody>
      </p:sp>
      <p:sp>
        <p:nvSpPr>
          <p:cNvPr id="660" name="Google Shape;660;p57"/>
          <p:cNvSpPr txBox="1"/>
          <p:nvPr/>
        </p:nvSpPr>
        <p:spPr>
          <a:xfrm>
            <a:off x="495600" y="4424250"/>
            <a:ext cx="802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SSI-проверка на prewrite (при конфликте — abort до точки committed): </a:t>
            </a:r>
            <a:r>
              <a:rPr i="1" lang="ru-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Cahill 2008, Peng–Dabek 2010, Spanner 2012</a:t>
            </a:r>
            <a:endParaRPr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61" name="Google Shape;661;p57"/>
          <p:cNvSpPr txBox="1"/>
          <p:nvPr/>
        </p:nvSpPr>
        <p:spPr>
          <a:xfrm>
            <a:off x="8714475" y="4605950"/>
            <a:ext cx="37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olos Text SemiBold"/>
              <a:buNone/>
            </a:pPr>
            <a:r>
              <a:rPr lang="ru-RU" sz="20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9</a:t>
            </a:r>
            <a:endParaRPr sz="2000">
              <a:solidFill>
                <a:schemeClr val="lt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662" name="Google Shape;662;p57"/>
          <p:cNvSpPr/>
          <p:nvPr/>
        </p:nvSpPr>
        <p:spPr>
          <a:xfrm>
            <a:off x="8099900" y="1160450"/>
            <a:ext cx="5862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58"/>
          <p:cNvSpPr/>
          <p:nvPr/>
        </p:nvSpPr>
        <p:spPr>
          <a:xfrm>
            <a:off x="480000" y="1065250"/>
            <a:ext cx="8073600" cy="240000"/>
          </a:xfrm>
          <a:prstGeom prst="roundRect">
            <a:avLst>
              <a:gd fmla="val 20000" name="adj"/>
            </a:avLst>
          </a:prstGeom>
          <a:solidFill>
            <a:srgbClr val="FFE0E0"/>
          </a:solidFill>
          <a:ln cap="flat" cmpd="sng" w="9525">
            <a:solidFill>
              <a:srgbClr val="C9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58"/>
          <p:cNvSpPr txBox="1"/>
          <p:nvPr/>
        </p:nvSpPr>
        <p:spPr>
          <a:xfrm>
            <a:off x="480000" y="1065250"/>
            <a:ext cx="8073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30000" spcFirstLastPara="1" rIns="30000" wrap="square" tIns="5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ru-RU" sz="950" u="none" cap="none" strike="noStrike">
                <a:solidFill>
                  <a:srgbClr val="C92A2A"/>
                </a:solidFill>
                <a:latin typeface="Golos Text"/>
                <a:ea typeface="Golos Text"/>
                <a:cs typeface="Golos Text"/>
                <a:sym typeface="Golos Text"/>
              </a:rPr>
              <a:t>Проблема:  </a:t>
            </a: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локальный детектор не видит цикл, проходящий через несколько шардов  </a:t>
            </a:r>
            <a:r>
              <a:rPr b="1" i="1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(A → B → C → A)</a:t>
            </a: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 — это «замораживает» часть системы</a:t>
            </a:r>
            <a:endParaRPr/>
          </a:p>
        </p:txBody>
      </p:sp>
      <p:sp>
        <p:nvSpPr>
          <p:cNvPr id="670" name="Google Shape;670;p58"/>
          <p:cNvSpPr/>
          <p:nvPr/>
        </p:nvSpPr>
        <p:spPr>
          <a:xfrm>
            <a:off x="480000" y="1467413"/>
            <a:ext cx="3990600" cy="2037900"/>
          </a:xfrm>
          <a:prstGeom prst="roundRect">
            <a:avLst>
              <a:gd fmla="val 8000" name="adj"/>
            </a:avLst>
          </a:prstGeom>
          <a:solidFill>
            <a:srgbClr val="FFFAF0"/>
          </a:solidFill>
          <a:ln cap="flat" cmpd="sng" w="1587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58"/>
          <p:cNvSpPr txBox="1"/>
          <p:nvPr/>
        </p:nvSpPr>
        <p:spPr>
          <a:xfrm>
            <a:off x="509198" y="1525088"/>
            <a:ext cx="39321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000" spcFirstLastPara="1" rIns="3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БЫСТРЫЙ ПУТЬ</a:t>
            </a:r>
            <a:endParaRPr/>
          </a:p>
        </p:txBody>
      </p:sp>
      <p:sp>
        <p:nvSpPr>
          <p:cNvPr id="672" name="Google Shape;672;p58"/>
          <p:cNvSpPr txBox="1"/>
          <p:nvPr/>
        </p:nvSpPr>
        <p:spPr>
          <a:xfrm>
            <a:off x="509200" y="1707725"/>
            <a:ext cx="3932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000" spcFirstLastPara="1" rIns="3000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Зонд по цепочке ожидания</a:t>
            </a:r>
            <a:endParaRPr/>
          </a:p>
        </p:txBody>
      </p:sp>
      <p:sp>
        <p:nvSpPr>
          <p:cNvPr id="673" name="Google Shape;673;p58"/>
          <p:cNvSpPr txBox="1"/>
          <p:nvPr/>
        </p:nvSpPr>
        <p:spPr>
          <a:xfrm>
            <a:off x="509200" y="1945250"/>
            <a:ext cx="3932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30000" spcFirstLastPara="1" rIns="3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алгоритм Чанди–Мизра–Хааса</a:t>
            </a:r>
            <a:endParaRPr/>
          </a:p>
        </p:txBody>
      </p:sp>
      <p:sp>
        <p:nvSpPr>
          <p:cNvPr id="674" name="Google Shape;674;p58"/>
          <p:cNvSpPr txBox="1"/>
          <p:nvPr/>
        </p:nvSpPr>
        <p:spPr>
          <a:xfrm>
            <a:off x="509198" y="2235250"/>
            <a:ext cx="3932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30000" spcFirstLastPara="1" rIns="30000" wrap="square" tIns="50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"/>
              <a:buFont typeface="Arial"/>
              <a:buNone/>
            </a:pPr>
            <a:r>
              <a:rPr b="0" i="0" lang="ru-RU" sz="92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Узел замечает межшардовое ожидание → пускает зонд по цепочке. Зонд несёт стоимость каждого шага. Вернулся к инициатору → весь цикл известен → выбор жертвы.</a:t>
            </a:r>
            <a:endParaRPr/>
          </a:p>
        </p:txBody>
      </p:sp>
      <p:cxnSp>
        <p:nvCxnSpPr>
          <p:cNvPr id="675" name="Google Shape;675;p58"/>
          <p:cNvCxnSpPr/>
          <p:nvPr/>
        </p:nvCxnSpPr>
        <p:spPr>
          <a:xfrm>
            <a:off x="674655" y="3005250"/>
            <a:ext cx="3600900" cy="0"/>
          </a:xfrm>
          <a:prstGeom prst="straightConnector1">
            <a:avLst/>
          </a:prstGeom>
          <a:noFill/>
          <a:ln cap="flat" cmpd="sng" w="9525">
            <a:solidFill>
              <a:srgbClr val="DDD1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6" name="Google Shape;676;p58"/>
          <p:cNvSpPr txBox="1"/>
          <p:nvPr/>
        </p:nvSpPr>
        <p:spPr>
          <a:xfrm>
            <a:off x="509198" y="3055250"/>
            <a:ext cx="23592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3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ru-RU" sz="9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Межшардовые циклы</a:t>
            </a:r>
            <a:endParaRPr/>
          </a:p>
        </p:txBody>
      </p:sp>
      <p:sp>
        <p:nvSpPr>
          <p:cNvPr id="677" name="Google Shape;677;p58"/>
          <p:cNvSpPr txBox="1"/>
          <p:nvPr/>
        </p:nvSpPr>
        <p:spPr>
          <a:xfrm>
            <a:off x="2868411" y="3055250"/>
            <a:ext cx="15729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3000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≈ 5-5</a:t>
            </a:r>
            <a:r>
              <a:rPr b="1" lang="ru-RU" sz="2000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0</a:t>
            </a:r>
            <a:r>
              <a:rPr b="1" i="0" lang="ru-RU" sz="20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 мс</a:t>
            </a:r>
            <a:endParaRPr/>
          </a:p>
        </p:txBody>
      </p:sp>
      <p:sp>
        <p:nvSpPr>
          <p:cNvPr id="678" name="Google Shape;678;p58"/>
          <p:cNvSpPr/>
          <p:nvPr/>
        </p:nvSpPr>
        <p:spPr>
          <a:xfrm>
            <a:off x="4650425" y="1467413"/>
            <a:ext cx="3932100" cy="2037900"/>
          </a:xfrm>
          <a:prstGeom prst="roundRect">
            <a:avLst>
              <a:gd fmla="val 8000" name="adj"/>
            </a:avLst>
          </a:prstGeom>
          <a:solidFill>
            <a:srgbClr val="F7F2FE"/>
          </a:solidFill>
          <a:ln cap="flat" cmpd="sng" w="1587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58"/>
          <p:cNvSpPr txBox="1"/>
          <p:nvPr/>
        </p:nvSpPr>
        <p:spPr>
          <a:xfrm>
            <a:off x="4679196" y="1525088"/>
            <a:ext cx="38745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000" spcFirstLastPara="1" rIns="3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МЕДЛЕННЫЙ ПУТЬ</a:t>
            </a:r>
            <a:endParaRPr/>
          </a:p>
        </p:txBody>
      </p:sp>
      <p:sp>
        <p:nvSpPr>
          <p:cNvPr id="680" name="Google Shape;680;p58"/>
          <p:cNvSpPr txBox="1"/>
          <p:nvPr/>
        </p:nvSpPr>
        <p:spPr>
          <a:xfrm>
            <a:off x="4679200" y="1707725"/>
            <a:ext cx="38745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000" spcFirstLastPara="1" rIns="3000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Обход глобального графа ожиданий</a:t>
            </a:r>
            <a:endParaRPr/>
          </a:p>
        </p:txBody>
      </p:sp>
      <p:sp>
        <p:nvSpPr>
          <p:cNvPr id="681" name="Google Shape;681;p58"/>
          <p:cNvSpPr txBox="1"/>
          <p:nvPr/>
        </p:nvSpPr>
        <p:spPr>
          <a:xfrm>
            <a:off x="4679200" y="1945250"/>
            <a:ext cx="387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30000" spcFirstLastPara="1" rIns="3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алгоритм Тарьяна — поиск сильно связных компонент</a:t>
            </a:r>
            <a:endParaRPr/>
          </a:p>
        </p:txBody>
      </p:sp>
      <p:sp>
        <p:nvSpPr>
          <p:cNvPr id="682" name="Google Shape;682;p58"/>
          <p:cNvSpPr txBox="1"/>
          <p:nvPr/>
        </p:nvSpPr>
        <p:spPr>
          <a:xfrm>
            <a:off x="4679196" y="2235250"/>
            <a:ext cx="38745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30000" spcFirstLastPara="1" rIns="30000" wrap="square" tIns="50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"/>
              <a:buFont typeface="Arial"/>
              <a:buNone/>
            </a:pPr>
            <a:r>
              <a:rPr b="0" i="0" lang="ru-RU" sz="92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Каждые 200 мс узлы отдают ожидания оркестратору. Тот склеивает граф и ищет циклы алгоритмом Тарьяна. Подхватывает то, что упустил быстрый путь.</a:t>
            </a:r>
            <a:endParaRPr/>
          </a:p>
        </p:txBody>
      </p:sp>
      <p:cxnSp>
        <p:nvCxnSpPr>
          <p:cNvPr id="683" name="Google Shape;683;p58"/>
          <p:cNvCxnSpPr/>
          <p:nvPr/>
        </p:nvCxnSpPr>
        <p:spPr>
          <a:xfrm>
            <a:off x="4842230" y="3005250"/>
            <a:ext cx="3548400" cy="0"/>
          </a:xfrm>
          <a:prstGeom prst="straightConnector1">
            <a:avLst/>
          </a:prstGeom>
          <a:noFill/>
          <a:ln cap="flat" cmpd="sng" w="9525">
            <a:solidFill>
              <a:srgbClr val="DDD1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4" name="Google Shape;684;p58"/>
          <p:cNvSpPr txBox="1"/>
          <p:nvPr/>
        </p:nvSpPr>
        <p:spPr>
          <a:xfrm>
            <a:off x="4679196" y="3055250"/>
            <a:ext cx="23247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3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1" lang="ru-RU" sz="90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И</a:t>
            </a:r>
            <a:r>
              <a:rPr b="0" i="1" lang="ru-RU" sz="9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сточник истины</a:t>
            </a:r>
            <a:endParaRPr/>
          </a:p>
        </p:txBody>
      </p:sp>
      <p:sp>
        <p:nvSpPr>
          <p:cNvPr id="685" name="Google Shape;685;p58"/>
          <p:cNvSpPr txBox="1"/>
          <p:nvPr/>
        </p:nvSpPr>
        <p:spPr>
          <a:xfrm>
            <a:off x="7003873" y="3055250"/>
            <a:ext cx="15498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3000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&lt; 1 с</a:t>
            </a:r>
            <a:endParaRPr/>
          </a:p>
        </p:txBody>
      </p:sp>
      <p:sp>
        <p:nvSpPr>
          <p:cNvPr id="686" name="Google Shape;686;p58"/>
          <p:cNvSpPr/>
          <p:nvPr/>
        </p:nvSpPr>
        <p:spPr>
          <a:xfrm>
            <a:off x="457200" y="3583575"/>
            <a:ext cx="8139000" cy="320100"/>
          </a:xfrm>
          <a:prstGeom prst="roundRect">
            <a:avLst>
              <a:gd fmla="val 15000" name="adj"/>
            </a:avLst>
          </a:prstGeom>
          <a:solidFill>
            <a:srgbClr val="2C0F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58"/>
          <p:cNvSpPr txBox="1"/>
          <p:nvPr/>
        </p:nvSpPr>
        <p:spPr>
          <a:xfrm>
            <a:off x="457200" y="3583575"/>
            <a:ext cx="813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Оба пути выбирают жертву одной формулой  </a:t>
            </a:r>
            <a:r>
              <a:rPr b="0" i="1" lang="ru-RU" sz="10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(op_count × age)</a:t>
            </a:r>
            <a:r>
              <a:rPr b="1" i="0" lang="ru-RU" sz="10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  →  двойной откат безопасен</a:t>
            </a:r>
            <a:endParaRPr/>
          </a:p>
        </p:txBody>
      </p:sp>
      <p:sp>
        <p:nvSpPr>
          <p:cNvPr id="688" name="Google Shape;688;p58"/>
          <p:cNvSpPr/>
          <p:nvPr/>
        </p:nvSpPr>
        <p:spPr>
          <a:xfrm>
            <a:off x="457200" y="4003575"/>
            <a:ext cx="2621700" cy="5799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58"/>
          <p:cNvSpPr/>
          <p:nvPr/>
        </p:nvSpPr>
        <p:spPr>
          <a:xfrm>
            <a:off x="457200" y="4003575"/>
            <a:ext cx="76500" cy="579900"/>
          </a:xfrm>
          <a:prstGeom prst="rect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58"/>
          <p:cNvSpPr txBox="1"/>
          <p:nvPr/>
        </p:nvSpPr>
        <p:spPr>
          <a:xfrm>
            <a:off x="552370" y="4033575"/>
            <a:ext cx="2498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Стоимостный выбор жертвы</a:t>
            </a:r>
            <a:endParaRPr/>
          </a:p>
        </p:txBody>
      </p:sp>
      <p:sp>
        <p:nvSpPr>
          <p:cNvPr id="691" name="Google Shape;691;p58"/>
          <p:cNvSpPr txBox="1"/>
          <p:nvPr/>
        </p:nvSpPr>
        <p:spPr>
          <a:xfrm>
            <a:off x="552370" y="4243575"/>
            <a:ext cx="24981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минимальный ущерб — откатываем самую молодую или дешёвую</a:t>
            </a:r>
            <a:endParaRPr/>
          </a:p>
        </p:txBody>
      </p:sp>
      <p:sp>
        <p:nvSpPr>
          <p:cNvPr id="692" name="Google Shape;692;p58"/>
          <p:cNvSpPr/>
          <p:nvPr/>
        </p:nvSpPr>
        <p:spPr>
          <a:xfrm>
            <a:off x="3209670" y="4003575"/>
            <a:ext cx="2698800" cy="5799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58"/>
          <p:cNvSpPr/>
          <p:nvPr/>
        </p:nvSpPr>
        <p:spPr>
          <a:xfrm>
            <a:off x="3213041" y="4003575"/>
            <a:ext cx="80100" cy="5799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58"/>
          <p:cNvSpPr txBox="1"/>
          <p:nvPr/>
        </p:nvSpPr>
        <p:spPr>
          <a:xfrm>
            <a:off x="3307646" y="4033575"/>
            <a:ext cx="2571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Постепенная деградация</a:t>
            </a:r>
            <a:endParaRPr/>
          </a:p>
        </p:txBody>
      </p:sp>
      <p:sp>
        <p:nvSpPr>
          <p:cNvPr id="695" name="Google Shape;695;p58"/>
          <p:cNvSpPr txBox="1"/>
          <p:nvPr/>
        </p:nvSpPr>
        <p:spPr>
          <a:xfrm>
            <a:off x="3307646" y="4243575"/>
            <a:ext cx="25716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оба пути независимы: паралич — только при одновременном отказе обоих</a:t>
            </a:r>
            <a:endParaRPr/>
          </a:p>
        </p:txBody>
      </p:sp>
      <p:sp>
        <p:nvSpPr>
          <p:cNvPr id="696" name="Google Shape;696;p58"/>
          <p:cNvSpPr/>
          <p:nvPr/>
        </p:nvSpPr>
        <p:spPr>
          <a:xfrm>
            <a:off x="5972500" y="4003575"/>
            <a:ext cx="2621700" cy="5799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58"/>
          <p:cNvSpPr/>
          <p:nvPr/>
        </p:nvSpPr>
        <p:spPr>
          <a:xfrm>
            <a:off x="5972500" y="4003575"/>
            <a:ext cx="76500" cy="579900"/>
          </a:xfrm>
          <a:prstGeom prst="rect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58"/>
          <p:cNvSpPr txBox="1"/>
          <p:nvPr/>
        </p:nvSpPr>
        <p:spPr>
          <a:xfrm>
            <a:off x="6067677" y="4033575"/>
            <a:ext cx="2498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Идемпотентный откат</a:t>
            </a:r>
            <a:endParaRPr/>
          </a:p>
        </p:txBody>
      </p:sp>
      <p:sp>
        <p:nvSpPr>
          <p:cNvPr id="699" name="Google Shape;699;p58"/>
          <p:cNvSpPr txBox="1"/>
          <p:nvPr/>
        </p:nvSpPr>
        <p:spPr>
          <a:xfrm>
            <a:off x="6067677" y="4243575"/>
            <a:ext cx="24981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без распределённого CAS — двойное применение безопасно</a:t>
            </a:r>
            <a:endParaRPr/>
          </a:p>
        </p:txBody>
      </p:sp>
      <p:sp>
        <p:nvSpPr>
          <p:cNvPr id="700" name="Google Shape;700;p58"/>
          <p:cNvSpPr txBox="1"/>
          <p:nvPr/>
        </p:nvSpPr>
        <p:spPr>
          <a:xfrm>
            <a:off x="491854" y="4583475"/>
            <a:ext cx="8307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20000" spcFirstLastPara="1" rIns="20000" wrap="square" tIns="5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Локальные циклы внутри одного шарда — отлавливаются встроенным графом ожиданий узла.</a:t>
            </a:r>
            <a:endParaRPr/>
          </a:p>
        </p:txBody>
      </p:sp>
      <p:sp>
        <p:nvSpPr>
          <p:cNvPr id="701" name="Google Shape;701;p58"/>
          <p:cNvSpPr txBox="1"/>
          <p:nvPr>
            <p:ph type="title"/>
          </p:nvPr>
        </p:nvSpPr>
        <p:spPr>
          <a:xfrm>
            <a:off x="457200" y="124500"/>
            <a:ext cx="6929400" cy="8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80"/>
              <a:buFont typeface="Golos Text SemiBold"/>
              <a:buNone/>
            </a:pPr>
            <a:r>
              <a:rPr lang="ru-RU" sz="2480"/>
              <a:t>Гибридный детектор глобальных взаимных блокировок</a:t>
            </a:r>
            <a:endParaRPr sz="2480"/>
          </a:p>
        </p:txBody>
      </p:sp>
      <p:sp>
        <p:nvSpPr>
          <p:cNvPr id="702" name="Google Shape;702;p58"/>
          <p:cNvSpPr txBox="1"/>
          <p:nvPr/>
        </p:nvSpPr>
        <p:spPr>
          <a:xfrm>
            <a:off x="8633700" y="4650900"/>
            <a:ext cx="51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olos Text SemiBold"/>
              <a:buNone/>
            </a:pPr>
            <a:r>
              <a:rPr lang="ru-RU" sz="20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10</a:t>
            </a:r>
            <a:endParaRPr sz="2000">
              <a:solidFill>
                <a:schemeClr val="lt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59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Качество реализации</a:t>
            </a:r>
            <a:endParaRPr/>
          </a:p>
        </p:txBody>
      </p:sp>
      <p:sp>
        <p:nvSpPr>
          <p:cNvPr id="709" name="Google Shape;709;p59"/>
          <p:cNvSpPr/>
          <p:nvPr/>
        </p:nvSpPr>
        <p:spPr>
          <a:xfrm>
            <a:off x="1316800" y="1258775"/>
            <a:ext cx="1200000" cy="219900"/>
          </a:xfrm>
          <a:prstGeom prst="roundRect">
            <a:avLst>
              <a:gd fmla="val 25000" name="adj"/>
            </a:avLst>
          </a:prstGeom>
          <a:solidFill>
            <a:srgbClr val="FFF3D6"/>
          </a:solidFill>
          <a:ln cap="flat" cmpd="sng" w="952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59"/>
          <p:cNvSpPr txBox="1"/>
          <p:nvPr/>
        </p:nvSpPr>
        <p:spPr>
          <a:xfrm>
            <a:off x="1316800" y="1258775"/>
            <a:ext cx="12000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10000" spcFirstLastPara="1" rIns="1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ru-RU" sz="8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4 сценария отказов</a:t>
            </a:r>
            <a:endParaRPr/>
          </a:p>
        </p:txBody>
      </p:sp>
      <p:sp>
        <p:nvSpPr>
          <p:cNvPr id="711" name="Google Shape;711;p59"/>
          <p:cNvSpPr/>
          <p:nvPr/>
        </p:nvSpPr>
        <p:spPr>
          <a:xfrm>
            <a:off x="816800" y="1503775"/>
            <a:ext cx="2199900" cy="219900"/>
          </a:xfrm>
          <a:prstGeom prst="roundRect">
            <a:avLst>
              <a:gd fmla="val 25000" name="adj"/>
            </a:avLst>
          </a:prstGeom>
          <a:solidFill>
            <a:srgbClr val="DCEAF7"/>
          </a:solidFill>
          <a:ln cap="flat" cmpd="sng" w="952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59"/>
          <p:cNvSpPr txBox="1"/>
          <p:nvPr/>
        </p:nvSpPr>
        <p:spPr>
          <a:xfrm>
            <a:off x="816800" y="1503775"/>
            <a:ext cx="2199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10000" spcFirstLastPara="1" rIns="1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ru-RU" sz="800" u="none" cap="none" strike="noStrike">
                <a:solidFill>
                  <a:srgbClr val="1565C0"/>
                </a:solidFill>
                <a:latin typeface="Golos Text"/>
                <a:ea typeface="Golos Text"/>
                <a:cs typeface="Golos Text"/>
                <a:sym typeface="Golos Text"/>
              </a:rPr>
              <a:t>27 сквозных · pytest · docker-compose</a:t>
            </a:r>
            <a:endParaRPr/>
          </a:p>
        </p:txBody>
      </p:sp>
      <p:sp>
        <p:nvSpPr>
          <p:cNvPr id="713" name="Google Shape;713;p59"/>
          <p:cNvSpPr/>
          <p:nvPr/>
        </p:nvSpPr>
        <p:spPr>
          <a:xfrm>
            <a:off x="566800" y="1748775"/>
            <a:ext cx="2700000" cy="219900"/>
          </a:xfrm>
          <a:prstGeom prst="roundRect">
            <a:avLst>
              <a:gd fmla="val 25000" name="adj"/>
            </a:avLst>
          </a:prstGeom>
          <a:solidFill>
            <a:srgbClr val="F2EBFD"/>
          </a:solidFill>
          <a:ln cap="flat" cmpd="sng" w="952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59"/>
          <p:cNvSpPr txBox="1"/>
          <p:nvPr/>
        </p:nvSpPr>
        <p:spPr>
          <a:xfrm>
            <a:off x="566800" y="1748775"/>
            <a:ext cx="27000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10000" spcFirstLastPara="1" rIns="1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ru-RU" sz="8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746 модульных · Rust + Kotlin</a:t>
            </a:r>
            <a:endParaRPr/>
          </a:p>
        </p:txBody>
      </p:sp>
      <p:sp>
        <p:nvSpPr>
          <p:cNvPr id="715" name="Google Shape;715;p59"/>
          <p:cNvSpPr txBox="1"/>
          <p:nvPr/>
        </p:nvSpPr>
        <p:spPr>
          <a:xfrm>
            <a:off x="536800" y="2023775"/>
            <a:ext cx="27600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ru-RU" sz="9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покрытие 78 %</a:t>
            </a:r>
            <a:endParaRPr/>
          </a:p>
        </p:txBody>
      </p:sp>
      <p:sp>
        <p:nvSpPr>
          <p:cNvPr id="716" name="Google Shape;716;p59"/>
          <p:cNvSpPr/>
          <p:nvPr/>
        </p:nvSpPr>
        <p:spPr>
          <a:xfrm>
            <a:off x="3462525" y="1110000"/>
            <a:ext cx="2199900" cy="585000"/>
          </a:xfrm>
          <a:prstGeom prst="roundRect">
            <a:avLst>
              <a:gd fmla="val 12000" name="adj"/>
            </a:avLst>
          </a:prstGeom>
          <a:solidFill>
            <a:srgbClr val="F4FAF5"/>
          </a:solidFill>
          <a:ln cap="flat" cmpd="sng" w="952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17" name="Google Shape;717;p59"/>
          <p:cNvSpPr txBox="1"/>
          <p:nvPr/>
        </p:nvSpPr>
        <p:spPr>
          <a:xfrm>
            <a:off x="3485723" y="1140000"/>
            <a:ext cx="2153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20000" spcFirstLastPara="1" rIns="2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Отказ узла</a:t>
            </a:r>
            <a:r>
              <a:rPr b="1" lang="ru-RU" sz="100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данных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18" name="Google Shape;718;p59"/>
          <p:cNvSpPr txBox="1"/>
          <p:nvPr/>
        </p:nvSpPr>
        <p:spPr>
          <a:xfrm>
            <a:off x="3485725" y="1327976"/>
            <a:ext cx="21534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20000" spcFirstLastPara="1" rIns="2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-RU" sz="15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&lt; 2 с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19" name="Google Shape;719;p59"/>
          <p:cNvSpPr txBox="1"/>
          <p:nvPr/>
        </p:nvSpPr>
        <p:spPr>
          <a:xfrm>
            <a:off x="3485725" y="1505148"/>
            <a:ext cx="21534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20000" spcFirstLastPara="1" rIns="2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1" lang="ru-RU" sz="9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перевыбор лидера Raft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20" name="Google Shape;720;p59"/>
          <p:cNvSpPr/>
          <p:nvPr/>
        </p:nvSpPr>
        <p:spPr>
          <a:xfrm>
            <a:off x="5804950" y="1097850"/>
            <a:ext cx="2199900" cy="585000"/>
          </a:xfrm>
          <a:prstGeom prst="roundRect">
            <a:avLst>
              <a:gd fmla="val 12000" name="adj"/>
            </a:avLst>
          </a:prstGeom>
          <a:solidFill>
            <a:srgbClr val="F4FAF5"/>
          </a:solidFill>
          <a:ln cap="flat" cmpd="sng" w="952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21" name="Google Shape;721;p59"/>
          <p:cNvSpPr txBox="1"/>
          <p:nvPr/>
        </p:nvSpPr>
        <p:spPr>
          <a:xfrm>
            <a:off x="5828148" y="1129616"/>
            <a:ext cx="21534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20000" spcFirstLastPara="1" rIns="2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Отказ оркестратора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22" name="Google Shape;722;p59"/>
          <p:cNvSpPr txBox="1"/>
          <p:nvPr/>
        </p:nvSpPr>
        <p:spPr>
          <a:xfrm>
            <a:off x="5828150" y="1336174"/>
            <a:ext cx="2153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20000" spcFirstLastPara="1" rIns="2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-RU" sz="15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&lt; 5 с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23" name="Google Shape;723;p59"/>
          <p:cNvSpPr txBox="1"/>
          <p:nvPr/>
        </p:nvSpPr>
        <p:spPr>
          <a:xfrm>
            <a:off x="5828150" y="1532700"/>
            <a:ext cx="2153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20000" spcFirstLastPara="1" rIns="2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1" lang="ru-RU" sz="9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лизинг подхватывает запасной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24" name="Google Shape;724;p59"/>
          <p:cNvSpPr/>
          <p:nvPr/>
        </p:nvSpPr>
        <p:spPr>
          <a:xfrm>
            <a:off x="3462525" y="1754950"/>
            <a:ext cx="2199900" cy="540000"/>
          </a:xfrm>
          <a:prstGeom prst="roundRect">
            <a:avLst>
              <a:gd fmla="val 12000" name="adj"/>
            </a:avLst>
          </a:prstGeom>
          <a:solidFill>
            <a:srgbClr val="F4FAF5"/>
          </a:solidFill>
          <a:ln cap="flat" cmpd="sng" w="952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25" name="Google Shape;725;p59"/>
          <p:cNvSpPr txBox="1"/>
          <p:nvPr/>
        </p:nvSpPr>
        <p:spPr>
          <a:xfrm>
            <a:off x="3485723" y="1786715"/>
            <a:ext cx="21534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20000" spcFirstLastPara="1" rIns="2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Отказ члена метастора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26" name="Google Shape;726;p59"/>
          <p:cNvSpPr txBox="1"/>
          <p:nvPr/>
        </p:nvSpPr>
        <p:spPr>
          <a:xfrm>
            <a:off x="3485725" y="1956125"/>
            <a:ext cx="21534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20000" spcFirstLastPara="1" rIns="2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-RU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0 с простоя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27" name="Google Shape;727;p59"/>
          <p:cNvSpPr txBox="1"/>
          <p:nvPr/>
        </p:nvSpPr>
        <p:spPr>
          <a:xfrm>
            <a:off x="3485725" y="2144700"/>
            <a:ext cx="2153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20000" spcFirstLastPara="1" rIns="2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1" lang="ru-RU" sz="9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кворум сохранён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28" name="Google Shape;728;p59"/>
          <p:cNvSpPr/>
          <p:nvPr/>
        </p:nvSpPr>
        <p:spPr>
          <a:xfrm>
            <a:off x="5805000" y="1741876"/>
            <a:ext cx="2199900" cy="540000"/>
          </a:xfrm>
          <a:prstGeom prst="roundRect">
            <a:avLst>
              <a:gd fmla="val 12000" name="adj"/>
            </a:avLst>
          </a:prstGeom>
          <a:solidFill>
            <a:srgbClr val="F4FAF5"/>
          </a:solidFill>
          <a:ln cap="flat" cmpd="sng" w="952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29" name="Google Shape;729;p59"/>
          <p:cNvSpPr txBox="1"/>
          <p:nvPr/>
        </p:nvSpPr>
        <p:spPr>
          <a:xfrm>
            <a:off x="5828198" y="1773641"/>
            <a:ext cx="21534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20000" spcFirstLastPara="1" rIns="2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Сетевой раскол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30" name="Google Shape;730;p59"/>
          <p:cNvSpPr txBox="1"/>
          <p:nvPr/>
        </p:nvSpPr>
        <p:spPr>
          <a:xfrm>
            <a:off x="5828200" y="1943050"/>
            <a:ext cx="21534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20000" spcFirstLastPara="1" rIns="2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-RU" sz="15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&lt; 2 с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31" name="Google Shape;731;p59"/>
          <p:cNvSpPr txBox="1"/>
          <p:nvPr/>
        </p:nvSpPr>
        <p:spPr>
          <a:xfrm>
            <a:off x="5828200" y="2122924"/>
            <a:ext cx="21534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20000" spcFirstLastPara="1" rIns="2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1" lang="ru-RU" sz="90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сторона с кворумом работает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36800" y="2513775"/>
            <a:ext cx="1552200" cy="6039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59"/>
          <p:cNvSpPr txBox="1"/>
          <p:nvPr/>
        </p:nvSpPr>
        <p:spPr>
          <a:xfrm>
            <a:off x="536800" y="2547320"/>
            <a:ext cx="1552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7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60K</a:t>
            </a:r>
            <a:endParaRPr sz="1300"/>
          </a:p>
        </p:txBody>
      </p:sp>
      <p:sp>
        <p:nvSpPr>
          <p:cNvPr id="734" name="Google Shape;734;p59"/>
          <p:cNvSpPr txBox="1"/>
          <p:nvPr/>
        </p:nvSpPr>
        <p:spPr>
          <a:xfrm>
            <a:off x="536800" y="2813452"/>
            <a:ext cx="15522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строк кода</a:t>
            </a:r>
            <a:endParaRPr/>
          </a:p>
        </p:txBody>
      </p:sp>
      <p:sp>
        <p:nvSpPr>
          <p:cNvPr id="735" name="Google Shape;735;p59"/>
          <p:cNvSpPr txBox="1"/>
          <p:nvPr/>
        </p:nvSpPr>
        <p:spPr>
          <a:xfrm>
            <a:off x="536800" y="2966637"/>
            <a:ext cx="1552200" cy="1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ru-RU" sz="8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Rust · Kotlin · </a:t>
            </a:r>
            <a:r>
              <a:rPr i="1" lang="ru-RU" sz="80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Python</a:t>
            </a:r>
            <a:endParaRPr/>
          </a:p>
        </p:txBody>
      </p:sp>
      <p:sp>
        <p:nvSpPr>
          <p:cNvPr id="736" name="Google Shape;736;p59"/>
          <p:cNvSpPr/>
          <p:nvPr/>
        </p:nvSpPr>
        <p:spPr>
          <a:xfrm>
            <a:off x="536800" y="3184682"/>
            <a:ext cx="1552200" cy="6039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59"/>
          <p:cNvSpPr txBox="1"/>
          <p:nvPr/>
        </p:nvSpPr>
        <p:spPr>
          <a:xfrm>
            <a:off x="536800" y="3218228"/>
            <a:ext cx="1552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700" u="none" cap="none" strike="noStrike">
                <a:solidFill>
                  <a:srgbClr val="1565C0"/>
                </a:solidFill>
                <a:latin typeface="Golos Text"/>
                <a:ea typeface="Golos Text"/>
                <a:cs typeface="Golos Text"/>
                <a:sym typeface="Golos Text"/>
              </a:rPr>
              <a:t>12</a:t>
            </a:r>
            <a:endParaRPr sz="1300"/>
          </a:p>
        </p:txBody>
      </p:sp>
      <p:sp>
        <p:nvSpPr>
          <p:cNvPr id="738" name="Google Shape;738;p59"/>
          <p:cNvSpPr txBox="1"/>
          <p:nvPr/>
        </p:nvSpPr>
        <p:spPr>
          <a:xfrm>
            <a:off x="536800" y="3453153"/>
            <a:ext cx="15522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модулей</a:t>
            </a:r>
            <a:endParaRPr/>
          </a:p>
        </p:txBody>
      </p:sp>
      <p:sp>
        <p:nvSpPr>
          <p:cNvPr id="739" name="Google Shape;739;p59"/>
          <p:cNvSpPr txBox="1"/>
          <p:nvPr/>
        </p:nvSpPr>
        <p:spPr>
          <a:xfrm>
            <a:off x="536800" y="3637545"/>
            <a:ext cx="1552200" cy="1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ru-RU" sz="8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9 Rust + 3 Kotlin</a:t>
            </a:r>
            <a:endParaRPr/>
          </a:p>
        </p:txBody>
      </p:sp>
      <p:sp>
        <p:nvSpPr>
          <p:cNvPr id="740" name="Google Shape;740;p59"/>
          <p:cNvSpPr/>
          <p:nvPr/>
        </p:nvSpPr>
        <p:spPr>
          <a:xfrm>
            <a:off x="536800" y="3849887"/>
            <a:ext cx="1552200" cy="6039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59"/>
          <p:cNvSpPr txBox="1"/>
          <p:nvPr/>
        </p:nvSpPr>
        <p:spPr>
          <a:xfrm>
            <a:off x="536800" y="3883432"/>
            <a:ext cx="1552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7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11</a:t>
            </a:r>
            <a:endParaRPr sz="1300"/>
          </a:p>
        </p:txBody>
      </p:sp>
      <p:sp>
        <p:nvSpPr>
          <p:cNvPr id="742" name="Google Shape;742;p59"/>
          <p:cNvSpPr txBox="1"/>
          <p:nvPr/>
        </p:nvSpPr>
        <p:spPr>
          <a:xfrm>
            <a:off x="536800" y="4118355"/>
            <a:ext cx="15522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RocksDB CF</a:t>
            </a:r>
            <a:endParaRPr/>
          </a:p>
        </p:txBody>
      </p:sp>
      <p:sp>
        <p:nvSpPr>
          <p:cNvPr id="743" name="Google Shape;743;p59"/>
          <p:cNvSpPr txBox="1"/>
          <p:nvPr/>
        </p:nvSpPr>
        <p:spPr>
          <a:xfrm>
            <a:off x="536800" y="4302749"/>
            <a:ext cx="1552200" cy="1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ru-RU" sz="8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MVCC · locks · WAL</a:t>
            </a:r>
            <a:endParaRPr/>
          </a:p>
        </p:txBody>
      </p:sp>
      <p:sp>
        <p:nvSpPr>
          <p:cNvPr id="744" name="Google Shape;744;p59"/>
          <p:cNvSpPr txBox="1"/>
          <p:nvPr/>
        </p:nvSpPr>
        <p:spPr>
          <a:xfrm>
            <a:off x="6194900" y="2611650"/>
            <a:ext cx="23394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20000" spcFirstLastPara="1" rIns="2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Инструменты</a:t>
            </a:r>
            <a:endParaRPr/>
          </a:p>
        </p:txBody>
      </p:sp>
      <p:sp>
        <p:nvSpPr>
          <p:cNvPr id="745" name="Google Shape;745;p59"/>
          <p:cNvSpPr txBox="1"/>
          <p:nvPr/>
        </p:nvSpPr>
        <p:spPr>
          <a:xfrm>
            <a:off x="6176150" y="2992450"/>
            <a:ext cx="2376900" cy="14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20000" spcFirstLastPara="1" rIns="20000" wrap="square" tIns="10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•  </a:t>
            </a:r>
            <a:r>
              <a:rPr b="1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Rust:</a:t>
            </a: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 clippy · tarpaulin · criterion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•  </a:t>
            </a:r>
            <a:r>
              <a:rPr b="1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Kotlin:</a:t>
            </a: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 detekt · Kover · JUnit 5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•  </a:t>
            </a:r>
            <a:r>
              <a:rPr b="1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Сквозные:</a:t>
            </a: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 pytest + docker-compose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•  </a:t>
            </a:r>
            <a:r>
              <a:rPr b="1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Хаос-тесты:</a:t>
            </a: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 инъекция отказов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•  </a:t>
            </a:r>
            <a:r>
              <a:rPr b="1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Сборка:</a:t>
            </a: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 линтер</a:t>
            </a:r>
            <a:r>
              <a:rPr lang="ru-RU" sz="90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,</a:t>
            </a: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тесты</a:t>
            </a:r>
            <a:r>
              <a:rPr lang="ru-RU" sz="90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,</a:t>
            </a:r>
            <a:endParaRPr sz="900">
              <a:solidFill>
                <a:srgbClr val="343A4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457200" lvl="0" marL="0" marR="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90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     </a:t>
            </a: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бенчмарки (+ cargo</a:t>
            </a:r>
            <a:r>
              <a:rPr lang="ru-RU" sz="90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bench)</a:t>
            </a:r>
            <a:endParaRPr/>
          </a:p>
        </p:txBody>
      </p:sp>
      <p:sp>
        <p:nvSpPr>
          <p:cNvPr id="746" name="Google Shape;746;p59"/>
          <p:cNvSpPr txBox="1"/>
          <p:nvPr/>
        </p:nvSpPr>
        <p:spPr>
          <a:xfrm>
            <a:off x="2367400" y="2584275"/>
            <a:ext cx="41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20000" spcFirstLastPara="1" rIns="2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Гарантии и инварианты</a:t>
            </a:r>
            <a:endParaRPr/>
          </a:p>
        </p:txBody>
      </p:sp>
      <p:sp>
        <p:nvSpPr>
          <p:cNvPr id="747" name="Google Shape;747;p59"/>
          <p:cNvSpPr txBox="1"/>
          <p:nvPr/>
        </p:nvSpPr>
        <p:spPr>
          <a:xfrm>
            <a:off x="2367400" y="2874275"/>
            <a:ext cx="3699300" cy="16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20000" spcFirstLastPara="1" rIns="20000" wrap="square" tIns="10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•  </a:t>
            </a:r>
            <a:r>
              <a:rPr b="1" i="0" lang="ru-RU" sz="9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Типобезопасный инвариант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ru-RU" sz="8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    без обработчика блокировок чтение не скомпилируется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     </a:t>
            </a:r>
            <a:r>
              <a:rPr b="0" i="1" lang="ru-RU" sz="8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→ устранение «осиротевших» блокировок — гарантия компилятора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•  </a:t>
            </a:r>
            <a:r>
              <a:rPr b="1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Проверка SSI на предзаписи</a:t>
            </a: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— конфликт ловится до фиксации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•  </a:t>
            </a:r>
            <a:r>
              <a:rPr b="1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Ожидание фиксации над HLC</a:t>
            </a: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— внешняя согласованность без Google TrueTime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•  </a:t>
            </a:r>
            <a:r>
              <a:rPr b="1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Идемпотентный откат</a:t>
            </a: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— без распределённого CAS</a:t>
            </a:r>
            <a:endParaRPr/>
          </a:p>
        </p:txBody>
      </p:sp>
      <p:sp>
        <p:nvSpPr>
          <p:cNvPr id="748" name="Google Shape;748;p59"/>
          <p:cNvSpPr txBox="1"/>
          <p:nvPr/>
        </p:nvSpPr>
        <p:spPr>
          <a:xfrm>
            <a:off x="8659425" y="4650900"/>
            <a:ext cx="44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olos Text SemiBold"/>
              <a:buNone/>
            </a:pPr>
            <a:r>
              <a:rPr lang="ru-RU" sz="20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11</a:t>
            </a:r>
            <a:endParaRPr sz="2000">
              <a:solidFill>
                <a:schemeClr val="lt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749" name="Google Shape;749;p59"/>
          <p:cNvSpPr/>
          <p:nvPr/>
        </p:nvSpPr>
        <p:spPr>
          <a:xfrm>
            <a:off x="8017750" y="1135025"/>
            <a:ext cx="5862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6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Новизна работы</a:t>
            </a:r>
            <a:endParaRPr/>
          </a:p>
        </p:txBody>
      </p:sp>
      <p:sp>
        <p:nvSpPr>
          <p:cNvPr id="756" name="Google Shape;756;p60"/>
          <p:cNvSpPr txBox="1"/>
          <p:nvPr/>
        </p:nvSpPr>
        <p:spPr>
          <a:xfrm>
            <a:off x="8660000" y="4650900"/>
            <a:ext cx="46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60"/>
          <p:cNvSpPr txBox="1"/>
          <p:nvPr/>
        </p:nvSpPr>
        <p:spPr>
          <a:xfrm>
            <a:off x="460000" y="1170900"/>
            <a:ext cx="8199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20000" spcFirstLastPara="1" rIns="2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1.  </a:t>
            </a:r>
            <a:r>
              <a:rPr b="1" i="0" lang="ru-RU" sz="12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Алгоритмическая — гибридный детектор глобальных взаимных блокировок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60"/>
          <p:cNvSpPr/>
          <p:nvPr/>
        </p:nvSpPr>
        <p:spPr>
          <a:xfrm>
            <a:off x="540000" y="1510950"/>
            <a:ext cx="3600000" cy="920100"/>
          </a:xfrm>
          <a:prstGeom prst="roundRect">
            <a:avLst>
              <a:gd fmla="val 10000" name="adj"/>
            </a:avLst>
          </a:prstGeom>
          <a:solidFill>
            <a:srgbClr val="DCEAF7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60"/>
          <p:cNvSpPr txBox="1"/>
          <p:nvPr/>
        </p:nvSpPr>
        <p:spPr>
          <a:xfrm>
            <a:off x="570000" y="1550950"/>
            <a:ext cx="354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20000" spcFirstLastPara="1" rIns="2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200" u="none" cap="none" strike="noStrike">
                <a:solidFill>
                  <a:srgbClr val="1565C0"/>
                </a:solidFill>
                <a:latin typeface="Golos Text"/>
                <a:ea typeface="Golos Text"/>
                <a:cs typeface="Golos Text"/>
                <a:sym typeface="Golos Text"/>
              </a:rPr>
              <a:t>Зонд Чанди–Мизра–Хааса</a:t>
            </a:r>
            <a:r>
              <a:rPr b="0" i="1" lang="ru-RU" sz="1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   быстрый путь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60"/>
          <p:cNvSpPr txBox="1"/>
          <p:nvPr/>
        </p:nvSpPr>
        <p:spPr>
          <a:xfrm>
            <a:off x="570000" y="1810950"/>
            <a:ext cx="35400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20000" spcFirstLastPara="1" rIns="2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-RU" sz="1500" u="none" cap="none" strike="noStrike">
                <a:solidFill>
                  <a:srgbClr val="1565C0"/>
                </a:solidFill>
                <a:latin typeface="Golos Text"/>
                <a:ea typeface="Golos Text"/>
                <a:cs typeface="Golos Text"/>
                <a:sym typeface="Golos Text"/>
              </a:rPr>
              <a:t>≈ 5–50 мс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60"/>
          <p:cNvSpPr txBox="1"/>
          <p:nvPr/>
        </p:nvSpPr>
        <p:spPr>
          <a:xfrm>
            <a:off x="570000" y="2050950"/>
            <a:ext cx="3540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20000" spcFirstLastPara="1" rIns="20000" wrap="square" tIns="5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✓ </a:t>
            </a:r>
            <a:r>
              <a:rPr b="0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короткие циклы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✓ </a:t>
            </a:r>
            <a:r>
              <a:rPr b="0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напрямую между узлами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60"/>
          <p:cNvSpPr/>
          <p:nvPr/>
        </p:nvSpPr>
        <p:spPr>
          <a:xfrm>
            <a:off x="5004000" y="1510950"/>
            <a:ext cx="3600000" cy="920100"/>
          </a:xfrm>
          <a:prstGeom prst="roundRect">
            <a:avLst>
              <a:gd fmla="val 10000" name="adj"/>
            </a:avLst>
          </a:prstGeom>
          <a:solidFill>
            <a:srgbClr val="EDE3FB"/>
          </a:solidFill>
          <a:ln cap="flat" cmpd="sng" w="12700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60"/>
          <p:cNvSpPr txBox="1"/>
          <p:nvPr/>
        </p:nvSpPr>
        <p:spPr>
          <a:xfrm>
            <a:off x="5034000" y="1550950"/>
            <a:ext cx="354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20000" spcFirstLastPara="1" rIns="2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Алгоритм Тарьяна</a:t>
            </a:r>
            <a:r>
              <a:rPr b="0" i="1" lang="ru-RU" sz="1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   медленный путь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60"/>
          <p:cNvSpPr txBox="1"/>
          <p:nvPr/>
        </p:nvSpPr>
        <p:spPr>
          <a:xfrm>
            <a:off x="5034000" y="1810950"/>
            <a:ext cx="35400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20000" spcFirstLastPara="1" rIns="2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-RU" sz="15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≈ 400 мс – 1 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60"/>
          <p:cNvSpPr txBox="1"/>
          <p:nvPr/>
        </p:nvSpPr>
        <p:spPr>
          <a:xfrm>
            <a:off x="5034000" y="2050950"/>
            <a:ext cx="3540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20000" spcFirstLastPara="1" rIns="20000" wrap="square" tIns="5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✓ </a:t>
            </a:r>
            <a:r>
              <a:rPr b="0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длинные циклы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✓ </a:t>
            </a:r>
            <a:r>
              <a:rPr b="0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реплицированный граф ожиданий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6" name="Google Shape;766;p60"/>
          <p:cNvCxnSpPr/>
          <p:nvPr/>
        </p:nvCxnSpPr>
        <p:spPr>
          <a:xfrm>
            <a:off x="2340000" y="2430950"/>
            <a:ext cx="660000" cy="180000"/>
          </a:xfrm>
          <a:prstGeom prst="straightConnector1">
            <a:avLst/>
          </a:prstGeom>
          <a:noFill/>
          <a:ln cap="flat" cmpd="sng" w="15875">
            <a:solidFill>
              <a:srgbClr val="1565C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67" name="Google Shape;767;p60"/>
          <p:cNvCxnSpPr/>
          <p:nvPr/>
        </p:nvCxnSpPr>
        <p:spPr>
          <a:xfrm flipH="1">
            <a:off x="6144000" y="2430950"/>
            <a:ext cx="660000" cy="180000"/>
          </a:xfrm>
          <a:prstGeom prst="straightConnector1">
            <a:avLst/>
          </a:prstGeom>
          <a:noFill/>
          <a:ln cap="flat" cmpd="sng" w="15875">
            <a:solidFill>
              <a:srgbClr val="6435C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8" name="Google Shape;768;p60"/>
          <p:cNvSpPr/>
          <p:nvPr/>
        </p:nvSpPr>
        <p:spPr>
          <a:xfrm>
            <a:off x="2200000" y="2610950"/>
            <a:ext cx="4743900" cy="320100"/>
          </a:xfrm>
          <a:prstGeom prst="roundRect">
            <a:avLst>
              <a:gd fmla="val 20000" name="adj"/>
            </a:avLst>
          </a:prstGeom>
          <a:solidFill>
            <a:srgbClr val="2C0F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60"/>
          <p:cNvSpPr txBox="1"/>
          <p:nvPr/>
        </p:nvSpPr>
        <p:spPr>
          <a:xfrm>
            <a:off x="2240000" y="2610950"/>
            <a:ext cx="4664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-RU" sz="11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Селектор жертвы</a:t>
            </a:r>
            <a:r>
              <a:rPr b="0" i="0" lang="ru-RU" sz="950" u="none" cap="none" strike="noStrike">
                <a:solidFill>
                  <a:srgbClr val="E2D6F7"/>
                </a:solidFill>
                <a:latin typeface="Golos Text"/>
                <a:ea typeface="Golos Text"/>
                <a:cs typeface="Golos Text"/>
                <a:sym typeface="Golos Text"/>
              </a:rPr>
              <a:t>  ·  op_count × age  ·  </a:t>
            </a:r>
            <a:r>
              <a:rPr lang="ru-RU" sz="950">
                <a:solidFill>
                  <a:srgbClr val="E2D6F7"/>
                </a:solidFill>
                <a:latin typeface="Golos Text"/>
                <a:ea typeface="Golos Text"/>
                <a:cs typeface="Golos Text"/>
                <a:sym typeface="Golos Text"/>
              </a:rPr>
              <a:t>общий для control- и data-plane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0" name="Google Shape;770;p60"/>
          <p:cNvCxnSpPr/>
          <p:nvPr/>
        </p:nvCxnSpPr>
        <p:spPr>
          <a:xfrm>
            <a:off x="4572000" y="2990950"/>
            <a:ext cx="0" cy="99900"/>
          </a:xfrm>
          <a:prstGeom prst="straightConnector1">
            <a:avLst/>
          </a:prstGeom>
          <a:noFill/>
          <a:ln cap="flat" cmpd="sng" w="12700">
            <a:solidFill>
              <a:srgbClr val="1B735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71" name="Google Shape;771;p60"/>
          <p:cNvSpPr txBox="1"/>
          <p:nvPr/>
        </p:nvSpPr>
        <p:spPr>
          <a:xfrm>
            <a:off x="2200000" y="3100950"/>
            <a:ext cx="4743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ru-RU" sz="115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идемпотентный откат</a:t>
            </a:r>
            <a:r>
              <a:rPr b="0" i="1" lang="ru-RU" sz="10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 без распределённого 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60"/>
          <p:cNvSpPr txBox="1"/>
          <p:nvPr/>
        </p:nvSpPr>
        <p:spPr>
          <a:xfrm>
            <a:off x="460000" y="3420900"/>
            <a:ext cx="8199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20000" spcFirstLastPara="1" rIns="2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2.  </a:t>
            </a:r>
            <a:r>
              <a:rPr b="1" i="0" lang="ru-RU" sz="12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Архитектурная — сочетание свойств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60"/>
          <p:cNvSpPr/>
          <p:nvPr/>
        </p:nvSpPr>
        <p:spPr>
          <a:xfrm>
            <a:off x="452000" y="3760950"/>
            <a:ext cx="1971300" cy="459900"/>
          </a:xfrm>
          <a:prstGeom prst="roundRect">
            <a:avLst>
              <a:gd fmla="val 50000" name="adj"/>
            </a:avLst>
          </a:prstGeom>
          <a:solidFill>
            <a:srgbClr val="F2EBFD"/>
          </a:solidFill>
          <a:ln cap="flat" cmpd="sng" w="12700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60"/>
          <p:cNvSpPr txBox="1"/>
          <p:nvPr/>
        </p:nvSpPr>
        <p:spPr>
          <a:xfrm>
            <a:off x="482000" y="3760950"/>
            <a:ext cx="19113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ru-RU" sz="115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✓  </a:t>
            </a:r>
            <a:r>
              <a:rPr b="1" i="0" lang="ru-RU" sz="11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Распределённость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ru-RU" sz="9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Multi-Raft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60"/>
          <p:cNvSpPr/>
          <p:nvPr/>
        </p:nvSpPr>
        <p:spPr>
          <a:xfrm>
            <a:off x="2488250" y="3760950"/>
            <a:ext cx="1971300" cy="459900"/>
          </a:xfrm>
          <a:prstGeom prst="roundRect">
            <a:avLst>
              <a:gd fmla="val 50000" name="adj"/>
            </a:avLst>
          </a:prstGeom>
          <a:solidFill>
            <a:srgbClr val="F2EBFD"/>
          </a:solidFill>
          <a:ln cap="flat" cmpd="sng" w="12700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60"/>
          <p:cNvSpPr txBox="1"/>
          <p:nvPr/>
        </p:nvSpPr>
        <p:spPr>
          <a:xfrm>
            <a:off x="2518250" y="3760950"/>
            <a:ext cx="19113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ru-RU" sz="115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✓  </a:t>
            </a:r>
            <a:r>
              <a:rPr b="1" i="0" lang="ru-RU" sz="11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Графовая модель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ru-RU" sz="9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LPG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60"/>
          <p:cNvSpPr/>
          <p:nvPr/>
        </p:nvSpPr>
        <p:spPr>
          <a:xfrm>
            <a:off x="4524500" y="3760950"/>
            <a:ext cx="1971300" cy="459900"/>
          </a:xfrm>
          <a:prstGeom prst="roundRect">
            <a:avLst>
              <a:gd fmla="val 50000" name="adj"/>
            </a:avLst>
          </a:prstGeom>
          <a:solidFill>
            <a:srgbClr val="F2EBFD"/>
          </a:solidFill>
          <a:ln cap="flat" cmpd="sng" w="12700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60"/>
          <p:cNvSpPr txBox="1"/>
          <p:nvPr/>
        </p:nvSpPr>
        <p:spPr>
          <a:xfrm>
            <a:off x="4554500" y="3760950"/>
            <a:ext cx="19113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ru-RU" sz="115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✓  </a:t>
            </a:r>
            <a:r>
              <a:rPr b="1" lang="ru-RU" sz="115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Serializable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ru-RU" sz="9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SSI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60"/>
          <p:cNvSpPr/>
          <p:nvPr/>
        </p:nvSpPr>
        <p:spPr>
          <a:xfrm>
            <a:off x="6560750" y="3760950"/>
            <a:ext cx="1971300" cy="459900"/>
          </a:xfrm>
          <a:prstGeom prst="roundRect">
            <a:avLst>
              <a:gd fmla="val 50000" name="adj"/>
            </a:avLst>
          </a:prstGeom>
          <a:solidFill>
            <a:srgbClr val="F2EBFD"/>
          </a:solidFill>
          <a:ln cap="flat" cmpd="sng" w="12700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60"/>
          <p:cNvSpPr txBox="1"/>
          <p:nvPr/>
        </p:nvSpPr>
        <p:spPr>
          <a:xfrm>
            <a:off x="6590750" y="3760950"/>
            <a:ext cx="19113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ru-RU" sz="115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✓  </a:t>
            </a:r>
            <a:r>
              <a:rPr b="1" i="0" lang="ru-RU" sz="11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Внеш</a:t>
            </a:r>
            <a:r>
              <a:rPr b="1" lang="ru-RU" sz="115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няя</a:t>
            </a:r>
            <a:r>
              <a:rPr b="1" i="0" lang="ru-RU" sz="11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согл</a:t>
            </a:r>
            <a:r>
              <a:rPr b="1" i="0" lang="ru-RU" sz="11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1" lang="ru-RU" sz="90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HLC + CW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60"/>
          <p:cNvSpPr txBox="1"/>
          <p:nvPr/>
        </p:nvSpPr>
        <p:spPr>
          <a:xfrm>
            <a:off x="452000" y="4360950"/>
            <a:ext cx="82401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ru-RU" sz="1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Сочетание </a:t>
            </a:r>
            <a:r>
              <a:rPr i="1" lang="ru-RU" sz="100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этих</a:t>
            </a:r>
            <a:r>
              <a:rPr b="0" i="1" lang="ru-RU" sz="1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 свойств не покрыто рассмотренными существующими открытыми решениями </a:t>
            </a:r>
            <a:r>
              <a:rPr b="1" i="1" lang="ru-RU" sz="10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(см. слайд 4)</a:t>
            </a:r>
            <a:r>
              <a:rPr b="0" i="1" lang="ru-RU" sz="1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60"/>
          <p:cNvSpPr/>
          <p:nvPr/>
        </p:nvSpPr>
        <p:spPr>
          <a:xfrm>
            <a:off x="8017750" y="1135025"/>
            <a:ext cx="5862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61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Результаты экспериментов</a:t>
            </a:r>
            <a:endParaRPr/>
          </a:p>
        </p:txBody>
      </p:sp>
      <p:sp>
        <p:nvSpPr>
          <p:cNvPr id="789" name="Google Shape;789;p61"/>
          <p:cNvSpPr/>
          <p:nvPr/>
        </p:nvSpPr>
        <p:spPr>
          <a:xfrm>
            <a:off x="372475" y="1055000"/>
            <a:ext cx="4140000" cy="1800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61"/>
          <p:cNvSpPr txBox="1"/>
          <p:nvPr/>
        </p:nvSpPr>
        <p:spPr>
          <a:xfrm>
            <a:off x="380000" y="1010000"/>
            <a:ext cx="4140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Задержка обхода графа (BFS)</a:t>
            </a:r>
            <a:endParaRPr/>
          </a:p>
        </p:txBody>
      </p:sp>
      <p:sp>
        <p:nvSpPr>
          <p:cNvPr id="791" name="Google Shape;791;p61"/>
          <p:cNvSpPr txBox="1"/>
          <p:nvPr/>
        </p:nvSpPr>
        <p:spPr>
          <a:xfrm>
            <a:off x="380000" y="1200000"/>
            <a:ext cx="414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0000" spcFirstLastPara="1" rIns="20000" wrap="square" tIns="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rPr i="1" lang="ru-RU" sz="7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хэш-шардинг vs Leiden · степень вершины 16 · 3 шарда</a:t>
            </a:r>
            <a:endParaRPr i="1" sz="750">
              <a:solidFill>
                <a:srgbClr val="6C757D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792" name="Google Shape;792;p61"/>
          <p:cNvCxnSpPr/>
          <p:nvPr/>
        </p:nvCxnSpPr>
        <p:spPr>
          <a:xfrm>
            <a:off x="732475" y="2415000"/>
            <a:ext cx="3720000" cy="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3" name="Google Shape;793;p61"/>
          <p:cNvSpPr/>
          <p:nvPr/>
        </p:nvSpPr>
        <p:spPr>
          <a:xfrm>
            <a:off x="1302475" y="2339143"/>
            <a:ext cx="300000" cy="759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61"/>
          <p:cNvSpPr/>
          <p:nvPr/>
        </p:nvSpPr>
        <p:spPr>
          <a:xfrm>
            <a:off x="1722475" y="2373729"/>
            <a:ext cx="300000" cy="41400"/>
          </a:xfrm>
          <a:prstGeom prst="rect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61"/>
          <p:cNvSpPr txBox="1"/>
          <p:nvPr/>
        </p:nvSpPr>
        <p:spPr>
          <a:xfrm>
            <a:off x="1202475" y="2189143"/>
            <a:ext cx="5001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1.18 мс</a:t>
            </a:r>
            <a:endParaRPr/>
          </a:p>
        </p:txBody>
      </p:sp>
      <p:sp>
        <p:nvSpPr>
          <p:cNvPr id="796" name="Google Shape;796;p61"/>
          <p:cNvSpPr txBox="1"/>
          <p:nvPr/>
        </p:nvSpPr>
        <p:spPr>
          <a:xfrm>
            <a:off x="1622475" y="2223729"/>
            <a:ext cx="5001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ru-RU" sz="7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642 мкс</a:t>
            </a:r>
            <a:endParaRPr/>
          </a:p>
        </p:txBody>
      </p:sp>
      <p:sp>
        <p:nvSpPr>
          <p:cNvPr id="797" name="Google Shape;797;p61"/>
          <p:cNvSpPr txBox="1"/>
          <p:nvPr/>
        </p:nvSpPr>
        <p:spPr>
          <a:xfrm>
            <a:off x="732475" y="2435000"/>
            <a:ext cx="186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ru-RU" sz="7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глубина 2</a:t>
            </a:r>
            <a:endParaRPr/>
          </a:p>
        </p:txBody>
      </p:sp>
      <p:sp>
        <p:nvSpPr>
          <p:cNvPr id="798" name="Google Shape;798;p61"/>
          <p:cNvSpPr txBox="1"/>
          <p:nvPr/>
        </p:nvSpPr>
        <p:spPr>
          <a:xfrm>
            <a:off x="740000" y="1360000"/>
            <a:ext cx="18600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ru-RU" sz="95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−46 %</a:t>
            </a:r>
            <a:endParaRPr/>
          </a:p>
        </p:txBody>
      </p:sp>
      <p:sp>
        <p:nvSpPr>
          <p:cNvPr id="799" name="Google Shape;799;p61"/>
          <p:cNvSpPr/>
          <p:nvPr/>
        </p:nvSpPr>
        <p:spPr>
          <a:xfrm>
            <a:off x="3162475" y="1695000"/>
            <a:ext cx="300000" cy="7200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61"/>
          <p:cNvSpPr/>
          <p:nvPr/>
        </p:nvSpPr>
        <p:spPr>
          <a:xfrm>
            <a:off x="3582475" y="2067215"/>
            <a:ext cx="300000" cy="347700"/>
          </a:xfrm>
          <a:prstGeom prst="rect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61"/>
          <p:cNvSpPr txBox="1"/>
          <p:nvPr/>
        </p:nvSpPr>
        <p:spPr>
          <a:xfrm>
            <a:off x="3070000" y="1470000"/>
            <a:ext cx="5001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11.2 мс</a:t>
            </a:r>
            <a:endParaRPr/>
          </a:p>
        </p:txBody>
      </p:sp>
      <p:sp>
        <p:nvSpPr>
          <p:cNvPr id="802" name="Google Shape;802;p61"/>
          <p:cNvSpPr txBox="1"/>
          <p:nvPr/>
        </p:nvSpPr>
        <p:spPr>
          <a:xfrm>
            <a:off x="3482475" y="1917215"/>
            <a:ext cx="5001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ru-RU" sz="7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5.41 мс</a:t>
            </a:r>
            <a:endParaRPr/>
          </a:p>
        </p:txBody>
      </p:sp>
      <p:sp>
        <p:nvSpPr>
          <p:cNvPr id="803" name="Google Shape;803;p61"/>
          <p:cNvSpPr txBox="1"/>
          <p:nvPr/>
        </p:nvSpPr>
        <p:spPr>
          <a:xfrm>
            <a:off x="2592475" y="2435000"/>
            <a:ext cx="186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ru-RU" sz="7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глубина 3</a:t>
            </a:r>
            <a:endParaRPr/>
          </a:p>
        </p:txBody>
      </p:sp>
      <p:sp>
        <p:nvSpPr>
          <p:cNvPr id="804" name="Google Shape;804;p61"/>
          <p:cNvSpPr txBox="1"/>
          <p:nvPr/>
        </p:nvSpPr>
        <p:spPr>
          <a:xfrm>
            <a:off x="2600000" y="1360000"/>
            <a:ext cx="18600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ru-RU" sz="95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−52 %</a:t>
            </a:r>
            <a:endParaRPr/>
          </a:p>
        </p:txBody>
      </p:sp>
      <p:sp>
        <p:nvSpPr>
          <p:cNvPr id="805" name="Google Shape;805;p61"/>
          <p:cNvSpPr/>
          <p:nvPr/>
        </p:nvSpPr>
        <p:spPr>
          <a:xfrm>
            <a:off x="792475" y="2680000"/>
            <a:ext cx="80100" cy="801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61"/>
          <p:cNvSpPr txBox="1"/>
          <p:nvPr/>
        </p:nvSpPr>
        <p:spPr>
          <a:xfrm>
            <a:off x="882475" y="2655000"/>
            <a:ext cx="9000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хэш-шардинг</a:t>
            </a:r>
            <a:endParaRPr/>
          </a:p>
        </p:txBody>
      </p:sp>
      <p:sp>
        <p:nvSpPr>
          <p:cNvPr id="807" name="Google Shape;807;p61"/>
          <p:cNvSpPr/>
          <p:nvPr/>
        </p:nvSpPr>
        <p:spPr>
          <a:xfrm>
            <a:off x="2092475" y="2680000"/>
            <a:ext cx="80100" cy="80100"/>
          </a:xfrm>
          <a:prstGeom prst="rect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61"/>
          <p:cNvSpPr txBox="1"/>
          <p:nvPr/>
        </p:nvSpPr>
        <p:spPr>
          <a:xfrm>
            <a:off x="2182475" y="2655000"/>
            <a:ext cx="9000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Leiden</a:t>
            </a:r>
            <a:endParaRPr/>
          </a:p>
        </p:txBody>
      </p:sp>
      <p:sp>
        <p:nvSpPr>
          <p:cNvPr id="809" name="Google Shape;809;p61"/>
          <p:cNvSpPr/>
          <p:nvPr/>
        </p:nvSpPr>
        <p:spPr>
          <a:xfrm>
            <a:off x="4612475" y="1055000"/>
            <a:ext cx="4140000" cy="1800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61"/>
          <p:cNvSpPr txBox="1"/>
          <p:nvPr/>
        </p:nvSpPr>
        <p:spPr>
          <a:xfrm>
            <a:off x="4620000" y="1010000"/>
            <a:ext cx="4140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Задержка YCSB · перцентили p50 / p95 / p99</a:t>
            </a:r>
            <a:endParaRPr/>
          </a:p>
        </p:txBody>
      </p:sp>
      <p:sp>
        <p:nvSpPr>
          <p:cNvPr id="811" name="Google Shape;811;p61"/>
          <p:cNvSpPr txBox="1"/>
          <p:nvPr/>
        </p:nvSpPr>
        <p:spPr>
          <a:xfrm>
            <a:off x="4620000" y="1200000"/>
            <a:ext cx="414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0000" spcFirstLastPara="1" rIns="2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1" lang="ru-RU" sz="7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две нагрузки: смешанная 50 / 50 и только чтение</a:t>
            </a:r>
            <a:endParaRPr/>
          </a:p>
        </p:txBody>
      </p:sp>
      <p:cxnSp>
        <p:nvCxnSpPr>
          <p:cNvPr id="812" name="Google Shape;812;p61"/>
          <p:cNvCxnSpPr/>
          <p:nvPr/>
        </p:nvCxnSpPr>
        <p:spPr>
          <a:xfrm>
            <a:off x="4972475" y="2385000"/>
            <a:ext cx="3720000" cy="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3" name="Google Shape;813;p61"/>
          <p:cNvSpPr/>
          <p:nvPr/>
        </p:nvSpPr>
        <p:spPr>
          <a:xfrm>
            <a:off x="5527475" y="2180000"/>
            <a:ext cx="230100" cy="204900"/>
          </a:xfrm>
          <a:prstGeom prst="rect">
            <a:avLst/>
          </a:prstGeom>
          <a:solidFill>
            <a:srgbClr val="B69B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61"/>
          <p:cNvSpPr txBox="1"/>
          <p:nvPr/>
        </p:nvSpPr>
        <p:spPr>
          <a:xfrm>
            <a:off x="5467475" y="2050000"/>
            <a:ext cx="3501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10</a:t>
            </a:r>
            <a:endParaRPr/>
          </a:p>
        </p:txBody>
      </p:sp>
      <p:sp>
        <p:nvSpPr>
          <p:cNvPr id="815" name="Google Shape;815;p61"/>
          <p:cNvSpPr/>
          <p:nvPr/>
        </p:nvSpPr>
        <p:spPr>
          <a:xfrm>
            <a:off x="5787475" y="1968527"/>
            <a:ext cx="230100" cy="416400"/>
          </a:xfrm>
          <a:prstGeom prst="rect">
            <a:avLst/>
          </a:prstGeom>
          <a:solidFill>
            <a:srgbClr val="8855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61"/>
          <p:cNvSpPr txBox="1"/>
          <p:nvPr/>
        </p:nvSpPr>
        <p:spPr>
          <a:xfrm>
            <a:off x="5727475" y="1838527"/>
            <a:ext cx="3501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19</a:t>
            </a:r>
            <a:endParaRPr/>
          </a:p>
        </p:txBody>
      </p:sp>
      <p:sp>
        <p:nvSpPr>
          <p:cNvPr id="817" name="Google Shape;817;p61"/>
          <p:cNvSpPr/>
          <p:nvPr/>
        </p:nvSpPr>
        <p:spPr>
          <a:xfrm>
            <a:off x="6047475" y="1772158"/>
            <a:ext cx="230100" cy="612900"/>
          </a:xfrm>
          <a:prstGeom prst="rect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61"/>
          <p:cNvSpPr txBox="1"/>
          <p:nvPr/>
        </p:nvSpPr>
        <p:spPr>
          <a:xfrm>
            <a:off x="5995000" y="1567158"/>
            <a:ext cx="3501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28</a:t>
            </a:r>
            <a:endParaRPr/>
          </a:p>
        </p:txBody>
      </p:sp>
      <p:sp>
        <p:nvSpPr>
          <p:cNvPr id="819" name="Google Shape;819;p61"/>
          <p:cNvSpPr txBox="1"/>
          <p:nvPr/>
        </p:nvSpPr>
        <p:spPr>
          <a:xfrm>
            <a:off x="4972475" y="2405000"/>
            <a:ext cx="186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смесь 50/50</a:t>
            </a:r>
            <a:endParaRPr/>
          </a:p>
        </p:txBody>
      </p:sp>
      <p:sp>
        <p:nvSpPr>
          <p:cNvPr id="820" name="Google Shape;820;p61"/>
          <p:cNvSpPr txBox="1"/>
          <p:nvPr/>
        </p:nvSpPr>
        <p:spPr>
          <a:xfrm>
            <a:off x="4980000" y="1360000"/>
            <a:ext cx="18600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ru-RU" sz="8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752 запр./с</a:t>
            </a:r>
            <a:endParaRPr/>
          </a:p>
        </p:txBody>
      </p:sp>
      <p:sp>
        <p:nvSpPr>
          <p:cNvPr id="821" name="Google Shape;821;p61"/>
          <p:cNvSpPr/>
          <p:nvPr/>
        </p:nvSpPr>
        <p:spPr>
          <a:xfrm>
            <a:off x="7387475" y="2233948"/>
            <a:ext cx="230100" cy="151200"/>
          </a:xfrm>
          <a:prstGeom prst="rect">
            <a:avLst/>
          </a:prstGeom>
          <a:solidFill>
            <a:srgbClr val="B69B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61"/>
          <p:cNvSpPr txBox="1"/>
          <p:nvPr/>
        </p:nvSpPr>
        <p:spPr>
          <a:xfrm>
            <a:off x="7327475" y="2103948"/>
            <a:ext cx="3501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7</a:t>
            </a:r>
            <a:endParaRPr/>
          </a:p>
        </p:txBody>
      </p:sp>
      <p:sp>
        <p:nvSpPr>
          <p:cNvPr id="823" name="Google Shape;823;p61"/>
          <p:cNvSpPr/>
          <p:nvPr/>
        </p:nvSpPr>
        <p:spPr>
          <a:xfrm>
            <a:off x="7647475" y="2072106"/>
            <a:ext cx="230100" cy="312900"/>
          </a:xfrm>
          <a:prstGeom prst="rect">
            <a:avLst/>
          </a:prstGeom>
          <a:solidFill>
            <a:srgbClr val="8855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61"/>
          <p:cNvSpPr txBox="1"/>
          <p:nvPr/>
        </p:nvSpPr>
        <p:spPr>
          <a:xfrm>
            <a:off x="7587475" y="1942106"/>
            <a:ext cx="3501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14</a:t>
            </a:r>
            <a:endParaRPr/>
          </a:p>
        </p:txBody>
      </p:sp>
      <p:sp>
        <p:nvSpPr>
          <p:cNvPr id="825" name="Google Shape;825;p61"/>
          <p:cNvSpPr/>
          <p:nvPr/>
        </p:nvSpPr>
        <p:spPr>
          <a:xfrm>
            <a:off x="7907475" y="1925369"/>
            <a:ext cx="230100" cy="459600"/>
          </a:xfrm>
          <a:prstGeom prst="rect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61"/>
          <p:cNvSpPr txBox="1"/>
          <p:nvPr/>
        </p:nvSpPr>
        <p:spPr>
          <a:xfrm>
            <a:off x="7847475" y="1795369"/>
            <a:ext cx="3501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21</a:t>
            </a:r>
            <a:endParaRPr/>
          </a:p>
        </p:txBody>
      </p:sp>
      <p:sp>
        <p:nvSpPr>
          <p:cNvPr id="827" name="Google Shape;827;p61"/>
          <p:cNvSpPr txBox="1"/>
          <p:nvPr/>
        </p:nvSpPr>
        <p:spPr>
          <a:xfrm>
            <a:off x="6832475" y="2405000"/>
            <a:ext cx="186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только чтение</a:t>
            </a:r>
            <a:endParaRPr/>
          </a:p>
        </p:txBody>
      </p:sp>
      <p:sp>
        <p:nvSpPr>
          <p:cNvPr id="828" name="Google Shape;828;p61"/>
          <p:cNvSpPr txBox="1"/>
          <p:nvPr/>
        </p:nvSpPr>
        <p:spPr>
          <a:xfrm>
            <a:off x="6840000" y="1360000"/>
            <a:ext cx="18600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ru-RU" sz="8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1010 запр./с</a:t>
            </a:r>
            <a:endParaRPr/>
          </a:p>
        </p:txBody>
      </p:sp>
      <p:sp>
        <p:nvSpPr>
          <p:cNvPr id="829" name="Google Shape;829;p61"/>
          <p:cNvSpPr txBox="1"/>
          <p:nvPr/>
        </p:nvSpPr>
        <p:spPr>
          <a:xfrm>
            <a:off x="4642475" y="1855000"/>
            <a:ext cx="320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ru-RU" sz="7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мс</a:t>
            </a:r>
            <a:endParaRPr/>
          </a:p>
        </p:txBody>
      </p:sp>
      <p:sp>
        <p:nvSpPr>
          <p:cNvPr id="830" name="Google Shape;830;p61"/>
          <p:cNvSpPr/>
          <p:nvPr/>
        </p:nvSpPr>
        <p:spPr>
          <a:xfrm>
            <a:off x="5212475" y="2680000"/>
            <a:ext cx="80100" cy="80100"/>
          </a:xfrm>
          <a:prstGeom prst="rect">
            <a:avLst/>
          </a:prstGeom>
          <a:solidFill>
            <a:srgbClr val="B69B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61"/>
          <p:cNvSpPr txBox="1"/>
          <p:nvPr/>
        </p:nvSpPr>
        <p:spPr>
          <a:xfrm>
            <a:off x="5302475" y="2655000"/>
            <a:ext cx="3000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p50</a:t>
            </a:r>
            <a:endParaRPr/>
          </a:p>
        </p:txBody>
      </p:sp>
      <p:sp>
        <p:nvSpPr>
          <p:cNvPr id="832" name="Google Shape;832;p61"/>
          <p:cNvSpPr/>
          <p:nvPr/>
        </p:nvSpPr>
        <p:spPr>
          <a:xfrm>
            <a:off x="6312475" y="2680000"/>
            <a:ext cx="80100" cy="80100"/>
          </a:xfrm>
          <a:prstGeom prst="rect">
            <a:avLst/>
          </a:prstGeom>
          <a:solidFill>
            <a:srgbClr val="8855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61"/>
          <p:cNvSpPr txBox="1"/>
          <p:nvPr/>
        </p:nvSpPr>
        <p:spPr>
          <a:xfrm>
            <a:off x="6402475" y="2655000"/>
            <a:ext cx="3000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p95</a:t>
            </a:r>
            <a:endParaRPr/>
          </a:p>
        </p:txBody>
      </p:sp>
      <p:sp>
        <p:nvSpPr>
          <p:cNvPr id="834" name="Google Shape;834;p61"/>
          <p:cNvSpPr/>
          <p:nvPr/>
        </p:nvSpPr>
        <p:spPr>
          <a:xfrm>
            <a:off x="7412475" y="2680000"/>
            <a:ext cx="80100" cy="80100"/>
          </a:xfrm>
          <a:prstGeom prst="rect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61"/>
          <p:cNvSpPr txBox="1"/>
          <p:nvPr/>
        </p:nvSpPr>
        <p:spPr>
          <a:xfrm>
            <a:off x="7502475" y="2655000"/>
            <a:ext cx="3000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p99</a:t>
            </a:r>
            <a:endParaRPr/>
          </a:p>
        </p:txBody>
      </p:sp>
      <p:sp>
        <p:nvSpPr>
          <p:cNvPr id="836" name="Google Shape;836;p61"/>
          <p:cNvSpPr/>
          <p:nvPr/>
        </p:nvSpPr>
        <p:spPr>
          <a:xfrm>
            <a:off x="372475" y="2955000"/>
            <a:ext cx="4140000" cy="1800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61"/>
          <p:cNvSpPr txBox="1"/>
          <p:nvPr/>
        </p:nvSpPr>
        <p:spPr>
          <a:xfrm>
            <a:off x="372475" y="2985000"/>
            <a:ext cx="4140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Массовая загрузка (импорт SST)</a:t>
            </a:r>
            <a:endParaRPr/>
          </a:p>
        </p:txBody>
      </p:sp>
      <p:sp>
        <p:nvSpPr>
          <p:cNvPr id="838" name="Google Shape;838;p61"/>
          <p:cNvSpPr txBox="1"/>
          <p:nvPr/>
        </p:nvSpPr>
        <p:spPr>
          <a:xfrm>
            <a:off x="372475" y="3175000"/>
            <a:ext cx="414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0000" spcFirstLastPara="1" rIns="2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1" lang="ru-RU" sz="7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пропускная способность, млн записей/с</a:t>
            </a:r>
            <a:endParaRPr/>
          </a:p>
        </p:txBody>
      </p:sp>
      <p:sp>
        <p:nvSpPr>
          <p:cNvPr id="839" name="Google Shape;839;p61"/>
          <p:cNvSpPr txBox="1"/>
          <p:nvPr/>
        </p:nvSpPr>
        <p:spPr>
          <a:xfrm>
            <a:off x="412475" y="3415000"/>
            <a:ext cx="639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ru-RU" sz="8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Вершины</a:t>
            </a:r>
            <a:endParaRPr/>
          </a:p>
        </p:txBody>
      </p:sp>
      <p:sp>
        <p:nvSpPr>
          <p:cNvPr id="840" name="Google Shape;840;p61"/>
          <p:cNvSpPr/>
          <p:nvPr/>
        </p:nvSpPr>
        <p:spPr>
          <a:xfrm>
            <a:off x="1072475" y="3415000"/>
            <a:ext cx="2730600" cy="249900"/>
          </a:xfrm>
          <a:prstGeom prst="roundRect">
            <a:avLst>
              <a:gd fmla="val 10000" name="adj"/>
            </a:avLst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61"/>
          <p:cNvSpPr txBox="1"/>
          <p:nvPr/>
        </p:nvSpPr>
        <p:spPr>
          <a:xfrm>
            <a:off x="3823141" y="3415000"/>
            <a:ext cx="900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2.56 млн/с</a:t>
            </a:r>
            <a:endParaRPr/>
          </a:p>
        </p:txBody>
      </p:sp>
      <p:sp>
        <p:nvSpPr>
          <p:cNvPr id="842" name="Google Shape;842;p61"/>
          <p:cNvSpPr txBox="1"/>
          <p:nvPr/>
        </p:nvSpPr>
        <p:spPr>
          <a:xfrm>
            <a:off x="412475" y="3865000"/>
            <a:ext cx="639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ru-RU" sz="8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Рёбра</a:t>
            </a:r>
            <a:endParaRPr/>
          </a:p>
        </p:txBody>
      </p:sp>
      <p:sp>
        <p:nvSpPr>
          <p:cNvPr id="843" name="Google Shape;843;p61"/>
          <p:cNvSpPr/>
          <p:nvPr/>
        </p:nvSpPr>
        <p:spPr>
          <a:xfrm>
            <a:off x="1072475" y="3865000"/>
            <a:ext cx="1856100" cy="249900"/>
          </a:xfrm>
          <a:prstGeom prst="roundRect">
            <a:avLst>
              <a:gd fmla="val 10000" name="adj"/>
            </a:avLst>
          </a:prstGeom>
          <a:solidFill>
            <a:srgbClr val="AF7C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61"/>
          <p:cNvSpPr txBox="1"/>
          <p:nvPr/>
        </p:nvSpPr>
        <p:spPr>
          <a:xfrm>
            <a:off x="2948475" y="3865000"/>
            <a:ext cx="900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1.74 млн/с</a:t>
            </a:r>
            <a:endParaRPr/>
          </a:p>
        </p:txBody>
      </p:sp>
      <p:cxnSp>
        <p:nvCxnSpPr>
          <p:cNvPr id="845" name="Google Shape;845;p61"/>
          <p:cNvCxnSpPr/>
          <p:nvPr/>
        </p:nvCxnSpPr>
        <p:spPr>
          <a:xfrm>
            <a:off x="1072475" y="4145000"/>
            <a:ext cx="3200100" cy="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6" name="Google Shape;846;p61"/>
          <p:cNvSpPr txBox="1"/>
          <p:nvPr/>
        </p:nvSpPr>
        <p:spPr>
          <a:xfrm>
            <a:off x="952475" y="4165000"/>
            <a:ext cx="2400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0</a:t>
            </a:r>
            <a:endParaRPr/>
          </a:p>
        </p:txBody>
      </p:sp>
      <p:sp>
        <p:nvSpPr>
          <p:cNvPr id="847" name="Google Shape;847;p61"/>
          <p:cNvSpPr txBox="1"/>
          <p:nvPr/>
        </p:nvSpPr>
        <p:spPr>
          <a:xfrm>
            <a:off x="2019141" y="4165000"/>
            <a:ext cx="2400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/>
          </a:p>
        </p:txBody>
      </p:sp>
      <p:sp>
        <p:nvSpPr>
          <p:cNvPr id="848" name="Google Shape;848;p61"/>
          <p:cNvSpPr txBox="1"/>
          <p:nvPr/>
        </p:nvSpPr>
        <p:spPr>
          <a:xfrm>
            <a:off x="3085808" y="4165000"/>
            <a:ext cx="2400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2</a:t>
            </a:r>
            <a:endParaRPr/>
          </a:p>
        </p:txBody>
      </p:sp>
      <p:sp>
        <p:nvSpPr>
          <p:cNvPr id="849" name="Google Shape;849;p61"/>
          <p:cNvSpPr txBox="1"/>
          <p:nvPr/>
        </p:nvSpPr>
        <p:spPr>
          <a:xfrm>
            <a:off x="4152475" y="4165000"/>
            <a:ext cx="2400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3</a:t>
            </a:r>
            <a:endParaRPr/>
          </a:p>
        </p:txBody>
      </p:sp>
      <p:sp>
        <p:nvSpPr>
          <p:cNvPr id="850" name="Google Shape;850;p61"/>
          <p:cNvSpPr/>
          <p:nvPr/>
        </p:nvSpPr>
        <p:spPr>
          <a:xfrm>
            <a:off x="4612475" y="2955000"/>
            <a:ext cx="4140000" cy="1800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61"/>
          <p:cNvSpPr txBox="1"/>
          <p:nvPr/>
        </p:nvSpPr>
        <p:spPr>
          <a:xfrm>
            <a:off x="4612475" y="2985000"/>
            <a:ext cx="4140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Отказоустойчивость · 4 сценария отказов</a:t>
            </a:r>
            <a:endParaRPr/>
          </a:p>
        </p:txBody>
      </p:sp>
      <p:sp>
        <p:nvSpPr>
          <p:cNvPr id="852" name="Google Shape;852;p61"/>
          <p:cNvSpPr txBox="1"/>
          <p:nvPr/>
        </p:nvSpPr>
        <p:spPr>
          <a:xfrm>
            <a:off x="4612475" y="3175000"/>
            <a:ext cx="414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0000" spcFirstLastPara="1" rIns="2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1" lang="ru-RU" sz="7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время восстановления, секунды</a:t>
            </a:r>
            <a:endParaRPr/>
          </a:p>
        </p:txBody>
      </p:sp>
      <p:cxnSp>
        <p:nvCxnSpPr>
          <p:cNvPr id="853" name="Google Shape;853;p61"/>
          <p:cNvCxnSpPr/>
          <p:nvPr/>
        </p:nvCxnSpPr>
        <p:spPr>
          <a:xfrm>
            <a:off x="4852475" y="4395000"/>
            <a:ext cx="3860100" cy="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4" name="Google Shape;854;p61"/>
          <p:cNvSpPr/>
          <p:nvPr/>
        </p:nvSpPr>
        <p:spPr>
          <a:xfrm>
            <a:off x="5288475" y="4068334"/>
            <a:ext cx="420000" cy="326700"/>
          </a:xfrm>
          <a:prstGeom prst="rect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61"/>
          <p:cNvSpPr txBox="1"/>
          <p:nvPr/>
        </p:nvSpPr>
        <p:spPr>
          <a:xfrm>
            <a:off x="5188475" y="3938334"/>
            <a:ext cx="6201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ru-RU" sz="8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&lt; 2 с</a:t>
            </a:r>
            <a:endParaRPr/>
          </a:p>
        </p:txBody>
      </p:sp>
      <p:sp>
        <p:nvSpPr>
          <p:cNvPr id="856" name="Google Shape;856;p61"/>
          <p:cNvSpPr txBox="1"/>
          <p:nvPr/>
        </p:nvSpPr>
        <p:spPr>
          <a:xfrm>
            <a:off x="5138475" y="4410000"/>
            <a:ext cx="72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отказ узла</a:t>
            </a:r>
            <a:endParaRPr/>
          </a:p>
        </p:txBody>
      </p:sp>
      <p:sp>
        <p:nvSpPr>
          <p:cNvPr id="857" name="Google Shape;857;p61"/>
          <p:cNvSpPr/>
          <p:nvPr/>
        </p:nvSpPr>
        <p:spPr>
          <a:xfrm>
            <a:off x="6144475" y="3578334"/>
            <a:ext cx="420000" cy="816600"/>
          </a:xfrm>
          <a:prstGeom prst="rect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61"/>
          <p:cNvSpPr txBox="1"/>
          <p:nvPr/>
        </p:nvSpPr>
        <p:spPr>
          <a:xfrm>
            <a:off x="6044475" y="3448334"/>
            <a:ext cx="6201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ru-RU" sz="8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&lt; 5 с</a:t>
            </a:r>
            <a:endParaRPr/>
          </a:p>
        </p:txBody>
      </p:sp>
      <p:sp>
        <p:nvSpPr>
          <p:cNvPr id="859" name="Google Shape;859;p61"/>
          <p:cNvSpPr txBox="1"/>
          <p:nvPr/>
        </p:nvSpPr>
        <p:spPr>
          <a:xfrm>
            <a:off x="5994475" y="4410000"/>
            <a:ext cx="72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отказ оркестр</a:t>
            </a:r>
            <a:r>
              <a:rPr lang="ru-RU" sz="70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атора</a:t>
            </a:r>
            <a:endParaRPr/>
          </a:p>
        </p:txBody>
      </p:sp>
      <p:sp>
        <p:nvSpPr>
          <p:cNvPr id="860" name="Google Shape;860;p61"/>
          <p:cNvSpPr/>
          <p:nvPr/>
        </p:nvSpPr>
        <p:spPr>
          <a:xfrm>
            <a:off x="7000475" y="4387000"/>
            <a:ext cx="420000" cy="8100"/>
          </a:xfrm>
          <a:prstGeom prst="rect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61"/>
          <p:cNvSpPr txBox="1"/>
          <p:nvPr/>
        </p:nvSpPr>
        <p:spPr>
          <a:xfrm>
            <a:off x="6900475" y="4257000"/>
            <a:ext cx="6201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ru-RU" sz="8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0 с</a:t>
            </a:r>
            <a:endParaRPr/>
          </a:p>
        </p:txBody>
      </p:sp>
      <p:sp>
        <p:nvSpPr>
          <p:cNvPr id="862" name="Google Shape;862;p61"/>
          <p:cNvSpPr txBox="1"/>
          <p:nvPr/>
        </p:nvSpPr>
        <p:spPr>
          <a:xfrm>
            <a:off x="6850475" y="4410000"/>
            <a:ext cx="72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отказ узла метастора</a:t>
            </a:r>
            <a:endParaRPr/>
          </a:p>
        </p:txBody>
      </p:sp>
      <p:sp>
        <p:nvSpPr>
          <p:cNvPr id="863" name="Google Shape;863;p61"/>
          <p:cNvSpPr/>
          <p:nvPr/>
        </p:nvSpPr>
        <p:spPr>
          <a:xfrm>
            <a:off x="7856475" y="4068334"/>
            <a:ext cx="420000" cy="326700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61"/>
          <p:cNvSpPr txBox="1"/>
          <p:nvPr/>
        </p:nvSpPr>
        <p:spPr>
          <a:xfrm>
            <a:off x="7756475" y="3938334"/>
            <a:ext cx="6201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ru-RU" sz="8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&lt; 2 с</a:t>
            </a:r>
            <a:endParaRPr/>
          </a:p>
        </p:txBody>
      </p:sp>
      <p:sp>
        <p:nvSpPr>
          <p:cNvPr id="865" name="Google Shape;865;p61"/>
          <p:cNvSpPr txBox="1"/>
          <p:nvPr/>
        </p:nvSpPr>
        <p:spPr>
          <a:xfrm>
            <a:off x="7706475" y="4410000"/>
            <a:ext cx="72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сетевой раскол</a:t>
            </a:r>
            <a:endParaRPr/>
          </a:p>
        </p:txBody>
      </p:sp>
      <p:sp>
        <p:nvSpPr>
          <p:cNvPr id="866" name="Google Shape;866;p61"/>
          <p:cNvSpPr txBox="1"/>
          <p:nvPr/>
        </p:nvSpPr>
        <p:spPr>
          <a:xfrm>
            <a:off x="8660000" y="4650900"/>
            <a:ext cx="46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62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olos Text SemiBold"/>
              <a:buNone/>
            </a:pPr>
            <a:r>
              <a:rPr lang="ru-RU"/>
              <a:t>Результаты работы</a:t>
            </a:r>
            <a:endParaRPr/>
          </a:p>
        </p:txBody>
      </p:sp>
      <p:sp>
        <p:nvSpPr>
          <p:cNvPr id="873" name="Google Shape;873;p62"/>
          <p:cNvSpPr txBox="1"/>
          <p:nvPr/>
        </p:nvSpPr>
        <p:spPr>
          <a:xfrm>
            <a:off x="4880800" y="3333400"/>
            <a:ext cx="3720300" cy="11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400" u="none" cap="none" strike="noStrike">
                <a:solidFill>
                  <a:srgbClr val="2C7A5B"/>
                </a:solidFill>
                <a:latin typeface="Golos Text"/>
                <a:ea typeface="Golos Text"/>
                <a:cs typeface="Golos Text"/>
                <a:sym typeface="Golos Text"/>
              </a:rPr>
              <a:t>Цель достигнута:</a:t>
            </a:r>
            <a:r>
              <a:rPr i="0" lang="ru-RU" sz="1400" u="none" cap="none" strike="noStrike">
                <a:solidFill>
                  <a:srgbClr val="2C7A5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 возможност</a:t>
            </a:r>
            <a:r>
              <a:rPr lang="ru-RU">
                <a:solidFill>
                  <a:srgbClr val="2C7A5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ь</a:t>
            </a:r>
            <a:r>
              <a:rPr i="0" lang="ru-RU" sz="1400" u="none" cap="none" strike="noStrike">
                <a:solidFill>
                  <a:srgbClr val="2C7A5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 горизонтального масштабирования хранения данных семантической сети обе</a:t>
            </a:r>
            <a:r>
              <a:rPr lang="ru-RU">
                <a:solidFill>
                  <a:srgbClr val="2C7A5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спечена, </a:t>
            </a:r>
            <a:r>
              <a:rPr i="0" lang="ru-RU" sz="1400" u="none" cap="none" strike="noStrike">
                <a:solidFill>
                  <a:srgbClr val="2C7A5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прототип </a:t>
            </a:r>
            <a:r>
              <a:rPr lang="ru-RU">
                <a:solidFill>
                  <a:srgbClr val="2C7A5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развернут</a:t>
            </a:r>
            <a:r>
              <a:rPr i="0" lang="ru-RU" sz="1400" u="none" cap="none" strike="noStrike">
                <a:solidFill>
                  <a:srgbClr val="2C7A5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 и протестирован.</a:t>
            </a:r>
            <a:endParaRPr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874" name="Google Shape;874;p62"/>
          <p:cNvSpPr txBox="1"/>
          <p:nvPr/>
        </p:nvSpPr>
        <p:spPr>
          <a:xfrm>
            <a:off x="8612950" y="4650900"/>
            <a:ext cx="51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14</a:t>
            </a:r>
            <a:endParaRPr/>
          </a:p>
        </p:txBody>
      </p:sp>
      <p:sp>
        <p:nvSpPr>
          <p:cNvPr id="875" name="Google Shape;875;p62"/>
          <p:cNvSpPr/>
          <p:nvPr/>
        </p:nvSpPr>
        <p:spPr>
          <a:xfrm>
            <a:off x="569700" y="1332434"/>
            <a:ext cx="102300" cy="939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4150" lIns="88350" spcFirstLastPara="1" rIns="88350" wrap="square" tIns="44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1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876" name="Google Shape;876;p62"/>
          <p:cNvSpPr txBox="1"/>
          <p:nvPr/>
        </p:nvSpPr>
        <p:spPr>
          <a:xfrm>
            <a:off x="708975" y="1263550"/>
            <a:ext cx="39927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675" spcFirstLastPara="1" rIns="9675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i="0" lang="ru-RU" sz="11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Проанализированы существующие распределённые хранилища RDF- и LPG-данных; выявлены архитектурные ограничения и непокрытая ниша.</a:t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877" name="Google Shape;877;p62"/>
          <p:cNvSpPr/>
          <p:nvPr/>
        </p:nvSpPr>
        <p:spPr>
          <a:xfrm>
            <a:off x="569700" y="1948932"/>
            <a:ext cx="102300" cy="939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4150" lIns="88350" spcFirstLastPara="1" rIns="88350" wrap="square" tIns="44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1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878" name="Google Shape;878;p62"/>
          <p:cNvSpPr txBox="1"/>
          <p:nvPr/>
        </p:nvSpPr>
        <p:spPr>
          <a:xfrm>
            <a:off x="708975" y="1930749"/>
            <a:ext cx="39927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675" spcFirstLastPara="1" rIns="9675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i="0" lang="ru-RU" sz="11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Сформулированы требования к распределённому графовому хранилищу и обоснован выбор архитектурных решений.</a:t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879" name="Google Shape;879;p62"/>
          <p:cNvSpPr/>
          <p:nvPr/>
        </p:nvSpPr>
        <p:spPr>
          <a:xfrm>
            <a:off x="569700" y="2640654"/>
            <a:ext cx="102300" cy="939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4150" lIns="88350" spcFirstLastPara="1" rIns="88350" wrap="square" tIns="44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1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880" name="Google Shape;880;p62"/>
          <p:cNvSpPr txBox="1"/>
          <p:nvPr/>
        </p:nvSpPr>
        <p:spPr>
          <a:xfrm>
            <a:off x="708987" y="2597947"/>
            <a:ext cx="39927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675" spcFirstLastPara="1" rIns="9675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i="0" lang="ru-RU" sz="11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Спроектирована трёхуровневая архитектура кластера: GraphQL-шлюз, узлы хранения и оркестратор.</a:t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881" name="Google Shape;881;p62"/>
          <p:cNvSpPr/>
          <p:nvPr/>
        </p:nvSpPr>
        <p:spPr>
          <a:xfrm>
            <a:off x="569700" y="3139310"/>
            <a:ext cx="102300" cy="939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4150" lIns="88350" spcFirstLastPara="1" rIns="88350" wrap="square" tIns="44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1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882" name="Google Shape;882;p62"/>
          <p:cNvSpPr txBox="1"/>
          <p:nvPr/>
        </p:nvSpPr>
        <p:spPr>
          <a:xfrm>
            <a:off x="709000" y="3105158"/>
            <a:ext cx="39927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675" spcFirstLastPara="1" rIns="9675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i="0" lang="ru-RU" sz="11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Реализован прототип</a:t>
            </a:r>
            <a:r>
              <a:rPr lang="ru-RU" sz="110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, на котором экспериментально подтверждена жизнеспособность предложенной архитектуры.</a:t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883" name="Google Shape;883;p62"/>
          <p:cNvSpPr/>
          <p:nvPr/>
        </p:nvSpPr>
        <p:spPr>
          <a:xfrm>
            <a:off x="569700" y="3855751"/>
            <a:ext cx="102300" cy="939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4150" lIns="88350" spcFirstLastPara="1" rIns="88350" wrap="square" tIns="44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1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884" name="Google Shape;884;p62"/>
          <p:cNvSpPr txBox="1"/>
          <p:nvPr/>
        </p:nvSpPr>
        <p:spPr>
          <a:xfrm>
            <a:off x="708975" y="3795947"/>
            <a:ext cx="39927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675" spcFirstLastPara="1" rIns="9675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i="0" lang="ru-RU" sz="11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Проведено нагрузочное и отказоустойчивое тестирование; получено снижение задержки обхода графа на 46–52 % относительно хэш-шардинга.</a:t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885" name="Google Shape;885;p62"/>
          <p:cNvSpPr/>
          <p:nvPr/>
        </p:nvSpPr>
        <p:spPr>
          <a:xfrm>
            <a:off x="4880800" y="1464500"/>
            <a:ext cx="3849900" cy="230100"/>
          </a:xfrm>
          <a:prstGeom prst="roundRect">
            <a:avLst>
              <a:gd fmla="val 15000" name="adj"/>
            </a:avLst>
          </a:prstGeom>
          <a:solidFill>
            <a:srgbClr val="FAF7FF"/>
          </a:solidFill>
          <a:ln cap="flat" cmpd="sng" w="95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62"/>
          <p:cNvSpPr/>
          <p:nvPr/>
        </p:nvSpPr>
        <p:spPr>
          <a:xfrm>
            <a:off x="4910800" y="1504500"/>
            <a:ext cx="150000" cy="1500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62"/>
          <p:cNvSpPr txBox="1"/>
          <p:nvPr/>
        </p:nvSpPr>
        <p:spPr>
          <a:xfrm>
            <a:off x="4910800" y="1504500"/>
            <a:ext cx="15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✓</a:t>
            </a:r>
            <a:endParaRPr/>
          </a:p>
        </p:txBody>
      </p:sp>
      <p:sp>
        <p:nvSpPr>
          <p:cNvPr id="888" name="Google Shape;888;p62"/>
          <p:cNvSpPr txBox="1"/>
          <p:nvPr/>
        </p:nvSpPr>
        <p:spPr>
          <a:xfrm>
            <a:off x="5090800" y="1464500"/>
            <a:ext cx="2850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1.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Анализ подходов</a:t>
            </a:r>
            <a:endParaRPr/>
          </a:p>
        </p:txBody>
      </p:sp>
      <p:sp>
        <p:nvSpPr>
          <p:cNvPr id="889" name="Google Shape;889;p62"/>
          <p:cNvSpPr/>
          <p:nvPr/>
        </p:nvSpPr>
        <p:spPr>
          <a:xfrm>
            <a:off x="8000800" y="1499500"/>
            <a:ext cx="699900" cy="159900"/>
          </a:xfrm>
          <a:prstGeom prst="roundRect">
            <a:avLst>
              <a:gd fmla="val 50000" name="adj"/>
            </a:avLst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62"/>
          <p:cNvSpPr txBox="1"/>
          <p:nvPr/>
        </p:nvSpPr>
        <p:spPr>
          <a:xfrm>
            <a:off x="8000800" y="1499500"/>
            <a:ext cx="69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5000" spcFirstLastPara="1" rIns="5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ru-RU" sz="75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сл. 4</a:t>
            </a:r>
            <a:endParaRPr/>
          </a:p>
        </p:txBody>
      </p:sp>
      <p:sp>
        <p:nvSpPr>
          <p:cNvPr id="891" name="Google Shape;891;p62"/>
          <p:cNvSpPr/>
          <p:nvPr/>
        </p:nvSpPr>
        <p:spPr>
          <a:xfrm>
            <a:off x="4880800" y="1714500"/>
            <a:ext cx="3849900" cy="230100"/>
          </a:xfrm>
          <a:prstGeom prst="roundRect">
            <a:avLst>
              <a:gd fmla="val 15000" name="adj"/>
            </a:avLst>
          </a:prstGeom>
          <a:solidFill>
            <a:srgbClr val="FAF7FF"/>
          </a:solidFill>
          <a:ln cap="flat" cmpd="sng" w="95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62"/>
          <p:cNvSpPr/>
          <p:nvPr/>
        </p:nvSpPr>
        <p:spPr>
          <a:xfrm>
            <a:off x="4910800" y="1754500"/>
            <a:ext cx="150000" cy="1500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62"/>
          <p:cNvSpPr txBox="1"/>
          <p:nvPr/>
        </p:nvSpPr>
        <p:spPr>
          <a:xfrm>
            <a:off x="4910800" y="1754500"/>
            <a:ext cx="15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✓</a:t>
            </a:r>
            <a:endParaRPr/>
          </a:p>
        </p:txBody>
      </p:sp>
      <p:sp>
        <p:nvSpPr>
          <p:cNvPr id="894" name="Google Shape;894;p62"/>
          <p:cNvSpPr txBox="1"/>
          <p:nvPr/>
        </p:nvSpPr>
        <p:spPr>
          <a:xfrm>
            <a:off x="5090800" y="1714500"/>
            <a:ext cx="2850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2.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Требования</a:t>
            </a:r>
            <a:endParaRPr/>
          </a:p>
        </p:txBody>
      </p:sp>
      <p:sp>
        <p:nvSpPr>
          <p:cNvPr id="895" name="Google Shape;895;p62"/>
          <p:cNvSpPr/>
          <p:nvPr/>
        </p:nvSpPr>
        <p:spPr>
          <a:xfrm>
            <a:off x="8000800" y="1749500"/>
            <a:ext cx="699900" cy="159900"/>
          </a:xfrm>
          <a:prstGeom prst="roundRect">
            <a:avLst>
              <a:gd fmla="val 50000" name="adj"/>
            </a:avLst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62"/>
          <p:cNvSpPr txBox="1"/>
          <p:nvPr/>
        </p:nvSpPr>
        <p:spPr>
          <a:xfrm>
            <a:off x="8000800" y="1749500"/>
            <a:ext cx="69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5000" spcFirstLastPara="1" rIns="5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ru-RU" sz="75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сл. 5</a:t>
            </a:r>
            <a:endParaRPr/>
          </a:p>
        </p:txBody>
      </p:sp>
      <p:sp>
        <p:nvSpPr>
          <p:cNvPr id="897" name="Google Shape;897;p62"/>
          <p:cNvSpPr/>
          <p:nvPr/>
        </p:nvSpPr>
        <p:spPr>
          <a:xfrm>
            <a:off x="4880800" y="1964500"/>
            <a:ext cx="3849900" cy="230100"/>
          </a:xfrm>
          <a:prstGeom prst="roundRect">
            <a:avLst>
              <a:gd fmla="val 15000" name="adj"/>
            </a:avLst>
          </a:prstGeom>
          <a:solidFill>
            <a:srgbClr val="FAF7FF"/>
          </a:solidFill>
          <a:ln cap="flat" cmpd="sng" w="95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62"/>
          <p:cNvSpPr/>
          <p:nvPr/>
        </p:nvSpPr>
        <p:spPr>
          <a:xfrm>
            <a:off x="4910800" y="2004500"/>
            <a:ext cx="150000" cy="1500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62"/>
          <p:cNvSpPr txBox="1"/>
          <p:nvPr/>
        </p:nvSpPr>
        <p:spPr>
          <a:xfrm>
            <a:off x="4910800" y="2004500"/>
            <a:ext cx="15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✓</a:t>
            </a:r>
            <a:endParaRPr/>
          </a:p>
        </p:txBody>
      </p:sp>
      <p:sp>
        <p:nvSpPr>
          <p:cNvPr id="900" name="Google Shape;900;p62"/>
          <p:cNvSpPr txBox="1"/>
          <p:nvPr/>
        </p:nvSpPr>
        <p:spPr>
          <a:xfrm>
            <a:off x="5090800" y="1964500"/>
            <a:ext cx="2850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3.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Архитектура</a:t>
            </a:r>
            <a:endParaRPr/>
          </a:p>
        </p:txBody>
      </p:sp>
      <p:sp>
        <p:nvSpPr>
          <p:cNvPr id="901" name="Google Shape;901;p62"/>
          <p:cNvSpPr/>
          <p:nvPr/>
        </p:nvSpPr>
        <p:spPr>
          <a:xfrm>
            <a:off x="8000800" y="1999500"/>
            <a:ext cx="699900" cy="159900"/>
          </a:xfrm>
          <a:prstGeom prst="roundRect">
            <a:avLst>
              <a:gd fmla="val 50000" name="adj"/>
            </a:avLst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62"/>
          <p:cNvSpPr txBox="1"/>
          <p:nvPr/>
        </p:nvSpPr>
        <p:spPr>
          <a:xfrm>
            <a:off x="8000800" y="1999500"/>
            <a:ext cx="69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5000" spcFirstLastPara="1" rIns="5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ru-RU" sz="75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сл. 6, 7</a:t>
            </a:r>
            <a:endParaRPr/>
          </a:p>
        </p:txBody>
      </p:sp>
      <p:sp>
        <p:nvSpPr>
          <p:cNvPr id="903" name="Google Shape;903;p62"/>
          <p:cNvSpPr/>
          <p:nvPr/>
        </p:nvSpPr>
        <p:spPr>
          <a:xfrm>
            <a:off x="4880800" y="2214500"/>
            <a:ext cx="3849900" cy="230100"/>
          </a:xfrm>
          <a:prstGeom prst="roundRect">
            <a:avLst>
              <a:gd fmla="val 15000" name="adj"/>
            </a:avLst>
          </a:prstGeom>
          <a:solidFill>
            <a:srgbClr val="FAF7FF"/>
          </a:solidFill>
          <a:ln cap="flat" cmpd="sng" w="95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62"/>
          <p:cNvSpPr/>
          <p:nvPr/>
        </p:nvSpPr>
        <p:spPr>
          <a:xfrm>
            <a:off x="4910800" y="2254500"/>
            <a:ext cx="150000" cy="1500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62"/>
          <p:cNvSpPr txBox="1"/>
          <p:nvPr/>
        </p:nvSpPr>
        <p:spPr>
          <a:xfrm>
            <a:off x="4910800" y="2254500"/>
            <a:ext cx="15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✓</a:t>
            </a:r>
            <a:endParaRPr/>
          </a:p>
        </p:txBody>
      </p:sp>
      <p:sp>
        <p:nvSpPr>
          <p:cNvPr id="906" name="Google Shape;906;p62"/>
          <p:cNvSpPr txBox="1"/>
          <p:nvPr/>
        </p:nvSpPr>
        <p:spPr>
          <a:xfrm>
            <a:off x="5090800" y="2214500"/>
            <a:ext cx="2850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4.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Реализация прототипа</a:t>
            </a:r>
            <a:endParaRPr/>
          </a:p>
        </p:txBody>
      </p:sp>
      <p:sp>
        <p:nvSpPr>
          <p:cNvPr id="907" name="Google Shape;907;p62"/>
          <p:cNvSpPr/>
          <p:nvPr/>
        </p:nvSpPr>
        <p:spPr>
          <a:xfrm>
            <a:off x="8000800" y="2249500"/>
            <a:ext cx="699900" cy="159900"/>
          </a:xfrm>
          <a:prstGeom prst="roundRect">
            <a:avLst>
              <a:gd fmla="val 50000" name="adj"/>
            </a:avLst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62"/>
          <p:cNvSpPr txBox="1"/>
          <p:nvPr/>
        </p:nvSpPr>
        <p:spPr>
          <a:xfrm>
            <a:off x="8000800" y="2249500"/>
            <a:ext cx="69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5000" spcFirstLastPara="1" rIns="5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ru-RU" sz="75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сл. 11</a:t>
            </a:r>
            <a:endParaRPr/>
          </a:p>
        </p:txBody>
      </p:sp>
      <p:sp>
        <p:nvSpPr>
          <p:cNvPr id="909" name="Google Shape;909;p62"/>
          <p:cNvSpPr/>
          <p:nvPr/>
        </p:nvSpPr>
        <p:spPr>
          <a:xfrm>
            <a:off x="4880800" y="2464500"/>
            <a:ext cx="3849900" cy="230100"/>
          </a:xfrm>
          <a:prstGeom prst="roundRect">
            <a:avLst>
              <a:gd fmla="val 15000" name="adj"/>
            </a:avLst>
          </a:prstGeom>
          <a:solidFill>
            <a:srgbClr val="FAF7FF"/>
          </a:solidFill>
          <a:ln cap="flat" cmpd="sng" w="95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62"/>
          <p:cNvSpPr/>
          <p:nvPr/>
        </p:nvSpPr>
        <p:spPr>
          <a:xfrm>
            <a:off x="4910800" y="2504500"/>
            <a:ext cx="150000" cy="1500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62"/>
          <p:cNvSpPr txBox="1"/>
          <p:nvPr/>
        </p:nvSpPr>
        <p:spPr>
          <a:xfrm>
            <a:off x="4910800" y="2504500"/>
            <a:ext cx="15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✓</a:t>
            </a:r>
            <a:endParaRPr/>
          </a:p>
        </p:txBody>
      </p:sp>
      <p:sp>
        <p:nvSpPr>
          <p:cNvPr id="912" name="Google Shape;912;p62"/>
          <p:cNvSpPr txBox="1"/>
          <p:nvPr/>
        </p:nvSpPr>
        <p:spPr>
          <a:xfrm>
            <a:off x="5090800" y="2464500"/>
            <a:ext cx="2850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5.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Покрытие тестами</a:t>
            </a:r>
            <a:endParaRPr/>
          </a:p>
        </p:txBody>
      </p:sp>
      <p:sp>
        <p:nvSpPr>
          <p:cNvPr id="913" name="Google Shape;913;p62"/>
          <p:cNvSpPr/>
          <p:nvPr/>
        </p:nvSpPr>
        <p:spPr>
          <a:xfrm>
            <a:off x="8000800" y="2499500"/>
            <a:ext cx="699900" cy="159900"/>
          </a:xfrm>
          <a:prstGeom prst="roundRect">
            <a:avLst>
              <a:gd fmla="val 50000" name="adj"/>
            </a:avLst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62"/>
          <p:cNvSpPr txBox="1"/>
          <p:nvPr/>
        </p:nvSpPr>
        <p:spPr>
          <a:xfrm>
            <a:off x="8000800" y="2499500"/>
            <a:ext cx="69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5000" spcFirstLastPara="1" rIns="5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ru-RU" sz="75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сл. 11, 13</a:t>
            </a:r>
            <a:endParaRPr/>
          </a:p>
        </p:txBody>
      </p:sp>
      <p:sp>
        <p:nvSpPr>
          <p:cNvPr id="915" name="Google Shape;915;p62"/>
          <p:cNvSpPr/>
          <p:nvPr/>
        </p:nvSpPr>
        <p:spPr>
          <a:xfrm>
            <a:off x="4880800" y="2714500"/>
            <a:ext cx="3849900" cy="230100"/>
          </a:xfrm>
          <a:prstGeom prst="roundRect">
            <a:avLst>
              <a:gd fmla="val 15000" name="adj"/>
            </a:avLst>
          </a:prstGeom>
          <a:solidFill>
            <a:srgbClr val="FAF7FF"/>
          </a:solidFill>
          <a:ln cap="flat" cmpd="sng" w="95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62"/>
          <p:cNvSpPr/>
          <p:nvPr/>
        </p:nvSpPr>
        <p:spPr>
          <a:xfrm>
            <a:off x="4910800" y="2754500"/>
            <a:ext cx="150000" cy="1500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62"/>
          <p:cNvSpPr txBox="1"/>
          <p:nvPr/>
        </p:nvSpPr>
        <p:spPr>
          <a:xfrm>
            <a:off x="4910800" y="2754500"/>
            <a:ext cx="15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✓</a:t>
            </a:r>
            <a:endParaRPr/>
          </a:p>
        </p:txBody>
      </p:sp>
      <p:sp>
        <p:nvSpPr>
          <p:cNvPr id="918" name="Google Shape;918;p62"/>
          <p:cNvSpPr txBox="1"/>
          <p:nvPr/>
        </p:nvSpPr>
        <p:spPr>
          <a:xfrm>
            <a:off x="5090800" y="2714500"/>
            <a:ext cx="2850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6.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Тестирование под нагрузкой и отказы</a:t>
            </a:r>
            <a:endParaRPr/>
          </a:p>
        </p:txBody>
      </p:sp>
      <p:sp>
        <p:nvSpPr>
          <p:cNvPr id="919" name="Google Shape;919;p62"/>
          <p:cNvSpPr/>
          <p:nvPr/>
        </p:nvSpPr>
        <p:spPr>
          <a:xfrm>
            <a:off x="8000800" y="2749500"/>
            <a:ext cx="699900" cy="159900"/>
          </a:xfrm>
          <a:prstGeom prst="roundRect">
            <a:avLst>
              <a:gd fmla="val 50000" name="adj"/>
            </a:avLst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62"/>
          <p:cNvSpPr txBox="1"/>
          <p:nvPr/>
        </p:nvSpPr>
        <p:spPr>
          <a:xfrm>
            <a:off x="8000800" y="2749500"/>
            <a:ext cx="69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5000" spcFirstLastPara="1" rIns="5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ru-RU" sz="75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сл. 13</a:t>
            </a:r>
            <a:endParaRPr/>
          </a:p>
        </p:txBody>
      </p:sp>
      <p:sp>
        <p:nvSpPr>
          <p:cNvPr id="921" name="Google Shape;921;p62"/>
          <p:cNvSpPr/>
          <p:nvPr/>
        </p:nvSpPr>
        <p:spPr>
          <a:xfrm>
            <a:off x="4880800" y="2964500"/>
            <a:ext cx="3849900" cy="230100"/>
          </a:xfrm>
          <a:prstGeom prst="roundRect">
            <a:avLst>
              <a:gd fmla="val 15000" name="adj"/>
            </a:avLst>
          </a:prstGeom>
          <a:solidFill>
            <a:srgbClr val="FAF7FF"/>
          </a:solidFill>
          <a:ln cap="flat" cmpd="sng" w="95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62"/>
          <p:cNvSpPr/>
          <p:nvPr/>
        </p:nvSpPr>
        <p:spPr>
          <a:xfrm>
            <a:off x="4910800" y="3004500"/>
            <a:ext cx="150000" cy="1500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62"/>
          <p:cNvSpPr txBox="1"/>
          <p:nvPr/>
        </p:nvSpPr>
        <p:spPr>
          <a:xfrm>
            <a:off x="4910800" y="3004500"/>
            <a:ext cx="15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✓</a:t>
            </a:r>
            <a:endParaRPr/>
          </a:p>
        </p:txBody>
      </p:sp>
      <p:sp>
        <p:nvSpPr>
          <p:cNvPr id="924" name="Google Shape;924;p62"/>
          <p:cNvSpPr txBox="1"/>
          <p:nvPr/>
        </p:nvSpPr>
        <p:spPr>
          <a:xfrm>
            <a:off x="5090800" y="2964500"/>
            <a:ext cx="2850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7.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Сравнение с существующими подходами</a:t>
            </a:r>
            <a:endParaRPr/>
          </a:p>
        </p:txBody>
      </p:sp>
      <p:sp>
        <p:nvSpPr>
          <p:cNvPr id="925" name="Google Shape;925;p62"/>
          <p:cNvSpPr/>
          <p:nvPr/>
        </p:nvSpPr>
        <p:spPr>
          <a:xfrm>
            <a:off x="8000800" y="2999500"/>
            <a:ext cx="699900" cy="159900"/>
          </a:xfrm>
          <a:prstGeom prst="roundRect">
            <a:avLst>
              <a:gd fmla="val 50000" name="adj"/>
            </a:avLst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62"/>
          <p:cNvSpPr txBox="1"/>
          <p:nvPr/>
        </p:nvSpPr>
        <p:spPr>
          <a:xfrm>
            <a:off x="8000800" y="2999500"/>
            <a:ext cx="69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5000" spcFirstLastPara="1" rIns="5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ru-RU" sz="75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сл. 10, 13</a:t>
            </a:r>
            <a:endParaRPr/>
          </a:p>
        </p:txBody>
      </p:sp>
      <p:sp>
        <p:nvSpPr>
          <p:cNvPr id="927" name="Google Shape;927;p62"/>
          <p:cNvSpPr/>
          <p:nvPr/>
        </p:nvSpPr>
        <p:spPr>
          <a:xfrm>
            <a:off x="8000800" y="1124500"/>
            <a:ext cx="5862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3"/>
          <p:cNvSpPr txBox="1"/>
          <p:nvPr>
            <p:ph type="title"/>
          </p:nvPr>
        </p:nvSpPr>
        <p:spPr>
          <a:xfrm>
            <a:off x="457200" y="1801813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4400"/>
              <a:t>Спасибо</a:t>
            </a:r>
            <a:br>
              <a:rPr lang="ru-RU" sz="4400"/>
            </a:br>
            <a:r>
              <a:rPr lang="ru-RU" sz="4400"/>
              <a:t>за внимание!</a:t>
            </a:r>
            <a:endParaRPr sz="4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r-repo.png" id="939" name="Google Shape;93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1388" y="1131137"/>
            <a:ext cx="2881225" cy="28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64"/>
          <p:cNvSpPr txBox="1"/>
          <p:nvPr/>
        </p:nvSpPr>
        <p:spPr>
          <a:xfrm>
            <a:off x="447675" y="4072783"/>
            <a:ext cx="8229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2200" u="none" cap="none" strike="noStrike">
                <a:solidFill>
                  <a:srgbClr val="1565C0"/>
                </a:solidFill>
                <a:latin typeface="Golos Text"/>
                <a:ea typeface="Golos Text"/>
                <a:cs typeface="Golos Text"/>
                <a:sym typeface="Golos Text"/>
              </a:rPr>
              <a:t>github.com/maxbarsukov/rhizome</a:t>
            </a:r>
            <a:endParaRPr>
              <a:solidFill>
                <a:srgbClr val="1565C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941" name="Google Shape;941;p64"/>
          <p:cNvSpPr txBox="1"/>
          <p:nvPr/>
        </p:nvSpPr>
        <p:spPr>
          <a:xfrm>
            <a:off x="8660000" y="4650900"/>
            <a:ext cx="46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1</a:t>
            </a:r>
            <a:r>
              <a:rPr lang="ru-RU" sz="20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5</a:t>
            </a:r>
            <a:endParaRPr/>
          </a:p>
        </p:txBody>
      </p:sp>
      <p:sp>
        <p:nvSpPr>
          <p:cNvPr id="942" name="Google Shape;942;p64"/>
          <p:cNvSpPr/>
          <p:nvPr/>
        </p:nvSpPr>
        <p:spPr>
          <a:xfrm>
            <a:off x="8017750" y="1135025"/>
            <a:ext cx="5862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