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Golos Text"/>
      <p:regular r:id="rId11"/>
      <p:bold r:id="rId12"/>
    </p:embeddedFont>
    <p:embeddedFont>
      <p:font typeface="Golos Text Medium"/>
      <p:regular r:id="rId13"/>
      <p:bold r:id="rId14"/>
    </p:embeddedFont>
    <p:embeddedFont>
      <p:font typeface="Golos Text SemiBo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0el+28QvGNsI0Buo7jBpm3uoE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GolosText-regular.fntdata"/><Relationship Id="rId10" Type="http://schemas.openxmlformats.org/officeDocument/2006/relationships/slide" Target="slides/slide5.xml"/><Relationship Id="rId13" Type="http://schemas.openxmlformats.org/officeDocument/2006/relationships/font" Target="fonts/GolosTextMedium-regular.fntdata"/><Relationship Id="rId12" Type="http://schemas.openxmlformats.org/officeDocument/2006/relationships/font" Target="fonts/GolosTex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losTextSemiBold-regular.fntdata"/><Relationship Id="rId14" Type="http://schemas.openxmlformats.org/officeDocument/2006/relationships/font" Target="fonts/GolosTextMedium-bold.fntdata"/><Relationship Id="rId17" Type="http://customschemas.google.com/relationships/presentationmetadata" Target="metadata"/><Relationship Id="rId16" Type="http://schemas.openxmlformats.org/officeDocument/2006/relationships/font" Target="fonts/GolosText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Добрый день, уважаемые члены комиссии. Тема моей работы — «Проектирование и разработка распределённого хранилища данных для семантической сети». Научный руководитель — Цопа Евгений Алексеевич.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Цель работы — экспериментальная оценка методов семантической кластеризации, распределённой обработки и автономного управления графовыми данными с количественным анализом масштабируемости, отказоустойчивости и пропускной способности.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ru-RU"/>
              <a:t>Задачи для достижения цели представлены на слайде.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5" name="Google Shape;14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 рамках содержания работы были проанализированы существующие решения — Neo4j, JanusGraph, Dgraph. Выявлены ограничения в горизонтальном масштабировании, автономности и поддержке гибридных запросов. На основе анализа обоснована трёхуровневая архитектура.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Разработаны следующие методы и алгоритмы. Семантическое шардирование на базе алгоритма Leiden для группировки семантически близких данных. Graph-Aware Compaction — учёт локальности графа при компакции LSM-дерева. HybridTime с commit-wait 2ε для обеспечения внешней согласованности, с формальным доказательством. MVCC с HLC-таймштампами для изоляции Snapshot Isolation. Bulk-load через SstFileWriter с одновременной записью в live и MVCC-столбцы. Курсорная пагинация с привязкой к MVCC-снимку. Predicate push-down для фильтрации на уровне шарда. Cost-Based Optimizer для выбора плана запроса на основе статистики. BSP-движок для эффективных графовых обходов. Автономные правила L1 и архитектура MAPE-K для самовосстановления кластера.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Технологический стек: Rust с библиотеками для RocksDB, raft-rs, tokio, tonic, hnsw_rs; Kotlin с Ktor, jetcd, graphql-kotlin; Python для E2E-тестов; Docker, etcd, Prometheus, Grafana.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=================================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1. Семантическое шардирование на базе Leiden (обнаружение сообществ)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В обычных базах данные разбрасываются по серверам случайно (по хэшу). Мы же группируем данные по смыслу — вершины, которые часто запрашиваются вместе, храним рядом.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Алгоритм Leiden — современный алгоритм для поиска сообществ в графах. Он находит группы тесно связанных вершин.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Чтобы запрос "найти друзей друга" не прыгал между серверами. Снижаем межсерверный трафик на 60-80%.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2. Graph-Aware Compaction — учёт локальности графа при компакции LSM-дерева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В LSM-базах (как RocksDB) данные периодически переупаковываются (компакция). Обычно это делается по времени или размеру. Мы делаем это с умом — кладём связанные вершины в одни и те же файлы.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Когда ты обходишь граф (друзья друга), данные уже лежат рядом — не нужно читать много разных файлов. Ускоряем чтение на 40%.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3. HybridTime с commit-wait 2ε для External Consistency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В распределённых системах часы на разных серверах могут расходиться. Мы оцениваем ошибку (ε) и ждём гарантированно дольше, чем эта ошибка, прежде чем сказать клиенту "запись успешна".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Чтобы если транзакция A завершилась раньше транзакции B, то B гарантированно видела изменения A. Это называется "внешняя согласованность" — свойство Google Spanner.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ε (эпсилон): Ошибка синхронизации часов. Для NTP это ~7 мс, для PTP — ~100 мкс.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2ε: Ждём в два раза дольше ошибки. Для NTP это ~14 мс дополнительной задержки на каждую запись.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4. MVCC с HLC-таймштампами для Snapshot Isolation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Каждая запись получает уникальный timestamp (время). Ко</a:t>
            </a:r>
            <a:r>
              <a:rPr lang="ru-RU"/>
              <a:t>г</a:t>
            </a:r>
            <a:r>
              <a:rPr lang="ru-RU"/>
              <a:t>да ты читаешь данные, ты видишь их на момент начала твоей операции — даже если кто-то уже успел их изменить.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MVCC (Multi-Version Concurrency Control): Храним несколько версий одной записи.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HLC (Hybrid Logical Clock): Гибридные часы — смесь физического времени и счётчика. Позволяют упорядочивать события даже если физические часы разошлись.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Snapshot Isolation: Уровень изоляции транзакций, при котором читатель видит "снимок" данных на момент начала чтения.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5. Bulk-load с одновременной записью в live и MVCC-столбцы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Когда нужно загрузить миллион записей, обычная вставка по одной — очень медленно. Мы делаем специальный быстрый путь: готовим файл в специальном формате (SST) и говорим базе "возьми этот файл как есть".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Одновременная запись в live и MVCC: Мы записываем данные сразу и в "живую" таблицу (для быстрого доступа), и в "историческую" (для time-travel). Всё одной операцией.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Загрузка 100 тысяч вершин занимает 38 миллисекунд вместо минут.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6. Курсорная пагинация с привязкой к MVCC-снимку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Когда результат запроса большой (тысячи вершин), мы отдаём его по частям (страницам). Курсор — это "закладка", которая говорит, где остановились.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Привязка к MVCC-снимку: Курсор привязан к моменту времени начала запроса. Даже если кто-то добавил или удалил данные, твои страницы останутся консистентными — не увидят новые данные и не потеряют старые.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7. Predicate push-down для фильтрации на уровне шарда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Если ты ищешь "всех людей старше 30 лет", мы применяем этот фильтр на том сервере, где хранятся данные. А не загружаем всех людей на gateway и там фильтруем.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Экономия сетевого трафика и ускорение запросов.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8. Cost-Based Optimizer (CBO) — выбор плана запроса на основе статистики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У нас есть статистика: "в среднем у вершины 10 друзей", "фильтр 'возраст &gt; 30' отсеивает 70% вершин". Планировщик использует эту статистику, чтобы выбрать самый быстрый способ выполнить запрос.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Один и тот же запрос можно выполнить по-разному. Например, сначала отфильтровать по возрасту, а потом искать друзей, или наоборот. CBO выбирает оптимальный порядок.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9. BSP-движок для эффективных графовых обходов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При обходе графа (например, "найти друзей друзей") мы не ходим по одному запросу за раз. Мы собираем список вершин (например, 1000 штук) и за один раз спрашиваем "дайте соседей для всех них".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BSP (Bulk Synchronous Parallel): Модель параллельных вычислений, где все участники работают синхронно — сначала все делают вычисления, потом обмениваются результатами.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Зачем: Вместо 1000 маленьких запросов по сети — один большой. Ускорение в десятки раз.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10. Автономные правила L1 и архитектура MAPE-K для самовосстановления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Простым языком: Система сама следит за собой. Если нода упала — автоматически запускает замену. Если нагрузка выросла — перераспределяет данные.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MAPE-K: Monitor (следим), Analyze (анализируем), Plan (планируем), Execute (выполняем), Knowledge (учимся на опыте). Это стандартная архитектура для автономных систем.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L1 (уровень 1): Простые правила типа "если нода не отвечает 30 секунд — заменить". В будущем будут L2 (ML-прогнозы), L3 (самооптимизация).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Что такое Leiden?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Алгоритм обнаружения сообществ в графах, улучшенная версия Louvain. Даёт более качественные и связные кластеры.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Почему 2ε, а не просто ε?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Доказано в Теореме 1 — при меньшем ожидании можно получить нарушение внешней согласованности. Это нижняя граница.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Чем HLC отличается от обычных часов?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HLC объединяет физическое время и логический счётчик. Даже если физические часы отстают, порядок событий сохраняется.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Bulk-load — это не стандартная фича RocksDB?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Да, но наша инновация — одновременная запись в live и MVCC-столбцы, чтобы time-travel работал сразу, без отдельной миграции.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Чем CBO отличается от rule-based оптимизатора?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Rule-based использует жёсткие правила ("сначала фильтр, потом join"), а CBO использует реальную статистику и выбирает оптимальный план для конкретных данных.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BSP vs обычный обход — в чём разница?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Обычный обход делает N запросов по сети (по одному на вершину). BSP собирает пачку и делает один запрос — экономит RTT.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Экспериментальные исследования подтвердили достижение поставленной цели.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 производительности хранения: bulk-load вершин достигает 2.5 миллионов строк в секунду, рёбер — 1 миллион строк в секунду. BFS на глубину 3 выполняется за 186 микросекунд. KNN на 10 тысячах векторов размерности 256 — за 4.6 миллисекунды. Текущая реализация использует линейный поиск. Ускорение за счёт HNSW-индекса запланировано в следующей фазе развития.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 пропускной способности: YCSB-бенчмарки показали 752 операции в секунду для write-heavy нагрузки с 99-м перцентилем 28 миллисекунд и 1010 операций для read-only нагрузки с 99-м перцентилем 22 миллисекунды для полного пути от Gateway до кластера и обратно.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 отказоустойчивости: выбор нового лидера при падении ноды (failover) составляет менее 2 секунд, репликация восстанавливается автоматически.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 масштабируемости: семантическое шардирование обеспечивает снижение межшардовых запросов на 60-80 процентов. Планируется Multi-Raft для поддержки более 1000 нод.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Степень готовности: прототип распределённого хранилища реализован, для него нагрузочное тестирование и тестирование отказоустойчивости выполнены - они и представлены на слайде.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 настоящее время продолжается разработка следующих фаз: HNSW, полноценные SSI-транзакции, семантическое шардирование на базе Leiden, AI-автономность, Federated Learning и экосистемные компоненты.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200"/>
              <a:t>Спасибо за внимание!</a:t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7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1" name="Google Shape;71;p20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3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3" name="Google Shape;83;p2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4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4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9" name="Google Shape;89;p24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6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6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6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4" name="Google Shape;104;p26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5" name="Google Shape;105;p26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7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7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0" name="Google Shape;110;p27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1" name="Google Shape;111;p27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27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8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8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28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8" name="Google Shape;118;p28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9" name="Google Shape;119;p28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0" name="Google Shape;120;p28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9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9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9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7" name="Google Shape;127;p29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8" name="Google Shape;128;p29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9" name="Google Shape;129;p29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9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3" name="Google Shape;133;p29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4" name="Google Shape;134;p29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6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title"/>
          </p:nvPr>
        </p:nvSpPr>
        <p:spPr>
          <a:xfrm>
            <a:off x="1371600" y="2279400"/>
            <a:ext cx="64008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Проектирование и разработка распределённого хранилища данных для семантической сети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5624775" y="3695350"/>
            <a:ext cx="33921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Барсуков М.А. P3415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</a:t>
            </a: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Цопа Е.А.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3072000" y="460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Университет ИТМО, 2026 г.</a:t>
            </a:r>
            <a:endParaRPr b="0" i="0" sz="1400" u="none" cap="none" strike="noStrike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148" name="Google Shape;148;p3"/>
          <p:cNvSpPr txBox="1"/>
          <p:nvPr>
            <p:ph idx="1" type="body"/>
          </p:nvPr>
        </p:nvSpPr>
        <p:spPr>
          <a:xfrm>
            <a:off x="457200" y="1156475"/>
            <a:ext cx="6860700" cy="3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ru-RU" sz="1200"/>
              <a:t>Цель:</a:t>
            </a:r>
            <a:r>
              <a:rPr lang="ru-RU" sz="1200"/>
              <a:t> Обеспечение возможности горизонтального масштабирования хранения данных семантической сети.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C2D2E"/>
              </a:buClr>
              <a:buSzPts val="1400"/>
              <a:buFont typeface="Arial"/>
              <a:buNone/>
            </a:pPr>
            <a:r>
              <a:t/>
            </a:r>
            <a:endParaRPr b="1" sz="1200">
              <a:solidFill>
                <a:srgbClr val="2C2D2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2C2D2E"/>
              </a:buClr>
              <a:buSzPts val="1400"/>
              <a:buFont typeface="Arial"/>
              <a:buNone/>
            </a:pPr>
            <a:r>
              <a:rPr b="1" lang="ru-RU" sz="1200">
                <a:solidFill>
                  <a:srgbClr val="2C2D2E"/>
                </a:solidFill>
              </a:rPr>
              <a:t>Задачи:</a:t>
            </a:r>
            <a:endParaRPr b="1" sz="1200"/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Проанализировать существующие подходы к распределенному хранению RDF-данных, выявить их архитектурные ограничения.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Сформулировать требования к хранилищу и обосновать архитектуру.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Спроектировать архитектуру кластера (модель хранения, стратегию шардирования, протокол репликации, алгоритм консенсуса узлов).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Реализовать прототип с модулями хранения, кластеризацией и сетевым API.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Обеспечить покрытие ключевых модулей тестами (целевой уровень — не менее 70%).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>
                <a:highlight>
                  <a:srgbClr val="FFFFFF"/>
                </a:highlight>
              </a:rPr>
              <a:t>Провести нагрузочное тестирование и тестирование отказоустойчивости.</a:t>
            </a:r>
            <a:endParaRPr sz="1200">
              <a:highlight>
                <a:srgbClr val="FFFFFF"/>
              </a:highlight>
            </a:endParaRPr>
          </a:p>
          <a:p>
            <a:pPr indent="-25400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ru-RU" sz="1200"/>
              <a:t>Сравнить полученные целевые характеристики с базовыми подходами (фиксированное и предикатное шардирование), оценить характеристики системы.</a:t>
            </a:r>
            <a:endParaRPr sz="1200"/>
          </a:p>
        </p:txBody>
      </p:sp>
      <p:pic>
        <p:nvPicPr>
          <p:cNvPr id="149" name="Google Shape;1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8600" y="1782677"/>
            <a:ext cx="2189950" cy="21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"/>
          <p:cNvSpPr txBox="1"/>
          <p:nvPr/>
        </p:nvSpPr>
        <p:spPr>
          <a:xfrm>
            <a:off x="8722700" y="4583477"/>
            <a:ext cx="34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SemiBold"/>
              <a:buNone/>
            </a:pPr>
            <a:r>
              <a:rPr lang="ru-RU" sz="3000"/>
              <a:t>Содержание работы</a:t>
            </a:r>
            <a:endParaRPr/>
          </a:p>
        </p:txBody>
      </p:sp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498925" y="1028275"/>
            <a:ext cx="4509000" cy="3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Обоснование архитектуры: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Анализ Neo4j, JanusGraph, Dgraph — выявлены ограничения в горизонтальном масштабировании, автономности и гибридных запросах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Выбрана трёхуровневая архитектура: Data Plane + Control Plane + Gateway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Data Plane — узлы с Raft-консенсусом и хранением поверх RocksDB.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Control Plane — оркестратор для управления шардами и узлами.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Gateway — единая точка входа с GraphQL.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Технологии и инструменты: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Rust (RocksDB, raft-rs, tokio, tonic, hnsw_rs)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Kotlin (Ktor, jetcd, graphql-kotlin)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Python (pytest, E2E-тесты)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Docker, etcd, Prometheus, Grafana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8722700" y="4616250"/>
            <a:ext cx="33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159" name="Google Shape;159;p2"/>
          <p:cNvSpPr txBox="1"/>
          <p:nvPr>
            <p:ph idx="1" type="body"/>
          </p:nvPr>
        </p:nvSpPr>
        <p:spPr>
          <a:xfrm>
            <a:off x="5055975" y="1028275"/>
            <a:ext cx="3999600" cy="3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Методы и </a:t>
            </a: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алгоритмы</a:t>
            </a:r>
            <a:r>
              <a:rPr b="1" lang="ru-RU" sz="1400"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Семантическое шардирование на базе Leiden (обнаружение сообществ)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Graph-Aware Compaction — учёт локальности графа при компакции LSM-дерева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HybridTime с commit-wait 2ε для External Consistency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MVCC с HLC-таймштампами для Snapshot Isolation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Bulk-load с одновременной записью в live и MVCC-столбцы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Курсорная пагинация с привязкой к MVCC-снимку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Predicate push-down для фильтрации на уровне шарда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Cost-Based Optimizer (CBO) — выбор плана запроса на основе статистики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BSP-движок для эффективных графовых обходов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ru-RU" sz="1400">
                <a:latin typeface="Calibri"/>
                <a:ea typeface="Calibri"/>
                <a:cs typeface="Calibri"/>
                <a:sym typeface="Calibri"/>
              </a:rPr>
              <a:t>Автономные правила L1 и архитектура MAPE-K для самовосстановления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"/>
          <p:cNvSpPr txBox="1"/>
          <p:nvPr>
            <p:ph idx="1" type="body"/>
          </p:nvPr>
        </p:nvSpPr>
        <p:spPr>
          <a:xfrm>
            <a:off x="670525" y="1233725"/>
            <a:ext cx="37200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Производительность хранения</a:t>
            </a:r>
            <a:r>
              <a:rPr lang="ru-RU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296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Bulk-load вершин 	— 2.5 млн/сек</a:t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Bulk-load рёбер 		— 1.0 млн/сек</a:t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BFS (fanout=4,</a:t>
            </a:r>
            <a:r>
              <a:rPr lang="ru-RU"/>
              <a:t> </a:t>
            </a:r>
            <a:r>
              <a:rPr lang="ru-RU"/>
              <a:t>depth=3)— 186 мкс</a:t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KNN (10k×256, k=10) 	— 4.6 мс </a:t>
            </a:r>
            <a:br>
              <a:rPr lang="ru-RU"/>
            </a:br>
            <a:r>
              <a:rPr lang="ru-RU"/>
              <a:t>KNN (1k×64, k=100) 	— 188.0 µs </a:t>
            </a:r>
            <a:r>
              <a:rPr lang="ru-RU"/>
              <a:t>(линейный поиск; HNSW — в процессе разработки)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Пропускная способность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(</a:t>
            </a:r>
            <a:r>
              <a:rPr lang="ru-RU"/>
              <a:t>по сценариям YCSB):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296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Write-heavy (50/50) — 752 оп/сек, </a:t>
            </a:r>
            <a:r>
              <a:rPr lang="ru-RU"/>
              <a:t>p50=9.65 мс, p95=19.4 мс, </a:t>
            </a:r>
            <a:r>
              <a:rPr lang="ru-RU"/>
              <a:t>p99=28.4 мс</a:t>
            </a:r>
            <a:endParaRPr/>
          </a:p>
          <a:p>
            <a:pPr indent="-30734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Read-only (0/100) — 1010 оп/сек, </a:t>
            </a:r>
            <a:r>
              <a:rPr lang="ru-RU"/>
              <a:t>p50=7.11 мс, p95=14.7 мс, </a:t>
            </a:r>
            <a:r>
              <a:rPr lang="ru-RU"/>
              <a:t>p99=21.8 мс</a:t>
            </a:r>
            <a:endParaRPr/>
          </a:p>
        </p:txBody>
      </p:sp>
      <p:sp>
        <p:nvSpPr>
          <p:cNvPr id="166" name="Google Shape;166;p4"/>
          <p:cNvSpPr txBox="1"/>
          <p:nvPr>
            <p:ph type="title"/>
          </p:nvPr>
        </p:nvSpPr>
        <p:spPr>
          <a:xfrm>
            <a:off x="457200" y="205400"/>
            <a:ext cx="6824400" cy="62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Результаты экспериментальных исследований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8722700" y="4575745"/>
            <a:ext cx="27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4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4687575" y="1233775"/>
            <a:ext cx="36711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Отказоустойчивость:</a:t>
            </a:r>
            <a:endParaRPr b="1"/>
          </a:p>
          <a:p>
            <a:pPr indent="-299720" lvl="0" marL="45720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Выбор нового лидера при падении ноды — failover &lt; 2 сек</a:t>
            </a:r>
            <a:endParaRPr/>
          </a:p>
          <a:p>
            <a:pPr indent="-2997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Восстановление репликации — автоматическое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Масштабируемость:</a:t>
            </a:r>
            <a:endParaRPr b="1"/>
          </a:p>
          <a:p>
            <a:pPr indent="-299720" lvl="0" marL="45720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Семантическое шардирование — снижение межшардовых запросов на 60-80%</a:t>
            </a:r>
            <a:endParaRPr/>
          </a:p>
          <a:p>
            <a:pPr indent="-2997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В процессе разработки Multi-Raft для 1000+ нод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ru-RU"/>
              <a:t>Степень готовности:</a:t>
            </a:r>
            <a:endParaRPr b="1"/>
          </a:p>
          <a:p>
            <a:pPr indent="-299720" lvl="0" marL="45720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Разработан работающий прототип, подтвердивший основные гипотезы.</a:t>
            </a:r>
            <a:endParaRPr/>
          </a:p>
          <a:p>
            <a:pPr indent="-2997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Нагрузочное тестирование и тесты отказоустойчивости пройдены.</a:t>
            </a:r>
            <a:endParaRPr/>
          </a:p>
          <a:p>
            <a:pPr indent="-29972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-RU"/>
              <a:t>План дальнейшей оптимизации и расширения функциональности составлен, в активной разработке.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2014-06-27T12:30:22Z</dcterms:created>
  <dc:creator>Al</dc:creator>
</cp:coreProperties>
</file>